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Good morning everyone. We are Team 3, and over the next fifteen minutes we'll walk you through the database project we built for this course — a Multi-Vendor Procurement and Purchase Order Management.</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Here's how we've split things up. I'll cover the project overview and the problem we're solving. Then Smit will take you through the database design, Parva will walk you through the actual SQL — which is really the heart of the project. Nisarg will show demo of the live application, and Priya will close us out with the challenges we ran into and what we learned.</a:t>
            </a:r>
            <a:endParaRPr sz="1200">
              <a:solidFill>
                <a:schemeClr val="dk1"/>
              </a:solidFill>
              <a:latin typeface="Arial"/>
              <a:ea typeface="Arial"/>
              <a:cs typeface="Arial"/>
              <a:sym typeface="Arial"/>
            </a:endParaRPr>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1" name="Google Shape;7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SzPts val="1100"/>
              <a:buNone/>
            </a:pPr>
            <a:r>
              <a:rPr lang="en-US" sz="1200">
                <a:solidFill>
                  <a:schemeClr val="dk1"/>
                </a:solidFill>
                <a:latin typeface="Calibri"/>
                <a:ea typeface="Calibri"/>
                <a:cs typeface="Calibri"/>
                <a:sym typeface="Calibri"/>
              </a:rPr>
              <a:t>So — what is this project actually about?</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Imagine you work at a mid-sized company and you need to buy something. Maybe new laptops for your team. In real life, that's not one step. You submit a request. Your manager has to approve it, but only if there's budget left. Then someone in procurement has to send a formal purchase order to a vendor. The vendor ships the goods, somebody receives them, the vendor sends an invoice, and finally finance pays the bill.</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Without a system tying all of this together, you get exactly the chaos you see on the left side of this slide — paperwork lost between departments, no real-time visibility into budgets, status mismatches everywhere, and zero audit trail when something goes wrong.</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rPr lang="en-US" sz="1200">
                <a:solidFill>
                  <a:schemeClr val="dk1"/>
                </a:solidFill>
                <a:latin typeface="Calibri"/>
                <a:ea typeface="Calibri"/>
                <a:cs typeface="Calibri"/>
                <a:sym typeface="Calibri"/>
              </a:rPr>
              <a:t>So we built the right side. A centralized database with sixteen tables, normalized to Third Normal Form. Six different user roles, each with their own dashboard. The database itself enforces the budget rule — a manager simply cannot approve a request that exceeds the remaining budget. And every single action gets logged with a timestamp and IP address. </a:t>
            </a:r>
            <a:endParaRPr sz="1200">
              <a:solidFill>
                <a:schemeClr val="dk1"/>
              </a:solidFill>
            </a:endParaRPr>
          </a:p>
        </p:txBody>
      </p:sp>
      <p:sp>
        <p:nvSpPr>
          <p:cNvPr id="80" name="Google Shape;80;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slide shows the whole workflow at a glance. Six stages, six different actors, and one database that ties them all together. An employee requests, a manager approves, procurement orders, the vendor ships, the warehouse receives, and finance pays.</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bottom of the slide highlights the three rules that the database itself enforces. You can't approve a request without budget. You can't issue a purchase order without an approved request. And you can't pay an invoice without a goods receipt. That's the foundation. To explain how we actually structured the database to make all of this work, I'll hand it over to Smit.</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t/>
            </a:r>
            <a:endParaRPr sz="1200">
              <a:solidFill>
                <a:schemeClr val="dk1"/>
              </a:solidFill>
            </a:endParaRPr>
          </a:p>
        </p:txBody>
      </p:sp>
      <p:sp>
        <p:nvSpPr>
          <p:cNvPr id="101" name="Google Shape;10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So There are total sixteen tables — but we organized them into six clean functional modules so the schema can stays readable.</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165" name="Google Shape;16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SzPts val="1100"/>
              <a:buNone/>
            </a:pPr>
            <a:r>
              <a:rPr lang="en-US" sz="1200">
                <a:solidFill>
                  <a:schemeClr val="dk1"/>
                </a:solidFill>
                <a:latin typeface="Calibri"/>
                <a:ea typeface="Calibri"/>
                <a:cs typeface="Calibri"/>
                <a:sym typeface="Calibri"/>
              </a:rPr>
              <a:t>Module one is Authentication and Identity  which includes Roles, Departments, and Users this are all standard stuff for any application. </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SzPts val="1100"/>
              <a:buNone/>
            </a:pPr>
            <a:r>
              <a:rPr lang="en-US" sz="1200">
                <a:solidFill>
                  <a:schemeClr val="dk1"/>
                </a:solidFill>
                <a:latin typeface="Calibri"/>
                <a:ea typeface="Calibri"/>
                <a:cs typeface="Calibri"/>
                <a:sym typeface="Calibri"/>
              </a:rPr>
              <a:t>Module two is the Procurement Workflow it includes the Purchase_Requests, PR_Approvals, and PR_Status_History. This is where requests live and where every state transition gets recorded. </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SzPts val="1100"/>
              <a:buNone/>
            </a:pPr>
            <a:r>
              <a:rPr lang="en-US" sz="1200">
                <a:solidFill>
                  <a:schemeClr val="dk1"/>
                </a:solidFill>
                <a:latin typeface="Calibri"/>
                <a:ea typeface="Calibri"/>
                <a:cs typeface="Calibri"/>
                <a:sym typeface="Calibri"/>
              </a:rPr>
              <a:t>Module three is Vendor Management there will be the vendor info, the categories they specialize in, and the long-term contracts.</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SzPts val="1100"/>
              <a:buNone/>
            </a:pPr>
            <a:r>
              <a:rPr lang="en-US" sz="1200">
                <a:solidFill>
                  <a:schemeClr val="dk1"/>
                </a:solidFill>
                <a:latin typeface="Calibri"/>
                <a:ea typeface="Calibri"/>
                <a:cs typeface="Calibri"/>
                <a:sym typeface="Calibri"/>
              </a:rPr>
              <a:t>Module four is Order Fulfillment which is the actual purchase orders, their line items, and the goods receipts when stuff arrives.</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SzPts val="1100"/>
              <a:buNone/>
            </a:pPr>
            <a:r>
              <a:rPr lang="en-US" sz="1200">
                <a:solidFill>
                  <a:schemeClr val="dk1"/>
                </a:solidFill>
                <a:latin typeface="Calibri"/>
                <a:ea typeface="Calibri"/>
                <a:cs typeface="Calibri"/>
                <a:sym typeface="Calibri"/>
              </a:rPr>
              <a:t>Module five is Finance in which there </a:t>
            </a:r>
            <a:r>
              <a:rPr lang="en-US" sz="1200">
                <a:solidFill>
                  <a:schemeClr val="dk1"/>
                </a:solidFill>
                <a:latin typeface="Calibri"/>
                <a:ea typeface="Calibri"/>
                <a:cs typeface="Calibri"/>
                <a:sym typeface="Calibri"/>
              </a:rPr>
              <a:t>will  be </a:t>
            </a:r>
            <a:r>
              <a:rPr lang="en-US" sz="1200">
                <a:solidFill>
                  <a:schemeClr val="dk1"/>
                </a:solidFill>
                <a:latin typeface="Calibri"/>
                <a:ea typeface="Calibri"/>
                <a:cs typeface="Calibri"/>
                <a:sym typeface="Calibri"/>
              </a:rPr>
              <a:t>invoices, payments, and a budget transaction ledger.</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SzPts val="1100"/>
              <a:buNone/>
            </a:pPr>
            <a:r>
              <a:rPr lang="en-US" sz="1200">
                <a:solidFill>
                  <a:schemeClr val="dk1"/>
                </a:solidFill>
                <a:latin typeface="Calibri"/>
                <a:ea typeface="Calibri"/>
                <a:cs typeface="Calibri"/>
                <a:sym typeface="Calibri"/>
              </a:rPr>
              <a:t>And last module is System Monitoring there will be the audit log, notifications, and saved reports.</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400"/>
              </a:spcAft>
              <a:buSzPts val="1100"/>
              <a:buNone/>
            </a:pPr>
            <a:r>
              <a:rPr lang="en-US" sz="1200">
                <a:solidFill>
                  <a:schemeClr val="dk1"/>
                </a:solidFill>
                <a:latin typeface="Calibri"/>
                <a:ea typeface="Calibri"/>
                <a:cs typeface="Calibri"/>
                <a:sym typeface="Calibri"/>
              </a:rPr>
              <a:t>The numbers at the bottom tell the story. Sixteen tables. Third Normal Form. Over thirty foreign keys tying everything together. Six user roles. And every database action is logged — one hundred percent audit coverage.</a:t>
            </a:r>
            <a:endParaRPr sz="1200">
              <a:solidFill>
                <a:schemeClr val="dk1"/>
              </a:solidFill>
              <a:latin typeface="Calibri"/>
              <a:ea typeface="Calibri"/>
              <a:cs typeface="Calibri"/>
              <a:sym typeface="Calibri"/>
            </a:endParaRPr>
          </a:p>
        </p:txBody>
      </p:sp>
      <p:sp>
        <p:nvSpPr>
          <p:cNvPr id="174" name="Google Shape;17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Here we have ERD and in all tables: </a:t>
            </a:r>
            <a:r>
              <a:rPr lang="en-US" sz="1200">
                <a:solidFill>
                  <a:schemeClr val="dk1"/>
                </a:solidFill>
                <a:latin typeface="Calibri"/>
                <a:ea typeface="Calibri"/>
                <a:cs typeface="Calibri"/>
                <a:sym typeface="Calibri"/>
              </a:rPr>
              <a:t>The yellow line PK is the primary key and the FK is the foreign key.</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Lets start with the Users in the top middle. A user belongs to a Department and has a Role. When that user submits a Purchase Request, that request gets reviewed in PR_Approvals, and every status change gets logged in PR_Status_History. Once approved, it becomes a Purchase Order, which goes to a Vendor, generates Line Items, gets a  Purchase_Receipt when delivered, an Invoice when billed, and finally a Payment when settled. And every step along the way will be deducted from the department's budget through Budget_Transactions.</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400"/>
              </a:spcAft>
              <a:buSzPts val="1100"/>
              <a:buNone/>
            </a:pPr>
            <a:r>
              <a:t/>
            </a:r>
            <a:endParaRPr sz="1200">
              <a:solidFill>
                <a:schemeClr val="dk1"/>
              </a:solidFill>
              <a:latin typeface="Calibri"/>
              <a:ea typeface="Calibri"/>
              <a:cs typeface="Calibri"/>
              <a:sym typeface="Calibri"/>
            </a:endParaRPr>
          </a:p>
        </p:txBody>
      </p:sp>
      <p:sp>
        <p:nvSpPr>
          <p:cNvPr id="239" name="Google Shape;23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We normalized to 3NF so things like roles and departments aren't repeated as text — they're the proper tables. We chose to keep a status history rather than just overwriting the current status. This helps us to never lose any audit trail.</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We use auto-increment integer primary keys everywhere, which keeps foreign keys narrow and stable. </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Also the role-based access is stored at the schema level so there are no hard-coded role strings in our application code.</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From here my teammate Parva will show you how this things turns into an actual SQL.</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t/>
            </a:r>
            <a:endParaRPr sz="1200">
              <a:solidFill>
                <a:schemeClr val="dk1"/>
              </a:solidFill>
            </a:endParaRPr>
          </a:p>
        </p:txBody>
      </p:sp>
      <p:sp>
        <p:nvSpPr>
          <p:cNvPr id="328" name="Google Shape;32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SzPts val="1100"/>
              <a:buNone/>
            </a:pPr>
            <a:r>
              <a:rPr lang="en-US" sz="1200">
                <a:solidFill>
                  <a:schemeClr val="dk1"/>
                </a:solidFill>
                <a:latin typeface="Calibri"/>
                <a:ea typeface="Calibri"/>
                <a:cs typeface="Calibri"/>
                <a:sym typeface="Calibri"/>
              </a:rPr>
              <a:t>So the schema is the blueprint — let me show you the SQL we actually wrote. </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400"/>
              </a:spcAft>
              <a:buSzPts val="1100"/>
              <a:buNone/>
            </a:pPr>
            <a:r>
              <a:rPr lang="en-US" sz="1200">
                <a:solidFill>
                  <a:schemeClr val="dk1"/>
                </a:solidFill>
                <a:latin typeface="Calibri"/>
                <a:ea typeface="Calibri"/>
                <a:cs typeface="Calibri"/>
                <a:sym typeface="Calibri"/>
              </a:rPr>
              <a:t>we mainly used SUPABASE as FREE database for our project</a:t>
            </a:r>
            <a:endParaRPr sz="1200">
              <a:solidFill>
                <a:schemeClr val="dk1"/>
              </a:solidFill>
              <a:latin typeface="Calibri"/>
              <a:ea typeface="Calibri"/>
              <a:cs typeface="Calibri"/>
              <a:sym typeface="Calibri"/>
            </a:endParaRPr>
          </a:p>
        </p:txBody>
      </p:sp>
      <p:sp>
        <p:nvSpPr>
          <p:cNvPr id="372" name="Google Shape;37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First, a quick note on engines. We used two. The live deployed app runs on SQLite because it's embedded, lightweight, and works perfectly with Vercel's serverless hosting. For the academic version, we built the same schema in MySQL Workbench using AUTO_INCREMENT and DECIMAL types. Same logical design, two different engines — which actually demonstrates that the relational model itself is portable.</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rPr lang="en-US" sz="1200">
                <a:solidFill>
                  <a:schemeClr val="dk1"/>
                </a:solidFill>
                <a:latin typeface="Calibri"/>
                <a:ea typeface="Calibri"/>
                <a:cs typeface="Calibri"/>
                <a:sym typeface="Calibri"/>
              </a:rPr>
              <a:t>The DDL on the bottom of the slide is for the Purchase_Requests table. Notice a few things. The primary key auto-increments. The status column has a default value of 'PENDING' so every new request starts in the right state. And there are two foreign keys — one to Users for who submitted it, one to Departments for which budget it draws from. Those foreign keys are what guarantee that you can't have an orphaned request.</a:t>
            </a:r>
            <a:endParaRPr sz="1200">
              <a:solidFill>
                <a:schemeClr val="dk1"/>
              </a:solidFill>
            </a:endParaRPr>
          </a:p>
        </p:txBody>
      </p:sp>
      <p:sp>
        <p:nvSpPr>
          <p:cNvPr id="381" name="Google Shape;38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We organized our queries into three tiers based on complexity.</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basic tier — six queries — is your standard SELECT, INSERT, UPDATE work. Loading a user profile, fetching pending requests, listing top-rated vendors. The example on the screen is a simple JOIN between Users and Roles to show active users with their role names.</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intermediate tier — four queries — uses GROUP BY, HAVING, and subqueries. The example calculates total pending request cost grouped by department. We also have one that flags departments using more than eighty percent of their budget, which is exactly the kind of thing a finance team wants to see at a glance.</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rPr lang="en-US" sz="1200">
                <a:solidFill>
                  <a:schemeClr val="dk1"/>
                </a:solidFill>
                <a:latin typeface="Calibri"/>
                <a:ea typeface="Calibri"/>
                <a:cs typeface="Calibri"/>
                <a:sym typeface="Calibri"/>
              </a:rPr>
              <a:t>The advanced tier is where it gets interesting. Two queries here. One uses COALESCE and multi-table joins to reconcile invoiced amounts against paid amounts per vendor — basically an outstanding balance report. The other uses a Common Table Expression to trace a single purchase request through its entire lifecycle and calculate what percentage of the department's budget it consumed.</a:t>
            </a:r>
            <a:endParaRPr sz="1200">
              <a:solidFill>
                <a:schemeClr val="dk1"/>
              </a:solidFill>
            </a:endParaRPr>
          </a:p>
        </p:txBody>
      </p:sp>
      <p:sp>
        <p:nvSpPr>
          <p:cNvPr id="405" name="Google Shape;40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is what happens when finance clicks “Mark Paid” on an invoice. It's not one update — it's five operations in a single transaction.</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Step one, we update the invoice status to PAID. Step two and three, we cascade that PAID status backwards — first to the purchase order, then all the way back to the original purchase request. This is important, because the employee who originally asked for the laptop should see PAID on their dashboard, not stale APPROVED status. Step four, we log the transition in PR_Status_History so we have an audit record. And step five, we record the actual payment row. All of this happens atomically — either everything succeeds or nothing does.</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one transaction is genuinely the heart of the project. It's where SQL stops being academic and starts doing real business logic. </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400"/>
              </a:spcAft>
              <a:buSzPts val="1100"/>
              <a:buNone/>
            </a:pPr>
            <a:r>
              <a:rPr lang="en-US" sz="1200">
                <a:solidFill>
                  <a:schemeClr val="dk1"/>
                </a:solidFill>
                <a:latin typeface="Calibri"/>
                <a:ea typeface="Calibri"/>
                <a:cs typeface="Calibri"/>
                <a:sym typeface="Calibri"/>
              </a:rPr>
              <a:t>Now Nisarg will show you how this all looks from the user's side.</a:t>
            </a:r>
            <a:endParaRPr sz="1200">
              <a:solidFill>
                <a:schemeClr val="dk1"/>
              </a:solidFill>
            </a:endParaRPr>
          </a:p>
        </p:txBody>
      </p:sp>
      <p:sp>
        <p:nvSpPr>
          <p:cNvPr id="441" name="Google Shape;44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400"/>
              </a:spcAft>
              <a:buSzPts val="1100"/>
              <a:buNone/>
            </a:pPr>
            <a:r>
              <a:rPr lang="en-US" sz="1200">
                <a:solidFill>
                  <a:schemeClr val="dk1"/>
                </a:solidFill>
                <a:latin typeface="Calibri"/>
                <a:ea typeface="Calibri"/>
                <a:cs typeface="Calibri"/>
                <a:sym typeface="Calibri"/>
              </a:rPr>
              <a:t>So now let's talk about how the database connects to what the user actually sees in their browser.</a:t>
            </a:r>
            <a:endParaRPr sz="1200">
              <a:solidFill>
                <a:schemeClr val="dk1"/>
              </a:solidFill>
            </a:endParaRPr>
          </a:p>
        </p:txBody>
      </p:sp>
      <p:sp>
        <p:nvSpPr>
          <p:cNvPr id="484" name="Google Shape;4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Three layers. On the frontend we're using Bootstrap 5 for the responsive grid, custom CSS for a dark glassmorphism theme, Chart.js for the KPI doughnut and pie charts on the dashboard, and Jinja2 for server-side templating.</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backend is Python with Flask handling routing. We use Firebase Auth for secure logins — that's our SSO and OAuth — and Flask's login_required decorator gates every protected route based on the user's role.</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For data and deployment, SQLite is the production database, MySQL is our academic build, the whole thing is deployed on Vercel's serverless Python platform, and GitHub CI/CD auto-deploys every push to master.</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t/>
            </a:r>
            <a:endParaRPr sz="1200">
              <a:solidFill>
                <a:schemeClr val="dk1"/>
              </a:solidFill>
            </a:endParaRPr>
          </a:p>
        </p:txBody>
      </p:sp>
      <p:sp>
        <p:nvSpPr>
          <p:cNvPr id="493" name="Google Shape;493;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slide shows exactly how a database row becomes a rendered HTML page. The user clicks /dashboard in their browser. Flask catches the request and runs login_required to check authentication. Then sqlite3 executes the SQL query, which returns rows as dictionary-like objects thanks to the Row factory. Those dictionaries get passed into the Jinja template, which renders the final HTML.</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400"/>
              </a:spcAft>
              <a:buSzPts val="1100"/>
              <a:buNone/>
            </a:pPr>
            <a:r>
              <a:rPr lang="en-US" sz="1200">
                <a:solidFill>
                  <a:schemeClr val="dk1"/>
                </a:solidFill>
                <a:latin typeface="Calibri"/>
                <a:ea typeface="Calibri"/>
                <a:cs typeface="Calibri"/>
                <a:sym typeface="Calibri"/>
              </a:rPr>
              <a:t>The code at the bottom is the actual Flask route. If the logged-in user is an Employee, we query their personal purchase requests, count how many are pending, and pass it all to the dashboard template. Different roles see different data — that's role-based access enforced at the application layer.</a:t>
            </a:r>
            <a:endParaRPr sz="1200">
              <a:solidFill>
                <a:schemeClr val="dk1"/>
              </a:solidFill>
            </a:endParaRPr>
          </a:p>
        </p:txBody>
      </p:sp>
      <p:sp>
        <p:nvSpPr>
          <p:cNvPr id="565" name="Google Shape;565;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00" name="Google Shape;60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Priya will talk about what challenges we faced. Let me walk through the two biggest problems we ran into and how we solved them.</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41" name="Google Shape;641;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9" name="Google Shape;64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first challenge was enforcing the budget. In our early version, we only checked the budget on the frontend, in JavaScript. The problem is — anyone who knew what they were doing could just bypass that check by hitting the API directly. So a manager could theoretically approve a fifty-thousand-dollar request from a department that only had ten thousand left.</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fix was to move the check server-side. Before any approval happens, our Flask backend queries the Departments table, calculates the remaining budget — that's allocated minus used — and rejects the approval if the cost exceeds it. The code snippet at the bottom shows it. Frontend validation is now just for user experience. The actual enforcement lives where it can't be bypassed.</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second challenge was workflow state consistency. We had a bug where if a purchase order got marked as paid, the original purchase request would still show up as APPROVED on the employee's dashboard. So an employee who asked for a laptop two weeks ago would see APPROVED forever, even though the laptop had been shipped, invoiced, and paid for.</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fix was the cascading update mechanism Parva showed earlier — when a downstream document changes status, we use JOINs to find every related upstream record and update them all in a single transaction. Now every actor sees the right status no matter where they're looking.</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t/>
            </a:r>
            <a:endParaRPr sz="1200">
              <a:solidFill>
                <a:schemeClr val="dk1"/>
              </a:solidFill>
            </a:endParaRPr>
          </a:p>
        </p:txBody>
      </p:sp>
      <p:sp>
        <p:nvSpPr>
          <p:cNvPr id="650" name="Google Shape;650;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1" name="Google Shape;68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What did we actually learn from all this?</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rPr lang="en-US" sz="1200">
                <a:solidFill>
                  <a:schemeClr val="dk1"/>
                </a:solidFill>
                <a:latin typeface="Calibri"/>
                <a:ea typeface="Calibri"/>
                <a:cs typeface="Calibri"/>
                <a:sym typeface="Calibri"/>
              </a:rPr>
              <a:t>We got real hands-on experience with database normalization — structuring sixteen tables to satisfy 3NF and figuring out where to draw the line between separate entities. We managed referential integrity across thirty-plus foreign keys without ever ending up with orphaned records. We wrote complex SQL — multi-table joins, GROUP BY with HAVING clauses, common table expressions, and sequenced transactional updates. We connected the database end-to-end through Flask to a live frontend. And we built audit and security in from day one rather than bolting it on at the end.</a:t>
            </a:r>
            <a:endParaRPr sz="1200">
              <a:solidFill>
                <a:schemeClr val="dk1"/>
              </a:solidFill>
              <a:latin typeface="Calibri"/>
              <a:ea typeface="Calibri"/>
              <a:cs typeface="Calibri"/>
              <a:sym typeface="Calibri"/>
            </a:endParaRPr>
          </a:p>
          <a:p>
            <a:pPr indent="0" lvl="0" marL="0" rtl="0" algn="l">
              <a:lnSpc>
                <a:spcPct val="150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strip at the bottom shows what's next — we'd migrate to PostgreSQL for better concurrent writes, add email notifications through SendGrid, and expose REST APIs so vendor systems could plug in directly.</a:t>
            </a:r>
            <a:endParaRPr sz="1200">
              <a:solidFill>
                <a:schemeClr val="dk1"/>
              </a:solidFill>
              <a:latin typeface="Calibri"/>
              <a:ea typeface="Calibri"/>
              <a:cs typeface="Calibri"/>
              <a:sym typeface="Calibri"/>
            </a:endParaRPr>
          </a:p>
          <a:p>
            <a:pPr indent="0" lvl="0" marL="0" marR="0" rtl="0" algn="l">
              <a:spcBef>
                <a:spcPts val="400"/>
              </a:spcBef>
              <a:spcAft>
                <a:spcPts val="0"/>
              </a:spcAft>
              <a:buNone/>
            </a:pPr>
            <a:r>
              <a:t/>
            </a:r>
            <a:endParaRPr sz="1200">
              <a:solidFill>
                <a:schemeClr val="dk1"/>
              </a:solidFill>
              <a:latin typeface="Calibri"/>
              <a:ea typeface="Calibri"/>
              <a:cs typeface="Calibri"/>
              <a:sym typeface="Calibri"/>
            </a:endParaRPr>
          </a:p>
        </p:txBody>
      </p:sp>
      <p:sp>
        <p:nvSpPr>
          <p:cNvPr id="682" name="Google Shape;682;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7" name="Google Shape;72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400"/>
              </a:spcBef>
              <a:spcAft>
                <a:spcPts val="400"/>
              </a:spcAft>
              <a:buSzPts val="1100"/>
              <a:buNone/>
            </a:pPr>
            <a:r>
              <a:rPr lang="en-US" sz="1200">
                <a:solidFill>
                  <a:schemeClr val="dk1"/>
                </a:solidFill>
                <a:latin typeface="Calibri"/>
                <a:ea typeface="Calibri"/>
                <a:cs typeface="Calibri"/>
                <a:sym typeface="Calibri"/>
              </a:rPr>
              <a:t>To wrap up — what we built is a working, deployed procurement system that turns a messy real-world business process into something the database itself enforces. Thank you so much for listening. We'd love to take any questions you have.</a:t>
            </a:r>
            <a:endParaRPr sz="1200">
              <a:solidFill>
                <a:schemeClr val="dk1"/>
              </a:solidFill>
            </a:endParaRPr>
          </a:p>
        </p:txBody>
      </p:sp>
      <p:sp>
        <p:nvSpPr>
          <p:cNvPr id="728" name="Google Shape;728;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 Id="rId11" Type="http://schemas.openxmlformats.org/officeDocument/2006/relationships/image" Target="../media/image8.png"/><Relationship Id="rId10" Type="http://schemas.openxmlformats.org/officeDocument/2006/relationships/image" Target="../media/image9.png"/><Relationship Id="rId9" Type="http://schemas.openxmlformats.org/officeDocument/2006/relationships/image" Target="../media/image21.png"/><Relationship Id="rId5" Type="http://schemas.openxmlformats.org/officeDocument/2006/relationships/image" Target="../media/image5.png"/><Relationship Id="rId6" Type="http://schemas.openxmlformats.org/officeDocument/2006/relationships/image" Target="../media/image26.png"/><Relationship Id="rId7" Type="http://schemas.openxmlformats.org/officeDocument/2006/relationships/image" Target="../media/image6.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14.png"/><Relationship Id="rId8"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8.png"/><Relationship Id="rId13" Type="http://schemas.openxmlformats.org/officeDocument/2006/relationships/image" Target="../media/image20.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8.png"/><Relationship Id="rId9" Type="http://schemas.openxmlformats.org/officeDocument/2006/relationships/image" Target="../media/image7.png"/><Relationship Id="rId5" Type="http://schemas.openxmlformats.org/officeDocument/2006/relationships/image" Target="../media/image24.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35.png"/><Relationship Id="rId5" Type="http://schemas.openxmlformats.org/officeDocument/2006/relationships/hyperlink" Target="https://procurement-system-peach.vercel.app/logi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0"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0.png"/><Relationship Id="rId9" Type="http://schemas.openxmlformats.org/officeDocument/2006/relationships/image" Target="../media/image17.png"/><Relationship Id="rId5" Type="http://schemas.openxmlformats.org/officeDocument/2006/relationships/image" Target="../media/image27.png"/><Relationship Id="rId6" Type="http://schemas.openxmlformats.org/officeDocument/2006/relationships/image" Target="../media/image24.png"/><Relationship Id="rId7" Type="http://schemas.openxmlformats.org/officeDocument/2006/relationships/image" Target="../media/image28.png"/><Relationship Id="rId8"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838"/>
        </a:solidFill>
      </p:bgPr>
    </p:bg>
    <p:spTree>
      <p:nvGrpSpPr>
        <p:cNvPr id="11" name="Shape 11"/>
        <p:cNvGrpSpPr/>
        <p:nvPr/>
      </p:nvGrpSpPr>
      <p:grpSpPr>
        <a:xfrm>
          <a:off x="0" y="0"/>
          <a:ext cx="0" cy="0"/>
          <a:chOff x="0" y="0"/>
          <a:chExt cx="0" cy="0"/>
        </a:xfrm>
      </p:grpSpPr>
      <p:sp>
        <p:nvSpPr>
          <p:cNvPr id="12" name="Google Shape;12;p3"/>
          <p:cNvSpPr/>
          <p:nvPr/>
        </p:nvSpPr>
        <p:spPr>
          <a:xfrm>
            <a:off x="10789920" y="457200"/>
            <a:ext cx="73152" cy="73152"/>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11155680" y="502920"/>
            <a:ext cx="73152" cy="73152"/>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3"/>
          <p:cNvSpPr/>
          <p:nvPr/>
        </p:nvSpPr>
        <p:spPr>
          <a:xfrm>
            <a:off x="11521440" y="548640"/>
            <a:ext cx="73152" cy="73152"/>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3"/>
          <p:cNvSpPr/>
          <p:nvPr/>
        </p:nvSpPr>
        <p:spPr>
          <a:xfrm>
            <a:off x="914400" y="109728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1" lang="en-US" sz="1300">
                <a:solidFill>
                  <a:srgbClr val="CADCFC"/>
                </a:solidFill>
                <a:latin typeface="Calibri"/>
                <a:ea typeface="Calibri"/>
                <a:cs typeface="Calibri"/>
                <a:sym typeface="Calibri"/>
              </a:rPr>
              <a:t>DATABASE MANAGEMENT TOOLS  | </a:t>
            </a:r>
            <a:endParaRPr sz="1300">
              <a:solidFill>
                <a:schemeClr val="dk1"/>
              </a:solidFill>
              <a:latin typeface="Calibri"/>
              <a:ea typeface="Calibri"/>
              <a:cs typeface="Calibri"/>
              <a:sym typeface="Calibri"/>
            </a:endParaRPr>
          </a:p>
        </p:txBody>
      </p:sp>
      <p:sp>
        <p:nvSpPr>
          <p:cNvPr id="16" name="Google Shape;16;p3"/>
          <p:cNvSpPr/>
          <p:nvPr/>
        </p:nvSpPr>
        <p:spPr>
          <a:xfrm>
            <a:off x="914400" y="1691640"/>
            <a:ext cx="100584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5000"/>
              <a:buFont typeface="Georgia"/>
              <a:buNone/>
            </a:pPr>
            <a:r>
              <a:rPr b="1" lang="en-US" sz="5000">
                <a:solidFill>
                  <a:srgbClr val="FFFFFF"/>
                </a:solidFill>
                <a:latin typeface="Georgia"/>
                <a:ea typeface="Georgia"/>
                <a:cs typeface="Georgia"/>
                <a:sym typeface="Georgia"/>
              </a:rPr>
              <a:t>Multi-Vendor Procurement</a:t>
            </a:r>
            <a:endParaRPr sz="5000">
              <a:solidFill>
                <a:schemeClr val="dk1"/>
              </a:solidFill>
              <a:latin typeface="Calibri"/>
              <a:ea typeface="Calibri"/>
              <a:cs typeface="Calibri"/>
              <a:sym typeface="Calibri"/>
            </a:endParaRPr>
          </a:p>
        </p:txBody>
      </p:sp>
      <p:sp>
        <p:nvSpPr>
          <p:cNvPr id="17" name="Google Shape;17;p3"/>
          <p:cNvSpPr/>
          <p:nvPr/>
        </p:nvSpPr>
        <p:spPr>
          <a:xfrm>
            <a:off x="914400" y="2606040"/>
            <a:ext cx="10058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800"/>
              <a:buFont typeface="Georgia"/>
              <a:buNone/>
            </a:pPr>
            <a:r>
              <a:rPr i="1" lang="en-US" sz="3800">
                <a:solidFill>
                  <a:srgbClr val="FFFFFF"/>
                </a:solidFill>
                <a:latin typeface="Georgia"/>
                <a:ea typeface="Georgia"/>
                <a:cs typeface="Georgia"/>
                <a:sym typeface="Georgia"/>
              </a:rPr>
              <a:t>&amp; Purchase Order Management System</a:t>
            </a:r>
            <a:endParaRPr sz="3800">
              <a:solidFill>
                <a:schemeClr val="dk1"/>
              </a:solidFill>
              <a:latin typeface="Calibri"/>
              <a:ea typeface="Calibri"/>
              <a:cs typeface="Calibri"/>
              <a:sym typeface="Calibri"/>
            </a:endParaRPr>
          </a:p>
        </p:txBody>
      </p:sp>
      <p:sp>
        <p:nvSpPr>
          <p:cNvPr id="18" name="Google Shape;18;p3"/>
          <p:cNvSpPr/>
          <p:nvPr/>
        </p:nvSpPr>
        <p:spPr>
          <a:xfrm>
            <a:off x="914400" y="3611880"/>
            <a:ext cx="1097280" cy="54864"/>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3"/>
          <p:cNvSpPr/>
          <p:nvPr/>
        </p:nvSpPr>
        <p:spPr>
          <a:xfrm>
            <a:off x="914400" y="379476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i="1" lang="en-US" sz="1600">
                <a:solidFill>
                  <a:srgbClr val="CADCFC"/>
                </a:solidFill>
                <a:latin typeface="Calibri"/>
                <a:ea typeface="Calibri"/>
                <a:cs typeface="Calibri"/>
                <a:sym typeface="Calibri"/>
              </a:rPr>
              <a:t>A full-stack enterprise platform digitizing the end-to-end procurement workflow</a:t>
            </a:r>
            <a:endParaRPr sz="1600">
              <a:solidFill>
                <a:schemeClr val="dk1"/>
              </a:solidFill>
              <a:latin typeface="Calibri"/>
              <a:ea typeface="Calibri"/>
              <a:cs typeface="Calibri"/>
              <a:sym typeface="Calibri"/>
            </a:endParaRPr>
          </a:p>
        </p:txBody>
      </p:sp>
      <p:sp>
        <p:nvSpPr>
          <p:cNvPr id="20" name="Google Shape;20;p3"/>
          <p:cNvSpPr/>
          <p:nvPr/>
        </p:nvSpPr>
        <p:spPr>
          <a:xfrm>
            <a:off x="914400" y="48463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200"/>
              <a:buFont typeface="Calibri"/>
              <a:buNone/>
            </a:pPr>
            <a:r>
              <a:rPr b="1" lang="en-US" sz="1200">
                <a:solidFill>
                  <a:srgbClr val="D4AF37"/>
                </a:solidFill>
                <a:latin typeface="Calibri"/>
                <a:ea typeface="Calibri"/>
                <a:cs typeface="Calibri"/>
                <a:sym typeface="Calibri"/>
              </a:rPr>
              <a:t>TEAM 3</a:t>
            </a:r>
            <a:endParaRPr sz="1200">
              <a:solidFill>
                <a:schemeClr val="dk1"/>
              </a:solidFill>
              <a:latin typeface="Calibri"/>
              <a:ea typeface="Calibri"/>
              <a:cs typeface="Calibri"/>
              <a:sym typeface="Calibri"/>
            </a:endParaRPr>
          </a:p>
        </p:txBody>
      </p:sp>
      <p:sp>
        <p:nvSpPr>
          <p:cNvPr id="21" name="Google Shape;21;p3"/>
          <p:cNvSpPr/>
          <p:nvPr/>
        </p:nvSpPr>
        <p:spPr>
          <a:xfrm>
            <a:off x="914400" y="516636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Nisarg Shah   •   Smit Patel   •   Parva Shah   •   Swet Patel   •   Priya</a:t>
            </a:r>
            <a:endParaRPr sz="1600">
              <a:solidFill>
                <a:schemeClr val="dk1"/>
              </a:solidFill>
              <a:latin typeface="Calibri"/>
              <a:ea typeface="Calibri"/>
              <a:cs typeface="Calibri"/>
              <a:sym typeface="Calibri"/>
            </a:endParaRPr>
          </a:p>
        </p:txBody>
      </p:sp>
      <p:pic>
        <p:nvPicPr>
          <p:cNvPr descr="preencoded.png" id="22" name="Google Shape;22;p3"/>
          <p:cNvPicPr preferRelativeResize="0"/>
          <p:nvPr/>
        </p:nvPicPr>
        <p:blipFill rotWithShape="1">
          <a:blip r:embed="rId3">
            <a:alphaModFix/>
          </a:blip>
          <a:srcRect b="0" l="0" r="0" t="0"/>
          <a:stretch/>
        </p:blipFill>
        <p:spPr>
          <a:xfrm>
            <a:off x="914400" y="5989320"/>
            <a:ext cx="256032" cy="256032"/>
          </a:xfrm>
          <a:prstGeom prst="rect">
            <a:avLst/>
          </a:prstGeom>
          <a:noFill/>
          <a:ln>
            <a:noFill/>
          </a:ln>
        </p:spPr>
      </p:pic>
      <p:sp>
        <p:nvSpPr>
          <p:cNvPr id="23" name="Google Shape;23;p3"/>
          <p:cNvSpPr/>
          <p:nvPr/>
        </p:nvSpPr>
        <p:spPr>
          <a:xfrm>
            <a:off x="1280160" y="59436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onsolas"/>
              <a:buNone/>
            </a:pPr>
            <a:r>
              <a:rPr lang="en-US" sz="1300">
                <a:solidFill>
                  <a:srgbClr val="CADCFC"/>
                </a:solidFill>
                <a:latin typeface="Consolas"/>
                <a:ea typeface="Consolas"/>
                <a:cs typeface="Consolas"/>
                <a:sym typeface="Consolas"/>
              </a:rPr>
              <a:t>Live App:  procurement-system-peach.vercel.app</a:t>
            </a:r>
            <a:endParaRPr sz="13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pic>
        <p:nvPicPr>
          <p:cNvPr descr="preencoded.png" id="29" name="Google Shape;29;p4"/>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30" name="Google Shape;30;p4"/>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Presentation Roadmap</a:t>
            </a:r>
            <a:endParaRPr sz="2800">
              <a:solidFill>
                <a:schemeClr val="dk1"/>
              </a:solidFill>
              <a:latin typeface="Calibri"/>
              <a:ea typeface="Calibri"/>
              <a:cs typeface="Calibri"/>
              <a:sym typeface="Calibri"/>
            </a:endParaRPr>
          </a:p>
        </p:txBody>
      </p:sp>
      <p:sp>
        <p:nvSpPr>
          <p:cNvPr id="31" name="Google Shape;31;p4"/>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15 minutes  •  5 presenters  •  6 sections</a:t>
            </a:r>
            <a:endParaRPr sz="1300">
              <a:solidFill>
                <a:schemeClr val="dk1"/>
              </a:solidFill>
              <a:latin typeface="Calibri"/>
              <a:ea typeface="Calibri"/>
              <a:cs typeface="Calibri"/>
              <a:sym typeface="Calibri"/>
            </a:endParaRPr>
          </a:p>
        </p:txBody>
      </p:sp>
      <p:sp>
        <p:nvSpPr>
          <p:cNvPr id="32" name="Google Shape;32;p4"/>
          <p:cNvSpPr/>
          <p:nvPr/>
        </p:nvSpPr>
        <p:spPr>
          <a:xfrm>
            <a:off x="548640" y="1463040"/>
            <a:ext cx="5349240" cy="1417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548640" y="1463040"/>
            <a:ext cx="91440" cy="14173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4"/>
          <p:cNvSpPr/>
          <p:nvPr/>
        </p:nvSpPr>
        <p:spPr>
          <a:xfrm>
            <a:off x="822960" y="1600200"/>
            <a:ext cx="731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2800"/>
              <a:buFont typeface="Georgia"/>
              <a:buNone/>
            </a:pPr>
            <a:r>
              <a:rPr b="1" lang="en-US" sz="2800">
                <a:solidFill>
                  <a:srgbClr val="D4AF37"/>
                </a:solidFill>
                <a:latin typeface="Georgia"/>
                <a:ea typeface="Georgia"/>
                <a:cs typeface="Georgia"/>
                <a:sym typeface="Georgia"/>
              </a:rPr>
              <a:t>01</a:t>
            </a:r>
            <a:endParaRPr sz="2800">
              <a:solidFill>
                <a:schemeClr val="dk1"/>
              </a:solidFill>
              <a:latin typeface="Calibri"/>
              <a:ea typeface="Calibri"/>
              <a:cs typeface="Calibri"/>
              <a:sym typeface="Calibri"/>
            </a:endParaRPr>
          </a:p>
        </p:txBody>
      </p:sp>
      <p:sp>
        <p:nvSpPr>
          <p:cNvPr id="35" name="Google Shape;35;p4"/>
          <p:cNvSpPr/>
          <p:nvPr/>
        </p:nvSpPr>
        <p:spPr>
          <a:xfrm>
            <a:off x="1554480" y="1627632"/>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Project Overview</a:t>
            </a:r>
            <a:endParaRPr sz="1700">
              <a:solidFill>
                <a:schemeClr val="dk1"/>
              </a:solidFill>
              <a:latin typeface="Calibri"/>
              <a:ea typeface="Calibri"/>
              <a:cs typeface="Calibri"/>
              <a:sym typeface="Calibri"/>
            </a:endParaRPr>
          </a:p>
        </p:txBody>
      </p:sp>
      <p:sp>
        <p:nvSpPr>
          <p:cNvPr id="36" name="Google Shape;36;p4"/>
          <p:cNvSpPr/>
          <p:nvPr/>
        </p:nvSpPr>
        <p:spPr>
          <a:xfrm>
            <a:off x="1554480" y="202996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Swet</a:t>
            </a:r>
            <a:endParaRPr sz="1100">
              <a:solidFill>
                <a:schemeClr val="dk1"/>
              </a:solidFill>
              <a:latin typeface="Calibri"/>
              <a:ea typeface="Calibri"/>
              <a:cs typeface="Calibri"/>
              <a:sym typeface="Calibri"/>
            </a:endParaRPr>
          </a:p>
        </p:txBody>
      </p:sp>
      <p:sp>
        <p:nvSpPr>
          <p:cNvPr id="37" name="Google Shape;37;p4"/>
          <p:cNvSpPr/>
          <p:nvPr/>
        </p:nvSpPr>
        <p:spPr>
          <a:xfrm>
            <a:off x="822960" y="2331720"/>
            <a:ext cx="4892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Problem, objective, scope, business rules</a:t>
            </a:r>
            <a:endParaRPr sz="1200">
              <a:solidFill>
                <a:schemeClr val="dk1"/>
              </a:solidFill>
              <a:latin typeface="Calibri"/>
              <a:ea typeface="Calibri"/>
              <a:cs typeface="Calibri"/>
              <a:sym typeface="Calibri"/>
            </a:endParaRPr>
          </a:p>
        </p:txBody>
      </p:sp>
      <p:sp>
        <p:nvSpPr>
          <p:cNvPr id="38" name="Google Shape;38;p4"/>
          <p:cNvSpPr/>
          <p:nvPr/>
        </p:nvSpPr>
        <p:spPr>
          <a:xfrm>
            <a:off x="6263640" y="1463040"/>
            <a:ext cx="5349240" cy="1417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4"/>
          <p:cNvSpPr/>
          <p:nvPr/>
        </p:nvSpPr>
        <p:spPr>
          <a:xfrm>
            <a:off x="6263640" y="1463040"/>
            <a:ext cx="91440" cy="14173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4"/>
          <p:cNvSpPr/>
          <p:nvPr/>
        </p:nvSpPr>
        <p:spPr>
          <a:xfrm>
            <a:off x="6537960" y="1600200"/>
            <a:ext cx="731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2800"/>
              <a:buFont typeface="Georgia"/>
              <a:buNone/>
            </a:pPr>
            <a:r>
              <a:rPr b="1" lang="en-US" sz="2800">
                <a:solidFill>
                  <a:srgbClr val="D4AF37"/>
                </a:solidFill>
                <a:latin typeface="Georgia"/>
                <a:ea typeface="Georgia"/>
                <a:cs typeface="Georgia"/>
                <a:sym typeface="Georgia"/>
              </a:rPr>
              <a:t>02</a:t>
            </a:r>
            <a:endParaRPr sz="2800">
              <a:solidFill>
                <a:schemeClr val="dk1"/>
              </a:solidFill>
              <a:latin typeface="Calibri"/>
              <a:ea typeface="Calibri"/>
              <a:cs typeface="Calibri"/>
              <a:sym typeface="Calibri"/>
            </a:endParaRPr>
          </a:p>
        </p:txBody>
      </p:sp>
      <p:sp>
        <p:nvSpPr>
          <p:cNvPr id="41" name="Google Shape;41;p4"/>
          <p:cNvSpPr/>
          <p:nvPr/>
        </p:nvSpPr>
        <p:spPr>
          <a:xfrm>
            <a:off x="7269480" y="1627632"/>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Database Design</a:t>
            </a:r>
            <a:endParaRPr sz="1700">
              <a:solidFill>
                <a:schemeClr val="dk1"/>
              </a:solidFill>
              <a:latin typeface="Calibri"/>
              <a:ea typeface="Calibri"/>
              <a:cs typeface="Calibri"/>
              <a:sym typeface="Calibri"/>
            </a:endParaRPr>
          </a:p>
        </p:txBody>
      </p:sp>
      <p:sp>
        <p:nvSpPr>
          <p:cNvPr id="42" name="Google Shape;42;p4"/>
          <p:cNvSpPr/>
          <p:nvPr/>
        </p:nvSpPr>
        <p:spPr>
          <a:xfrm>
            <a:off x="7269480" y="202996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Smit</a:t>
            </a:r>
            <a:endParaRPr sz="1100">
              <a:solidFill>
                <a:schemeClr val="dk1"/>
              </a:solidFill>
              <a:latin typeface="Calibri"/>
              <a:ea typeface="Calibri"/>
              <a:cs typeface="Calibri"/>
              <a:sym typeface="Calibri"/>
            </a:endParaRPr>
          </a:p>
        </p:txBody>
      </p:sp>
      <p:sp>
        <p:nvSpPr>
          <p:cNvPr id="43" name="Google Shape;43;p4"/>
          <p:cNvSpPr/>
          <p:nvPr/>
        </p:nvSpPr>
        <p:spPr>
          <a:xfrm>
            <a:off x="6537960" y="2331720"/>
            <a:ext cx="4892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ERD, 16 tables, 3NF, six functional modules</a:t>
            </a:r>
            <a:endParaRPr sz="1200">
              <a:solidFill>
                <a:schemeClr val="dk1"/>
              </a:solidFill>
              <a:latin typeface="Calibri"/>
              <a:ea typeface="Calibri"/>
              <a:cs typeface="Calibri"/>
              <a:sym typeface="Calibri"/>
            </a:endParaRPr>
          </a:p>
        </p:txBody>
      </p:sp>
      <p:sp>
        <p:nvSpPr>
          <p:cNvPr id="44" name="Google Shape;44;p4"/>
          <p:cNvSpPr/>
          <p:nvPr/>
        </p:nvSpPr>
        <p:spPr>
          <a:xfrm>
            <a:off x="548640" y="3108960"/>
            <a:ext cx="5349240" cy="1417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4"/>
          <p:cNvSpPr/>
          <p:nvPr/>
        </p:nvSpPr>
        <p:spPr>
          <a:xfrm>
            <a:off x="548640" y="3108960"/>
            <a:ext cx="91440" cy="14173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822960" y="3246120"/>
            <a:ext cx="731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2800"/>
              <a:buFont typeface="Georgia"/>
              <a:buNone/>
            </a:pPr>
            <a:r>
              <a:rPr b="1" lang="en-US" sz="2800">
                <a:solidFill>
                  <a:srgbClr val="D4AF37"/>
                </a:solidFill>
                <a:latin typeface="Georgia"/>
                <a:ea typeface="Georgia"/>
                <a:cs typeface="Georgia"/>
                <a:sym typeface="Georgia"/>
              </a:rPr>
              <a:t>03</a:t>
            </a:r>
            <a:endParaRPr sz="2800">
              <a:solidFill>
                <a:schemeClr val="dk1"/>
              </a:solidFill>
              <a:latin typeface="Calibri"/>
              <a:ea typeface="Calibri"/>
              <a:cs typeface="Calibri"/>
              <a:sym typeface="Calibri"/>
            </a:endParaRPr>
          </a:p>
        </p:txBody>
      </p:sp>
      <p:sp>
        <p:nvSpPr>
          <p:cNvPr id="47" name="Google Shape;47;p4"/>
          <p:cNvSpPr/>
          <p:nvPr/>
        </p:nvSpPr>
        <p:spPr>
          <a:xfrm>
            <a:off x="1554480" y="3273552"/>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SQL Implementation</a:t>
            </a:r>
            <a:endParaRPr sz="1700">
              <a:solidFill>
                <a:schemeClr val="dk1"/>
              </a:solidFill>
              <a:latin typeface="Calibri"/>
              <a:ea typeface="Calibri"/>
              <a:cs typeface="Calibri"/>
              <a:sym typeface="Calibri"/>
            </a:endParaRPr>
          </a:p>
        </p:txBody>
      </p:sp>
      <p:sp>
        <p:nvSpPr>
          <p:cNvPr id="48" name="Google Shape;48;p4"/>
          <p:cNvSpPr/>
          <p:nvPr/>
        </p:nvSpPr>
        <p:spPr>
          <a:xfrm>
            <a:off x="1554480" y="367588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Parva</a:t>
            </a:r>
            <a:endParaRPr sz="1100">
              <a:solidFill>
                <a:schemeClr val="dk1"/>
              </a:solidFill>
              <a:latin typeface="Calibri"/>
              <a:ea typeface="Calibri"/>
              <a:cs typeface="Calibri"/>
              <a:sym typeface="Calibri"/>
            </a:endParaRPr>
          </a:p>
        </p:txBody>
      </p:sp>
      <p:sp>
        <p:nvSpPr>
          <p:cNvPr id="49" name="Google Shape;49;p4"/>
          <p:cNvSpPr/>
          <p:nvPr/>
        </p:nvSpPr>
        <p:spPr>
          <a:xfrm>
            <a:off x="822960" y="3977640"/>
            <a:ext cx="4892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DDL, query tiers, transactions, KPIs</a:t>
            </a:r>
            <a:endParaRPr sz="1200">
              <a:solidFill>
                <a:schemeClr val="dk1"/>
              </a:solidFill>
              <a:latin typeface="Calibri"/>
              <a:ea typeface="Calibri"/>
              <a:cs typeface="Calibri"/>
              <a:sym typeface="Calibri"/>
            </a:endParaRPr>
          </a:p>
        </p:txBody>
      </p:sp>
      <p:sp>
        <p:nvSpPr>
          <p:cNvPr id="50" name="Google Shape;50;p4"/>
          <p:cNvSpPr/>
          <p:nvPr/>
        </p:nvSpPr>
        <p:spPr>
          <a:xfrm>
            <a:off x="6263640" y="3108960"/>
            <a:ext cx="5349240" cy="1417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6263640" y="3108960"/>
            <a:ext cx="91440" cy="14173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4"/>
          <p:cNvSpPr/>
          <p:nvPr/>
        </p:nvSpPr>
        <p:spPr>
          <a:xfrm>
            <a:off x="6537960" y="3246120"/>
            <a:ext cx="731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2800"/>
              <a:buFont typeface="Georgia"/>
              <a:buNone/>
            </a:pPr>
            <a:r>
              <a:rPr b="1" lang="en-US" sz="2800">
                <a:solidFill>
                  <a:srgbClr val="D4AF37"/>
                </a:solidFill>
                <a:latin typeface="Georgia"/>
                <a:ea typeface="Georgia"/>
                <a:cs typeface="Georgia"/>
                <a:sym typeface="Georgia"/>
              </a:rPr>
              <a:t>04</a:t>
            </a:r>
            <a:endParaRPr sz="2800">
              <a:solidFill>
                <a:schemeClr val="dk1"/>
              </a:solidFill>
              <a:latin typeface="Calibri"/>
              <a:ea typeface="Calibri"/>
              <a:cs typeface="Calibri"/>
              <a:sym typeface="Calibri"/>
            </a:endParaRPr>
          </a:p>
        </p:txBody>
      </p:sp>
      <p:sp>
        <p:nvSpPr>
          <p:cNvPr id="53" name="Google Shape;53;p4"/>
          <p:cNvSpPr/>
          <p:nvPr/>
        </p:nvSpPr>
        <p:spPr>
          <a:xfrm>
            <a:off x="7269480" y="3273552"/>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Frontend &amp; Workflow Demo</a:t>
            </a:r>
            <a:endParaRPr sz="1700">
              <a:solidFill>
                <a:schemeClr val="dk1"/>
              </a:solidFill>
              <a:latin typeface="Calibri"/>
              <a:ea typeface="Calibri"/>
              <a:cs typeface="Calibri"/>
              <a:sym typeface="Calibri"/>
            </a:endParaRPr>
          </a:p>
        </p:txBody>
      </p:sp>
      <p:sp>
        <p:nvSpPr>
          <p:cNvPr id="54" name="Google Shape;54;p4"/>
          <p:cNvSpPr/>
          <p:nvPr/>
        </p:nvSpPr>
        <p:spPr>
          <a:xfrm>
            <a:off x="7269480" y="367588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Nisarg</a:t>
            </a:r>
            <a:endParaRPr sz="1100">
              <a:solidFill>
                <a:schemeClr val="dk1"/>
              </a:solidFill>
              <a:latin typeface="Calibri"/>
              <a:ea typeface="Calibri"/>
              <a:cs typeface="Calibri"/>
              <a:sym typeface="Calibri"/>
            </a:endParaRPr>
          </a:p>
        </p:txBody>
      </p:sp>
      <p:sp>
        <p:nvSpPr>
          <p:cNvPr id="55" name="Google Shape;55;p4"/>
          <p:cNvSpPr/>
          <p:nvPr/>
        </p:nvSpPr>
        <p:spPr>
          <a:xfrm>
            <a:off x="6537960" y="3977640"/>
            <a:ext cx="4892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Stack, Flask routing, live walkthrough</a:t>
            </a:r>
            <a:endParaRPr sz="1200">
              <a:solidFill>
                <a:schemeClr val="dk1"/>
              </a:solidFill>
              <a:latin typeface="Calibri"/>
              <a:ea typeface="Calibri"/>
              <a:cs typeface="Calibri"/>
              <a:sym typeface="Calibri"/>
            </a:endParaRPr>
          </a:p>
        </p:txBody>
      </p:sp>
      <p:sp>
        <p:nvSpPr>
          <p:cNvPr id="56" name="Google Shape;56;p4"/>
          <p:cNvSpPr/>
          <p:nvPr/>
        </p:nvSpPr>
        <p:spPr>
          <a:xfrm>
            <a:off x="548640" y="4754880"/>
            <a:ext cx="5349240" cy="1417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4"/>
          <p:cNvSpPr/>
          <p:nvPr/>
        </p:nvSpPr>
        <p:spPr>
          <a:xfrm>
            <a:off x="548640" y="4754880"/>
            <a:ext cx="91440" cy="14173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4"/>
          <p:cNvSpPr/>
          <p:nvPr/>
        </p:nvSpPr>
        <p:spPr>
          <a:xfrm>
            <a:off x="822960" y="4892040"/>
            <a:ext cx="731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2800"/>
              <a:buFont typeface="Georgia"/>
              <a:buNone/>
            </a:pPr>
            <a:r>
              <a:rPr b="1" lang="en-US" sz="2800">
                <a:solidFill>
                  <a:srgbClr val="D4AF37"/>
                </a:solidFill>
                <a:latin typeface="Georgia"/>
                <a:ea typeface="Georgia"/>
                <a:cs typeface="Georgia"/>
                <a:sym typeface="Georgia"/>
              </a:rPr>
              <a:t>05</a:t>
            </a:r>
            <a:endParaRPr sz="2800">
              <a:solidFill>
                <a:schemeClr val="dk1"/>
              </a:solidFill>
              <a:latin typeface="Calibri"/>
              <a:ea typeface="Calibri"/>
              <a:cs typeface="Calibri"/>
              <a:sym typeface="Calibri"/>
            </a:endParaRPr>
          </a:p>
        </p:txBody>
      </p:sp>
      <p:sp>
        <p:nvSpPr>
          <p:cNvPr id="59" name="Google Shape;59;p4"/>
          <p:cNvSpPr/>
          <p:nvPr/>
        </p:nvSpPr>
        <p:spPr>
          <a:xfrm>
            <a:off x="1554480" y="4919472"/>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Challenges &amp; Conclusion</a:t>
            </a:r>
            <a:endParaRPr sz="1700">
              <a:solidFill>
                <a:schemeClr val="dk1"/>
              </a:solidFill>
              <a:latin typeface="Calibri"/>
              <a:ea typeface="Calibri"/>
              <a:cs typeface="Calibri"/>
              <a:sym typeface="Calibri"/>
            </a:endParaRPr>
          </a:p>
        </p:txBody>
      </p:sp>
      <p:sp>
        <p:nvSpPr>
          <p:cNvPr id="60" name="Google Shape;60;p4"/>
          <p:cNvSpPr/>
          <p:nvPr/>
        </p:nvSpPr>
        <p:spPr>
          <a:xfrm>
            <a:off x="1554480" y="532180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Priya</a:t>
            </a:r>
            <a:endParaRPr sz="1100">
              <a:solidFill>
                <a:schemeClr val="dk1"/>
              </a:solidFill>
              <a:latin typeface="Calibri"/>
              <a:ea typeface="Calibri"/>
              <a:cs typeface="Calibri"/>
              <a:sym typeface="Calibri"/>
            </a:endParaRPr>
          </a:p>
        </p:txBody>
      </p:sp>
      <p:sp>
        <p:nvSpPr>
          <p:cNvPr id="61" name="Google Shape;61;p4"/>
          <p:cNvSpPr/>
          <p:nvPr/>
        </p:nvSpPr>
        <p:spPr>
          <a:xfrm>
            <a:off x="822960" y="5623560"/>
            <a:ext cx="4892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Roadblocks, learnings, future scope</a:t>
            </a:r>
            <a:endParaRPr sz="1200">
              <a:solidFill>
                <a:schemeClr val="dk1"/>
              </a:solidFill>
              <a:latin typeface="Calibri"/>
              <a:ea typeface="Calibri"/>
              <a:cs typeface="Calibri"/>
              <a:sym typeface="Calibri"/>
            </a:endParaRPr>
          </a:p>
        </p:txBody>
      </p:sp>
      <p:sp>
        <p:nvSpPr>
          <p:cNvPr id="62" name="Google Shape;62;p4"/>
          <p:cNvSpPr/>
          <p:nvPr/>
        </p:nvSpPr>
        <p:spPr>
          <a:xfrm>
            <a:off x="6263640" y="4754880"/>
            <a:ext cx="5349240" cy="14173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3" name="Google Shape;63;p4"/>
          <p:cNvPicPr preferRelativeResize="0"/>
          <p:nvPr/>
        </p:nvPicPr>
        <p:blipFill rotWithShape="1">
          <a:blip r:embed="rId4">
            <a:alphaModFix/>
          </a:blip>
          <a:srcRect b="0" l="0" r="0" t="0"/>
          <a:stretch/>
        </p:blipFill>
        <p:spPr>
          <a:xfrm>
            <a:off x="6537960" y="5120640"/>
            <a:ext cx="640080" cy="640080"/>
          </a:xfrm>
          <a:prstGeom prst="rect">
            <a:avLst/>
          </a:prstGeom>
          <a:noFill/>
          <a:ln>
            <a:noFill/>
          </a:ln>
        </p:spPr>
      </p:pic>
      <p:sp>
        <p:nvSpPr>
          <p:cNvPr id="64" name="Google Shape;64;p4"/>
          <p:cNvSpPr/>
          <p:nvPr/>
        </p:nvSpPr>
        <p:spPr>
          <a:xfrm>
            <a:off x="7360920" y="5029200"/>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Live Demo + Q&amp;A</a:t>
            </a:r>
            <a:endParaRPr sz="1800">
              <a:solidFill>
                <a:schemeClr val="dk1"/>
              </a:solidFill>
              <a:latin typeface="Calibri"/>
              <a:ea typeface="Calibri"/>
              <a:cs typeface="Calibri"/>
              <a:sym typeface="Calibri"/>
            </a:endParaRPr>
          </a:p>
        </p:txBody>
      </p:sp>
      <p:sp>
        <p:nvSpPr>
          <p:cNvPr id="65" name="Google Shape;65;p4"/>
          <p:cNvSpPr/>
          <p:nvPr/>
        </p:nvSpPr>
        <p:spPr>
          <a:xfrm>
            <a:off x="7360920" y="5532120"/>
            <a:ext cx="4069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Walkthrough of the deployed app and audience questions</a:t>
            </a:r>
            <a:endParaRPr sz="1200">
              <a:solidFill>
                <a:schemeClr val="dk1"/>
              </a:solidFill>
              <a:latin typeface="Calibri"/>
              <a:ea typeface="Calibri"/>
              <a:cs typeface="Calibri"/>
              <a:sym typeface="Calibri"/>
            </a:endParaRPr>
          </a:p>
        </p:txBody>
      </p:sp>
      <p:sp>
        <p:nvSpPr>
          <p:cNvPr id="66" name="Google Shape;66;p4"/>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Agenda</a:t>
            </a:r>
            <a:endParaRPr sz="900">
              <a:solidFill>
                <a:schemeClr val="dk1"/>
              </a:solidFill>
              <a:latin typeface="Calibri"/>
              <a:ea typeface="Calibri"/>
              <a:cs typeface="Calibri"/>
              <a:sym typeface="Calibri"/>
            </a:endParaRPr>
          </a:p>
        </p:txBody>
      </p:sp>
      <p:sp>
        <p:nvSpPr>
          <p:cNvPr id="67" name="Google Shape;67;p4"/>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72" name="Shape 72"/>
        <p:cNvGrpSpPr/>
        <p:nvPr/>
      </p:nvGrpSpPr>
      <p:grpSpPr>
        <a:xfrm>
          <a:off x="0" y="0"/>
          <a:ext cx="0" cy="0"/>
          <a:chOff x="0" y="0"/>
          <a:chExt cx="0" cy="0"/>
        </a:xfrm>
      </p:grpSpPr>
      <p:sp>
        <p:nvSpPr>
          <p:cNvPr id="73" name="Google Shape;73;p5"/>
          <p:cNvSpPr/>
          <p:nvPr/>
        </p:nvSpPr>
        <p:spPr>
          <a:xfrm>
            <a:off x="731520" y="2011680"/>
            <a:ext cx="274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11000"/>
              <a:buFont typeface="Georgia"/>
              <a:buNone/>
            </a:pPr>
            <a:r>
              <a:rPr b="1" lang="en-US" sz="11000">
                <a:solidFill>
                  <a:srgbClr val="D4AF37"/>
                </a:solidFill>
                <a:latin typeface="Georgia"/>
                <a:ea typeface="Georgia"/>
                <a:cs typeface="Georgia"/>
                <a:sym typeface="Georgia"/>
              </a:rPr>
              <a:t>01</a:t>
            </a:r>
            <a:endParaRPr sz="11000">
              <a:solidFill>
                <a:schemeClr val="dk1"/>
              </a:solidFill>
              <a:latin typeface="Calibri"/>
              <a:ea typeface="Calibri"/>
              <a:cs typeface="Calibri"/>
              <a:sym typeface="Calibri"/>
            </a:endParaRPr>
          </a:p>
        </p:txBody>
      </p:sp>
      <p:sp>
        <p:nvSpPr>
          <p:cNvPr id="74" name="Google Shape;74;p5"/>
          <p:cNvSpPr/>
          <p:nvPr/>
        </p:nvSpPr>
        <p:spPr>
          <a:xfrm>
            <a:off x="731520" y="3566160"/>
            <a:ext cx="10058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lang="en-US" sz="4400">
                <a:solidFill>
                  <a:srgbClr val="FFFFFF"/>
                </a:solidFill>
                <a:latin typeface="Georgia"/>
                <a:ea typeface="Georgia"/>
                <a:cs typeface="Georgia"/>
                <a:sym typeface="Georgia"/>
              </a:rPr>
              <a:t>Project Overview</a:t>
            </a:r>
            <a:endParaRPr sz="4400">
              <a:solidFill>
                <a:schemeClr val="dk1"/>
              </a:solidFill>
              <a:latin typeface="Calibri"/>
              <a:ea typeface="Calibri"/>
              <a:cs typeface="Calibri"/>
              <a:sym typeface="Calibri"/>
            </a:endParaRPr>
          </a:p>
        </p:txBody>
      </p:sp>
      <p:sp>
        <p:nvSpPr>
          <p:cNvPr id="75" name="Google Shape;75;p5"/>
          <p:cNvSpPr/>
          <p:nvPr/>
        </p:nvSpPr>
        <p:spPr>
          <a:xfrm>
            <a:off x="731520" y="4343400"/>
            <a:ext cx="10058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i="1" lang="en-US" sz="1800">
                <a:solidFill>
                  <a:srgbClr val="CADCFC"/>
                </a:solidFill>
                <a:latin typeface="Calibri"/>
                <a:ea typeface="Calibri"/>
                <a:cs typeface="Calibri"/>
                <a:sym typeface="Calibri"/>
              </a:rPr>
              <a:t>The problem, the goal, and the scope</a:t>
            </a:r>
            <a:endParaRPr sz="1800">
              <a:solidFill>
                <a:schemeClr val="dk1"/>
              </a:solidFill>
              <a:latin typeface="Calibri"/>
              <a:ea typeface="Calibri"/>
              <a:cs typeface="Calibri"/>
              <a:sym typeface="Calibri"/>
            </a:endParaRPr>
          </a:p>
        </p:txBody>
      </p:sp>
      <p:sp>
        <p:nvSpPr>
          <p:cNvPr id="76" name="Google Shape;76;p5"/>
          <p:cNvSpPr/>
          <p:nvPr/>
        </p:nvSpPr>
        <p:spPr>
          <a:xfrm>
            <a:off x="731520" y="59436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lang="en-US" sz="1200">
                <a:solidFill>
                  <a:srgbClr val="CADCFC"/>
                </a:solidFill>
                <a:latin typeface="Calibri"/>
                <a:ea typeface="Calibri"/>
                <a:cs typeface="Calibri"/>
                <a:sym typeface="Calibri"/>
              </a:rPr>
              <a:t>PRESENTED BY SWET PATEL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pic>
        <p:nvPicPr>
          <p:cNvPr descr="preencoded.png" id="82" name="Google Shape;82;p6"/>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83" name="Google Shape;83;p6"/>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The Problem We Are Solving</a:t>
            </a:r>
            <a:endParaRPr sz="2800">
              <a:solidFill>
                <a:schemeClr val="dk1"/>
              </a:solidFill>
              <a:latin typeface="Calibri"/>
              <a:ea typeface="Calibri"/>
              <a:cs typeface="Calibri"/>
              <a:sym typeface="Calibri"/>
            </a:endParaRPr>
          </a:p>
        </p:txBody>
      </p:sp>
      <p:sp>
        <p:nvSpPr>
          <p:cNvPr id="84" name="Google Shape;84;p6"/>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Procurement is multi-stage, multi-department, and high-risk</a:t>
            </a:r>
            <a:endParaRPr sz="1300">
              <a:solidFill>
                <a:schemeClr val="dk1"/>
              </a:solidFill>
              <a:latin typeface="Calibri"/>
              <a:ea typeface="Calibri"/>
              <a:cs typeface="Calibri"/>
              <a:sym typeface="Calibri"/>
            </a:endParaRPr>
          </a:p>
        </p:txBody>
      </p:sp>
      <p:sp>
        <p:nvSpPr>
          <p:cNvPr id="85" name="Google Shape;85;p6"/>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6"/>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Swet</a:t>
            </a:r>
            <a:endParaRPr/>
          </a:p>
        </p:txBody>
      </p:sp>
      <p:sp>
        <p:nvSpPr>
          <p:cNvPr id="87" name="Google Shape;87;p6"/>
          <p:cNvSpPr/>
          <p:nvPr/>
        </p:nvSpPr>
        <p:spPr>
          <a:xfrm>
            <a:off x="457200" y="1371600"/>
            <a:ext cx="5486400" cy="4937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6"/>
          <p:cNvSpPr/>
          <p:nvPr/>
        </p:nvSpPr>
        <p:spPr>
          <a:xfrm>
            <a:off x="457200" y="1371600"/>
            <a:ext cx="91440" cy="4937760"/>
          </a:xfrm>
          <a:prstGeom prst="rect">
            <a:avLst/>
          </a:prstGeom>
          <a:solidFill>
            <a:srgbClr val="DC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9" name="Google Shape;89;p6"/>
          <p:cNvPicPr preferRelativeResize="0"/>
          <p:nvPr/>
        </p:nvPicPr>
        <p:blipFill rotWithShape="1">
          <a:blip r:embed="rId4">
            <a:alphaModFix/>
          </a:blip>
          <a:srcRect b="0" l="0" r="0" t="0"/>
          <a:stretch/>
        </p:blipFill>
        <p:spPr>
          <a:xfrm>
            <a:off x="777240" y="1554480"/>
            <a:ext cx="411480" cy="411480"/>
          </a:xfrm>
          <a:prstGeom prst="rect">
            <a:avLst/>
          </a:prstGeom>
          <a:noFill/>
          <a:ln>
            <a:noFill/>
          </a:ln>
        </p:spPr>
      </p:pic>
      <p:sp>
        <p:nvSpPr>
          <p:cNvPr id="90" name="Google Shape;90;p6"/>
          <p:cNvSpPr/>
          <p:nvPr/>
        </p:nvSpPr>
        <p:spPr>
          <a:xfrm>
            <a:off x="1280160" y="1508760"/>
            <a:ext cx="4114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000"/>
              <a:buFont typeface="Calibri"/>
              <a:buNone/>
            </a:pPr>
            <a:r>
              <a:rPr b="1" lang="en-US" sz="2000">
                <a:solidFill>
                  <a:srgbClr val="1E2761"/>
                </a:solidFill>
                <a:latin typeface="Calibri"/>
                <a:ea typeface="Calibri"/>
                <a:cs typeface="Calibri"/>
                <a:sym typeface="Calibri"/>
              </a:rPr>
              <a:t>Without a System</a:t>
            </a:r>
            <a:endParaRPr sz="2000">
              <a:solidFill>
                <a:schemeClr val="dk1"/>
              </a:solidFill>
              <a:latin typeface="Calibri"/>
              <a:ea typeface="Calibri"/>
              <a:cs typeface="Calibri"/>
              <a:sym typeface="Calibri"/>
            </a:endParaRPr>
          </a:p>
        </p:txBody>
      </p:sp>
      <p:sp>
        <p:nvSpPr>
          <p:cNvPr id="91" name="Google Shape;91;p6"/>
          <p:cNvSpPr/>
          <p:nvPr/>
        </p:nvSpPr>
        <p:spPr>
          <a:xfrm>
            <a:off x="777240" y="2194560"/>
            <a:ext cx="4983480" cy="3931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F36"/>
              </a:buClr>
              <a:buSzPts val="1400"/>
              <a:buFont typeface="Calibri"/>
              <a:buChar char="•"/>
            </a:pPr>
            <a:r>
              <a:rPr lang="en-US" sz="1400">
                <a:solidFill>
                  <a:srgbClr val="1A1F36"/>
                </a:solidFill>
                <a:latin typeface="Calibri"/>
                <a:ea typeface="Calibri"/>
                <a:cs typeface="Calibri"/>
                <a:sym typeface="Calibri"/>
              </a:rPr>
              <a:t>Manual paperwork lost between departments</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A1F36"/>
              </a:buClr>
              <a:buSzPts val="1400"/>
              <a:buFont typeface="Calibri"/>
              <a:buChar char="•"/>
            </a:pPr>
            <a:r>
              <a:rPr lang="en-US" sz="1400">
                <a:solidFill>
                  <a:srgbClr val="1A1F36"/>
                </a:solidFill>
                <a:latin typeface="Calibri"/>
                <a:ea typeface="Calibri"/>
                <a:cs typeface="Calibri"/>
                <a:sym typeface="Calibri"/>
              </a:rPr>
              <a:t>No real-time visibility into department budgets</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A1F36"/>
              </a:buClr>
              <a:buSzPts val="1400"/>
              <a:buFont typeface="Calibri"/>
              <a:buChar char="•"/>
            </a:pPr>
            <a:r>
              <a:rPr lang="en-US" sz="1400">
                <a:solidFill>
                  <a:srgbClr val="1A1F36"/>
                </a:solidFill>
                <a:latin typeface="Calibri"/>
                <a:ea typeface="Calibri"/>
                <a:cs typeface="Calibri"/>
                <a:sym typeface="Calibri"/>
              </a:rPr>
              <a:t>Approvals issued without budget verification</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A1F36"/>
              </a:buClr>
              <a:buSzPts val="1400"/>
              <a:buFont typeface="Calibri"/>
              <a:buChar char="•"/>
            </a:pPr>
            <a:r>
              <a:rPr lang="en-US" sz="1400">
                <a:solidFill>
                  <a:srgbClr val="1A1F36"/>
                </a:solidFill>
                <a:latin typeface="Calibri"/>
                <a:ea typeface="Calibri"/>
                <a:cs typeface="Calibri"/>
                <a:sym typeface="Calibri"/>
              </a:rPr>
              <a:t>Status mismatches across employees, finance, vendors</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A1F36"/>
              </a:buClr>
              <a:buSzPts val="1400"/>
              <a:buFont typeface="Calibri"/>
              <a:buChar char="•"/>
            </a:pPr>
            <a:r>
              <a:rPr lang="en-US" sz="1400">
                <a:solidFill>
                  <a:srgbClr val="1A1F36"/>
                </a:solidFill>
                <a:latin typeface="Calibri"/>
                <a:ea typeface="Calibri"/>
                <a:cs typeface="Calibri"/>
                <a:sym typeface="Calibri"/>
              </a:rPr>
              <a:t>No audit trail for compliance or accountability</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A1F36"/>
              </a:buClr>
              <a:buSzPts val="1400"/>
              <a:buFont typeface="Calibri"/>
              <a:buChar char="•"/>
            </a:pPr>
            <a:r>
              <a:rPr lang="en-US" sz="1400">
                <a:solidFill>
                  <a:srgbClr val="1A1F36"/>
                </a:solidFill>
                <a:latin typeface="Calibri"/>
                <a:ea typeface="Calibri"/>
                <a:cs typeface="Calibri"/>
                <a:sym typeface="Calibri"/>
              </a:rPr>
              <a:t>Unauthorized spending and procurement fraud risk</a:t>
            </a:r>
            <a:endParaRPr sz="1400">
              <a:solidFill>
                <a:schemeClr val="dk1"/>
              </a:solidFill>
              <a:latin typeface="Calibri"/>
              <a:ea typeface="Calibri"/>
              <a:cs typeface="Calibri"/>
              <a:sym typeface="Calibri"/>
            </a:endParaRPr>
          </a:p>
        </p:txBody>
      </p:sp>
      <p:sp>
        <p:nvSpPr>
          <p:cNvPr id="92" name="Google Shape;92;p6"/>
          <p:cNvSpPr/>
          <p:nvPr/>
        </p:nvSpPr>
        <p:spPr>
          <a:xfrm>
            <a:off x="6217920" y="1371600"/>
            <a:ext cx="5486400" cy="493776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3" name="Google Shape;93;p6"/>
          <p:cNvPicPr preferRelativeResize="0"/>
          <p:nvPr/>
        </p:nvPicPr>
        <p:blipFill rotWithShape="1">
          <a:blip r:embed="rId5">
            <a:alphaModFix/>
          </a:blip>
          <a:srcRect b="0" l="0" r="0" t="0"/>
          <a:stretch/>
        </p:blipFill>
        <p:spPr>
          <a:xfrm>
            <a:off x="6537960" y="1554480"/>
            <a:ext cx="411480" cy="411480"/>
          </a:xfrm>
          <a:prstGeom prst="rect">
            <a:avLst/>
          </a:prstGeom>
          <a:noFill/>
          <a:ln>
            <a:noFill/>
          </a:ln>
        </p:spPr>
      </p:pic>
      <p:sp>
        <p:nvSpPr>
          <p:cNvPr id="94" name="Google Shape;94;p6"/>
          <p:cNvSpPr/>
          <p:nvPr/>
        </p:nvSpPr>
        <p:spPr>
          <a:xfrm>
            <a:off x="7040880" y="1508760"/>
            <a:ext cx="4114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Our Solution</a:t>
            </a:r>
            <a:endParaRPr sz="2000">
              <a:solidFill>
                <a:schemeClr val="dk1"/>
              </a:solidFill>
              <a:latin typeface="Calibri"/>
              <a:ea typeface="Calibri"/>
              <a:cs typeface="Calibri"/>
              <a:sym typeface="Calibri"/>
            </a:endParaRPr>
          </a:p>
        </p:txBody>
      </p:sp>
      <p:sp>
        <p:nvSpPr>
          <p:cNvPr id="95" name="Google Shape;95;p6"/>
          <p:cNvSpPr/>
          <p:nvPr/>
        </p:nvSpPr>
        <p:spPr>
          <a:xfrm>
            <a:off x="6537960" y="2194560"/>
            <a:ext cx="4983480" cy="3931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FFFFF"/>
              </a:buClr>
              <a:buSzPts val="1400"/>
              <a:buFont typeface="Calibri"/>
              <a:buChar char="•"/>
            </a:pPr>
            <a:r>
              <a:rPr lang="en-US" sz="1400">
                <a:solidFill>
                  <a:srgbClr val="FFFFFF"/>
                </a:solidFill>
                <a:latin typeface="Calibri"/>
                <a:ea typeface="Calibri"/>
                <a:cs typeface="Calibri"/>
                <a:sym typeface="Calibri"/>
              </a:rPr>
              <a:t>Centralized relational database (3NF, 16 tables)</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FFFFFF"/>
              </a:buClr>
              <a:buSzPts val="1400"/>
              <a:buFont typeface="Calibri"/>
              <a:buChar char="•"/>
            </a:pPr>
            <a:r>
              <a:rPr lang="en-US" sz="1400">
                <a:solidFill>
                  <a:srgbClr val="FFFFFF"/>
                </a:solidFill>
                <a:latin typeface="Calibri"/>
                <a:ea typeface="Calibri"/>
                <a:cs typeface="Calibri"/>
                <a:sym typeface="Calibri"/>
              </a:rPr>
              <a:t>Strict role-based access for 6 user types</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FFFFFF"/>
              </a:buClr>
              <a:buSzPts val="1400"/>
              <a:buFont typeface="Calibri"/>
              <a:buChar char="•"/>
            </a:pPr>
            <a:r>
              <a:rPr lang="en-US" sz="1400">
                <a:solidFill>
                  <a:srgbClr val="FFFFFF"/>
                </a:solidFill>
                <a:latin typeface="Calibri"/>
                <a:ea typeface="Calibri"/>
                <a:cs typeface="Calibri"/>
                <a:sym typeface="Calibri"/>
              </a:rPr>
              <a:t>Server-side budget enforcement on every approval</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FFFFFF"/>
              </a:buClr>
              <a:buSzPts val="1400"/>
              <a:buFont typeface="Calibri"/>
              <a:buChar char="•"/>
            </a:pPr>
            <a:r>
              <a:rPr lang="en-US" sz="1400">
                <a:solidFill>
                  <a:srgbClr val="FFFFFF"/>
                </a:solidFill>
                <a:latin typeface="Calibri"/>
                <a:ea typeface="Calibri"/>
                <a:cs typeface="Calibri"/>
                <a:sym typeface="Calibri"/>
              </a:rPr>
              <a:t>Cascading status state machine across the workflow</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FFFFFF"/>
              </a:buClr>
              <a:buSzPts val="1400"/>
              <a:buFont typeface="Calibri"/>
              <a:buChar char="•"/>
            </a:pPr>
            <a:r>
              <a:rPr lang="en-US" sz="1400">
                <a:solidFill>
                  <a:srgbClr val="FFFFFF"/>
                </a:solidFill>
                <a:latin typeface="Calibri"/>
                <a:ea typeface="Calibri"/>
                <a:cs typeface="Calibri"/>
                <a:sym typeface="Calibri"/>
              </a:rPr>
              <a:t>Immutable audit log with IP and timestamp</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FFFFFF"/>
              </a:buClr>
              <a:buSzPts val="1400"/>
              <a:buFont typeface="Calibri"/>
              <a:buChar char="•"/>
            </a:pPr>
            <a:r>
              <a:rPr lang="en-US" sz="1400">
                <a:solidFill>
                  <a:srgbClr val="FFFFFF"/>
                </a:solidFill>
                <a:latin typeface="Calibri"/>
                <a:ea typeface="Calibri"/>
                <a:cs typeface="Calibri"/>
                <a:sym typeface="Calibri"/>
              </a:rPr>
              <a:t>Live KPIs from SQL aggregations on the dashboard</a:t>
            </a:r>
            <a:endParaRPr sz="1400">
              <a:solidFill>
                <a:schemeClr val="dk1"/>
              </a:solidFill>
              <a:latin typeface="Calibri"/>
              <a:ea typeface="Calibri"/>
              <a:cs typeface="Calibri"/>
              <a:sym typeface="Calibri"/>
            </a:endParaRPr>
          </a:p>
        </p:txBody>
      </p:sp>
      <p:sp>
        <p:nvSpPr>
          <p:cNvPr id="96" name="Google Shape;96;p6"/>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01  Project Overview</a:t>
            </a:r>
            <a:endParaRPr sz="900">
              <a:solidFill>
                <a:schemeClr val="dk1"/>
              </a:solidFill>
              <a:latin typeface="Calibri"/>
              <a:ea typeface="Calibri"/>
              <a:cs typeface="Calibri"/>
              <a:sym typeface="Calibri"/>
            </a:endParaRPr>
          </a:p>
        </p:txBody>
      </p:sp>
      <p:sp>
        <p:nvSpPr>
          <p:cNvPr id="97" name="Google Shape;97;p6"/>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4</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pic>
        <p:nvPicPr>
          <p:cNvPr descr="preencoded.png" id="103" name="Google Shape;103;p7"/>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104" name="Google Shape;104;p7"/>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The Procurement Lifecycle</a:t>
            </a:r>
            <a:endParaRPr sz="2800">
              <a:solidFill>
                <a:schemeClr val="dk1"/>
              </a:solidFill>
              <a:latin typeface="Calibri"/>
              <a:ea typeface="Calibri"/>
              <a:cs typeface="Calibri"/>
              <a:sym typeface="Calibri"/>
            </a:endParaRPr>
          </a:p>
        </p:txBody>
      </p:sp>
      <p:sp>
        <p:nvSpPr>
          <p:cNvPr id="105" name="Google Shape;105;p7"/>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Six stages, six actors, one database of truth</a:t>
            </a:r>
            <a:endParaRPr sz="1300">
              <a:solidFill>
                <a:schemeClr val="dk1"/>
              </a:solidFill>
              <a:latin typeface="Calibri"/>
              <a:ea typeface="Calibri"/>
              <a:cs typeface="Calibri"/>
              <a:sym typeface="Calibri"/>
            </a:endParaRPr>
          </a:p>
        </p:txBody>
      </p:sp>
      <p:sp>
        <p:nvSpPr>
          <p:cNvPr id="106" name="Google Shape;106;p7"/>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7"/>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Swet</a:t>
            </a:r>
            <a:endParaRPr sz="1100">
              <a:solidFill>
                <a:schemeClr val="dk1"/>
              </a:solidFill>
              <a:latin typeface="Calibri"/>
              <a:ea typeface="Calibri"/>
              <a:cs typeface="Calibri"/>
              <a:sym typeface="Calibri"/>
            </a:endParaRPr>
          </a:p>
        </p:txBody>
      </p:sp>
      <p:sp>
        <p:nvSpPr>
          <p:cNvPr id="108" name="Google Shape;108;p7"/>
          <p:cNvSpPr/>
          <p:nvPr/>
        </p:nvSpPr>
        <p:spPr>
          <a:xfrm>
            <a:off x="594360" y="1691640"/>
            <a:ext cx="1691640" cy="237744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7"/>
          <p:cNvSpPr/>
          <p:nvPr/>
        </p:nvSpPr>
        <p:spPr>
          <a:xfrm>
            <a:off x="594360" y="1691640"/>
            <a:ext cx="169164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7"/>
          <p:cNvSpPr/>
          <p:nvPr/>
        </p:nvSpPr>
        <p:spPr>
          <a:xfrm>
            <a:off x="594360" y="169164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1" lang="en-US" sz="1100">
                <a:solidFill>
                  <a:srgbClr val="CADCFC"/>
                </a:solidFill>
                <a:latin typeface="Calibri"/>
                <a:ea typeface="Calibri"/>
                <a:cs typeface="Calibri"/>
                <a:sym typeface="Calibri"/>
              </a:rPr>
              <a:t>STAGE 01</a:t>
            </a:r>
            <a:endParaRPr sz="1100">
              <a:solidFill>
                <a:schemeClr val="dk1"/>
              </a:solidFill>
              <a:latin typeface="Calibri"/>
              <a:ea typeface="Calibri"/>
              <a:cs typeface="Calibri"/>
              <a:sym typeface="Calibri"/>
            </a:endParaRPr>
          </a:p>
        </p:txBody>
      </p:sp>
      <p:pic>
        <p:nvPicPr>
          <p:cNvPr descr="preencoded.png" id="111" name="Google Shape;111;p7"/>
          <p:cNvPicPr preferRelativeResize="0"/>
          <p:nvPr/>
        </p:nvPicPr>
        <p:blipFill rotWithShape="1">
          <a:blip r:embed="rId4">
            <a:alphaModFix/>
          </a:blip>
          <a:srcRect b="0" l="0" r="0" t="0"/>
          <a:stretch/>
        </p:blipFill>
        <p:spPr>
          <a:xfrm>
            <a:off x="1120140" y="2331720"/>
            <a:ext cx="640080" cy="640080"/>
          </a:xfrm>
          <a:prstGeom prst="rect">
            <a:avLst/>
          </a:prstGeom>
          <a:noFill/>
          <a:ln>
            <a:noFill/>
          </a:ln>
        </p:spPr>
      </p:pic>
      <p:sp>
        <p:nvSpPr>
          <p:cNvPr id="112" name="Google Shape;112;p7"/>
          <p:cNvSpPr/>
          <p:nvPr/>
        </p:nvSpPr>
        <p:spPr>
          <a:xfrm>
            <a:off x="594360" y="301752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lang="en-US" sz="1600">
                <a:solidFill>
                  <a:srgbClr val="1E2761"/>
                </a:solidFill>
                <a:latin typeface="Calibri"/>
                <a:ea typeface="Calibri"/>
                <a:cs typeface="Calibri"/>
                <a:sym typeface="Calibri"/>
              </a:rPr>
              <a:t>Request</a:t>
            </a:r>
            <a:endParaRPr sz="1600">
              <a:solidFill>
                <a:schemeClr val="dk1"/>
              </a:solidFill>
              <a:latin typeface="Calibri"/>
              <a:ea typeface="Calibri"/>
              <a:cs typeface="Calibri"/>
              <a:sym typeface="Calibri"/>
            </a:endParaRPr>
          </a:p>
        </p:txBody>
      </p:sp>
      <p:sp>
        <p:nvSpPr>
          <p:cNvPr id="113" name="Google Shape;113;p7"/>
          <p:cNvSpPr/>
          <p:nvPr/>
        </p:nvSpPr>
        <p:spPr>
          <a:xfrm>
            <a:off x="594360" y="338328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Employee</a:t>
            </a:r>
            <a:endParaRPr sz="1100">
              <a:solidFill>
                <a:schemeClr val="dk1"/>
              </a:solidFill>
              <a:latin typeface="Calibri"/>
              <a:ea typeface="Calibri"/>
              <a:cs typeface="Calibri"/>
              <a:sym typeface="Calibri"/>
            </a:endParaRPr>
          </a:p>
        </p:txBody>
      </p:sp>
      <p:sp>
        <p:nvSpPr>
          <p:cNvPr id="114" name="Google Shape;114;p7"/>
          <p:cNvSpPr/>
          <p:nvPr/>
        </p:nvSpPr>
        <p:spPr>
          <a:xfrm>
            <a:off x="685800" y="3657600"/>
            <a:ext cx="15087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submits item request</a:t>
            </a:r>
            <a:endParaRPr sz="1000">
              <a:solidFill>
                <a:schemeClr val="dk1"/>
              </a:solidFill>
              <a:latin typeface="Calibri"/>
              <a:ea typeface="Calibri"/>
              <a:cs typeface="Calibri"/>
              <a:sym typeface="Calibri"/>
            </a:endParaRPr>
          </a:p>
        </p:txBody>
      </p:sp>
      <p:pic>
        <p:nvPicPr>
          <p:cNvPr descr="preencoded.png" id="115" name="Google Shape;115;p7"/>
          <p:cNvPicPr preferRelativeResize="0"/>
          <p:nvPr/>
        </p:nvPicPr>
        <p:blipFill rotWithShape="1">
          <a:blip r:embed="rId5">
            <a:alphaModFix/>
          </a:blip>
          <a:srcRect b="0" l="0" r="0" t="0"/>
          <a:stretch/>
        </p:blipFill>
        <p:spPr>
          <a:xfrm>
            <a:off x="2295144" y="2807208"/>
            <a:ext cx="146304" cy="146304"/>
          </a:xfrm>
          <a:prstGeom prst="rect">
            <a:avLst/>
          </a:prstGeom>
          <a:noFill/>
          <a:ln>
            <a:noFill/>
          </a:ln>
        </p:spPr>
      </p:pic>
      <p:sp>
        <p:nvSpPr>
          <p:cNvPr id="116" name="Google Shape;116;p7"/>
          <p:cNvSpPr/>
          <p:nvPr/>
        </p:nvSpPr>
        <p:spPr>
          <a:xfrm>
            <a:off x="2450592" y="1691640"/>
            <a:ext cx="1691640" cy="237744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7"/>
          <p:cNvSpPr/>
          <p:nvPr/>
        </p:nvSpPr>
        <p:spPr>
          <a:xfrm>
            <a:off x="2450592" y="1691640"/>
            <a:ext cx="169164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7"/>
          <p:cNvSpPr/>
          <p:nvPr/>
        </p:nvSpPr>
        <p:spPr>
          <a:xfrm>
            <a:off x="2450592" y="169164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1" lang="en-US" sz="1100">
                <a:solidFill>
                  <a:srgbClr val="CADCFC"/>
                </a:solidFill>
                <a:latin typeface="Calibri"/>
                <a:ea typeface="Calibri"/>
                <a:cs typeface="Calibri"/>
                <a:sym typeface="Calibri"/>
              </a:rPr>
              <a:t>STAGE 02</a:t>
            </a:r>
            <a:endParaRPr sz="1100">
              <a:solidFill>
                <a:schemeClr val="dk1"/>
              </a:solidFill>
              <a:latin typeface="Calibri"/>
              <a:ea typeface="Calibri"/>
              <a:cs typeface="Calibri"/>
              <a:sym typeface="Calibri"/>
            </a:endParaRPr>
          </a:p>
        </p:txBody>
      </p:sp>
      <p:pic>
        <p:nvPicPr>
          <p:cNvPr descr="preencoded.png" id="119" name="Google Shape;119;p7"/>
          <p:cNvPicPr preferRelativeResize="0"/>
          <p:nvPr/>
        </p:nvPicPr>
        <p:blipFill rotWithShape="1">
          <a:blip r:embed="rId6">
            <a:alphaModFix/>
          </a:blip>
          <a:srcRect b="0" l="0" r="0" t="0"/>
          <a:stretch/>
        </p:blipFill>
        <p:spPr>
          <a:xfrm>
            <a:off x="2976372" y="2331720"/>
            <a:ext cx="640080" cy="640080"/>
          </a:xfrm>
          <a:prstGeom prst="rect">
            <a:avLst/>
          </a:prstGeom>
          <a:noFill/>
          <a:ln>
            <a:noFill/>
          </a:ln>
        </p:spPr>
      </p:pic>
      <p:sp>
        <p:nvSpPr>
          <p:cNvPr id="120" name="Google Shape;120;p7"/>
          <p:cNvSpPr/>
          <p:nvPr/>
        </p:nvSpPr>
        <p:spPr>
          <a:xfrm>
            <a:off x="2450592" y="301752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lang="en-US" sz="1600">
                <a:solidFill>
                  <a:srgbClr val="1E2761"/>
                </a:solidFill>
                <a:latin typeface="Calibri"/>
                <a:ea typeface="Calibri"/>
                <a:cs typeface="Calibri"/>
                <a:sym typeface="Calibri"/>
              </a:rPr>
              <a:t>Approve</a:t>
            </a:r>
            <a:endParaRPr sz="1600">
              <a:solidFill>
                <a:schemeClr val="dk1"/>
              </a:solidFill>
              <a:latin typeface="Calibri"/>
              <a:ea typeface="Calibri"/>
              <a:cs typeface="Calibri"/>
              <a:sym typeface="Calibri"/>
            </a:endParaRPr>
          </a:p>
        </p:txBody>
      </p:sp>
      <p:sp>
        <p:nvSpPr>
          <p:cNvPr id="121" name="Google Shape;121;p7"/>
          <p:cNvSpPr/>
          <p:nvPr/>
        </p:nvSpPr>
        <p:spPr>
          <a:xfrm>
            <a:off x="2450592" y="338328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Manager</a:t>
            </a:r>
            <a:endParaRPr sz="1100">
              <a:solidFill>
                <a:schemeClr val="dk1"/>
              </a:solidFill>
              <a:latin typeface="Calibri"/>
              <a:ea typeface="Calibri"/>
              <a:cs typeface="Calibri"/>
              <a:sym typeface="Calibri"/>
            </a:endParaRPr>
          </a:p>
        </p:txBody>
      </p:sp>
      <p:sp>
        <p:nvSpPr>
          <p:cNvPr id="122" name="Google Shape;122;p7"/>
          <p:cNvSpPr/>
          <p:nvPr/>
        </p:nvSpPr>
        <p:spPr>
          <a:xfrm>
            <a:off x="2542032" y="3657600"/>
            <a:ext cx="15087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validates budget</a:t>
            </a:r>
            <a:endParaRPr sz="1000">
              <a:solidFill>
                <a:schemeClr val="dk1"/>
              </a:solidFill>
              <a:latin typeface="Calibri"/>
              <a:ea typeface="Calibri"/>
              <a:cs typeface="Calibri"/>
              <a:sym typeface="Calibri"/>
            </a:endParaRPr>
          </a:p>
        </p:txBody>
      </p:sp>
      <p:pic>
        <p:nvPicPr>
          <p:cNvPr descr="preencoded.png" id="123" name="Google Shape;123;p7"/>
          <p:cNvPicPr preferRelativeResize="0"/>
          <p:nvPr/>
        </p:nvPicPr>
        <p:blipFill rotWithShape="1">
          <a:blip r:embed="rId5">
            <a:alphaModFix/>
          </a:blip>
          <a:srcRect b="0" l="0" r="0" t="0"/>
          <a:stretch/>
        </p:blipFill>
        <p:spPr>
          <a:xfrm>
            <a:off x="4151376" y="2807208"/>
            <a:ext cx="146304" cy="146304"/>
          </a:xfrm>
          <a:prstGeom prst="rect">
            <a:avLst/>
          </a:prstGeom>
          <a:noFill/>
          <a:ln>
            <a:noFill/>
          </a:ln>
        </p:spPr>
      </p:pic>
      <p:sp>
        <p:nvSpPr>
          <p:cNvPr id="124" name="Google Shape;124;p7"/>
          <p:cNvSpPr/>
          <p:nvPr/>
        </p:nvSpPr>
        <p:spPr>
          <a:xfrm>
            <a:off x="4306824" y="1691640"/>
            <a:ext cx="1691640" cy="237744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7"/>
          <p:cNvSpPr/>
          <p:nvPr/>
        </p:nvSpPr>
        <p:spPr>
          <a:xfrm>
            <a:off x="4306824" y="1691640"/>
            <a:ext cx="169164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7"/>
          <p:cNvSpPr/>
          <p:nvPr/>
        </p:nvSpPr>
        <p:spPr>
          <a:xfrm>
            <a:off x="4306824" y="169164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1" lang="en-US" sz="1100">
                <a:solidFill>
                  <a:srgbClr val="CADCFC"/>
                </a:solidFill>
                <a:latin typeface="Calibri"/>
                <a:ea typeface="Calibri"/>
                <a:cs typeface="Calibri"/>
                <a:sym typeface="Calibri"/>
              </a:rPr>
              <a:t>STAGE 03</a:t>
            </a:r>
            <a:endParaRPr sz="1100">
              <a:solidFill>
                <a:schemeClr val="dk1"/>
              </a:solidFill>
              <a:latin typeface="Calibri"/>
              <a:ea typeface="Calibri"/>
              <a:cs typeface="Calibri"/>
              <a:sym typeface="Calibri"/>
            </a:endParaRPr>
          </a:p>
        </p:txBody>
      </p:sp>
      <p:pic>
        <p:nvPicPr>
          <p:cNvPr descr="preencoded.png" id="127" name="Google Shape;127;p7"/>
          <p:cNvPicPr preferRelativeResize="0"/>
          <p:nvPr/>
        </p:nvPicPr>
        <p:blipFill rotWithShape="1">
          <a:blip r:embed="rId7">
            <a:alphaModFix/>
          </a:blip>
          <a:srcRect b="0" l="0" r="0" t="0"/>
          <a:stretch/>
        </p:blipFill>
        <p:spPr>
          <a:xfrm>
            <a:off x="4832604" y="2331720"/>
            <a:ext cx="640080" cy="640080"/>
          </a:xfrm>
          <a:prstGeom prst="rect">
            <a:avLst/>
          </a:prstGeom>
          <a:noFill/>
          <a:ln>
            <a:noFill/>
          </a:ln>
        </p:spPr>
      </p:pic>
      <p:sp>
        <p:nvSpPr>
          <p:cNvPr id="128" name="Google Shape;128;p7"/>
          <p:cNvSpPr/>
          <p:nvPr/>
        </p:nvSpPr>
        <p:spPr>
          <a:xfrm>
            <a:off x="4306824" y="301752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lang="en-US" sz="1600">
                <a:solidFill>
                  <a:srgbClr val="1E2761"/>
                </a:solidFill>
                <a:latin typeface="Calibri"/>
                <a:ea typeface="Calibri"/>
                <a:cs typeface="Calibri"/>
                <a:sym typeface="Calibri"/>
              </a:rPr>
              <a:t>Order</a:t>
            </a:r>
            <a:endParaRPr sz="1600">
              <a:solidFill>
                <a:schemeClr val="dk1"/>
              </a:solidFill>
              <a:latin typeface="Calibri"/>
              <a:ea typeface="Calibri"/>
              <a:cs typeface="Calibri"/>
              <a:sym typeface="Calibri"/>
            </a:endParaRPr>
          </a:p>
        </p:txBody>
      </p:sp>
      <p:sp>
        <p:nvSpPr>
          <p:cNvPr id="129" name="Google Shape;129;p7"/>
          <p:cNvSpPr/>
          <p:nvPr/>
        </p:nvSpPr>
        <p:spPr>
          <a:xfrm>
            <a:off x="4306824" y="338328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Procurement</a:t>
            </a:r>
            <a:endParaRPr sz="1100">
              <a:solidFill>
                <a:schemeClr val="dk1"/>
              </a:solidFill>
              <a:latin typeface="Calibri"/>
              <a:ea typeface="Calibri"/>
              <a:cs typeface="Calibri"/>
              <a:sym typeface="Calibri"/>
            </a:endParaRPr>
          </a:p>
        </p:txBody>
      </p:sp>
      <p:sp>
        <p:nvSpPr>
          <p:cNvPr id="130" name="Google Shape;130;p7"/>
          <p:cNvSpPr/>
          <p:nvPr/>
        </p:nvSpPr>
        <p:spPr>
          <a:xfrm>
            <a:off x="4398264" y="3657600"/>
            <a:ext cx="15087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issues PO to vendor</a:t>
            </a:r>
            <a:endParaRPr sz="1000">
              <a:solidFill>
                <a:schemeClr val="dk1"/>
              </a:solidFill>
              <a:latin typeface="Calibri"/>
              <a:ea typeface="Calibri"/>
              <a:cs typeface="Calibri"/>
              <a:sym typeface="Calibri"/>
            </a:endParaRPr>
          </a:p>
        </p:txBody>
      </p:sp>
      <p:pic>
        <p:nvPicPr>
          <p:cNvPr descr="preencoded.png" id="131" name="Google Shape;131;p7"/>
          <p:cNvPicPr preferRelativeResize="0"/>
          <p:nvPr/>
        </p:nvPicPr>
        <p:blipFill rotWithShape="1">
          <a:blip r:embed="rId5">
            <a:alphaModFix/>
          </a:blip>
          <a:srcRect b="0" l="0" r="0" t="0"/>
          <a:stretch/>
        </p:blipFill>
        <p:spPr>
          <a:xfrm>
            <a:off x="6007608" y="2807208"/>
            <a:ext cx="146304" cy="146304"/>
          </a:xfrm>
          <a:prstGeom prst="rect">
            <a:avLst/>
          </a:prstGeom>
          <a:noFill/>
          <a:ln>
            <a:noFill/>
          </a:ln>
        </p:spPr>
      </p:pic>
      <p:sp>
        <p:nvSpPr>
          <p:cNvPr id="132" name="Google Shape;132;p7"/>
          <p:cNvSpPr/>
          <p:nvPr/>
        </p:nvSpPr>
        <p:spPr>
          <a:xfrm>
            <a:off x="6163056" y="1691640"/>
            <a:ext cx="1691640" cy="237744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7"/>
          <p:cNvSpPr/>
          <p:nvPr/>
        </p:nvSpPr>
        <p:spPr>
          <a:xfrm>
            <a:off x="6163056" y="1691640"/>
            <a:ext cx="169164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7"/>
          <p:cNvSpPr/>
          <p:nvPr/>
        </p:nvSpPr>
        <p:spPr>
          <a:xfrm>
            <a:off x="6163056" y="169164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1" lang="en-US" sz="1100">
                <a:solidFill>
                  <a:srgbClr val="CADCFC"/>
                </a:solidFill>
                <a:latin typeface="Calibri"/>
                <a:ea typeface="Calibri"/>
                <a:cs typeface="Calibri"/>
                <a:sym typeface="Calibri"/>
              </a:rPr>
              <a:t>STAGE 04</a:t>
            </a:r>
            <a:endParaRPr sz="1100">
              <a:solidFill>
                <a:schemeClr val="dk1"/>
              </a:solidFill>
              <a:latin typeface="Calibri"/>
              <a:ea typeface="Calibri"/>
              <a:cs typeface="Calibri"/>
              <a:sym typeface="Calibri"/>
            </a:endParaRPr>
          </a:p>
        </p:txBody>
      </p:sp>
      <p:pic>
        <p:nvPicPr>
          <p:cNvPr descr="preencoded.png" id="135" name="Google Shape;135;p7"/>
          <p:cNvPicPr preferRelativeResize="0"/>
          <p:nvPr/>
        </p:nvPicPr>
        <p:blipFill rotWithShape="1">
          <a:blip r:embed="rId8">
            <a:alphaModFix/>
          </a:blip>
          <a:srcRect b="0" l="0" r="0" t="0"/>
          <a:stretch/>
        </p:blipFill>
        <p:spPr>
          <a:xfrm>
            <a:off x="6688836" y="2331720"/>
            <a:ext cx="640080" cy="640080"/>
          </a:xfrm>
          <a:prstGeom prst="rect">
            <a:avLst/>
          </a:prstGeom>
          <a:noFill/>
          <a:ln>
            <a:noFill/>
          </a:ln>
        </p:spPr>
      </p:pic>
      <p:sp>
        <p:nvSpPr>
          <p:cNvPr id="136" name="Google Shape;136;p7"/>
          <p:cNvSpPr/>
          <p:nvPr/>
        </p:nvSpPr>
        <p:spPr>
          <a:xfrm>
            <a:off x="6163056" y="301752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lang="en-US" sz="1600">
                <a:solidFill>
                  <a:srgbClr val="1E2761"/>
                </a:solidFill>
                <a:latin typeface="Calibri"/>
                <a:ea typeface="Calibri"/>
                <a:cs typeface="Calibri"/>
                <a:sym typeface="Calibri"/>
              </a:rPr>
              <a:t>Ship</a:t>
            </a:r>
            <a:endParaRPr sz="1600">
              <a:solidFill>
                <a:schemeClr val="dk1"/>
              </a:solidFill>
              <a:latin typeface="Calibri"/>
              <a:ea typeface="Calibri"/>
              <a:cs typeface="Calibri"/>
              <a:sym typeface="Calibri"/>
            </a:endParaRPr>
          </a:p>
        </p:txBody>
      </p:sp>
      <p:sp>
        <p:nvSpPr>
          <p:cNvPr id="137" name="Google Shape;137;p7"/>
          <p:cNvSpPr/>
          <p:nvPr/>
        </p:nvSpPr>
        <p:spPr>
          <a:xfrm>
            <a:off x="6163056" y="338328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Vendor</a:t>
            </a:r>
            <a:endParaRPr sz="1100">
              <a:solidFill>
                <a:schemeClr val="dk1"/>
              </a:solidFill>
              <a:latin typeface="Calibri"/>
              <a:ea typeface="Calibri"/>
              <a:cs typeface="Calibri"/>
              <a:sym typeface="Calibri"/>
            </a:endParaRPr>
          </a:p>
        </p:txBody>
      </p:sp>
      <p:sp>
        <p:nvSpPr>
          <p:cNvPr id="138" name="Google Shape;138;p7"/>
          <p:cNvSpPr/>
          <p:nvPr/>
        </p:nvSpPr>
        <p:spPr>
          <a:xfrm>
            <a:off x="6254496" y="3657600"/>
            <a:ext cx="15087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delivers goods</a:t>
            </a:r>
            <a:endParaRPr sz="1000">
              <a:solidFill>
                <a:schemeClr val="dk1"/>
              </a:solidFill>
              <a:latin typeface="Calibri"/>
              <a:ea typeface="Calibri"/>
              <a:cs typeface="Calibri"/>
              <a:sym typeface="Calibri"/>
            </a:endParaRPr>
          </a:p>
        </p:txBody>
      </p:sp>
      <p:pic>
        <p:nvPicPr>
          <p:cNvPr descr="preencoded.png" id="139" name="Google Shape;139;p7"/>
          <p:cNvPicPr preferRelativeResize="0"/>
          <p:nvPr/>
        </p:nvPicPr>
        <p:blipFill rotWithShape="1">
          <a:blip r:embed="rId5">
            <a:alphaModFix/>
          </a:blip>
          <a:srcRect b="0" l="0" r="0" t="0"/>
          <a:stretch/>
        </p:blipFill>
        <p:spPr>
          <a:xfrm>
            <a:off x="7863840" y="2807208"/>
            <a:ext cx="146304" cy="146304"/>
          </a:xfrm>
          <a:prstGeom prst="rect">
            <a:avLst/>
          </a:prstGeom>
          <a:noFill/>
          <a:ln>
            <a:noFill/>
          </a:ln>
        </p:spPr>
      </p:pic>
      <p:sp>
        <p:nvSpPr>
          <p:cNvPr id="140" name="Google Shape;140;p7"/>
          <p:cNvSpPr/>
          <p:nvPr/>
        </p:nvSpPr>
        <p:spPr>
          <a:xfrm>
            <a:off x="8019288" y="1691640"/>
            <a:ext cx="1691640" cy="237744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7"/>
          <p:cNvSpPr/>
          <p:nvPr/>
        </p:nvSpPr>
        <p:spPr>
          <a:xfrm>
            <a:off x="8019288" y="1691640"/>
            <a:ext cx="169164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7"/>
          <p:cNvSpPr/>
          <p:nvPr/>
        </p:nvSpPr>
        <p:spPr>
          <a:xfrm>
            <a:off x="8019288" y="169164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1" lang="en-US" sz="1100">
                <a:solidFill>
                  <a:srgbClr val="CADCFC"/>
                </a:solidFill>
                <a:latin typeface="Calibri"/>
                <a:ea typeface="Calibri"/>
                <a:cs typeface="Calibri"/>
                <a:sym typeface="Calibri"/>
              </a:rPr>
              <a:t>STAGE 05</a:t>
            </a:r>
            <a:endParaRPr sz="1100">
              <a:solidFill>
                <a:schemeClr val="dk1"/>
              </a:solidFill>
              <a:latin typeface="Calibri"/>
              <a:ea typeface="Calibri"/>
              <a:cs typeface="Calibri"/>
              <a:sym typeface="Calibri"/>
            </a:endParaRPr>
          </a:p>
        </p:txBody>
      </p:sp>
      <p:pic>
        <p:nvPicPr>
          <p:cNvPr descr="preencoded.png" id="143" name="Google Shape;143;p7"/>
          <p:cNvPicPr preferRelativeResize="0"/>
          <p:nvPr/>
        </p:nvPicPr>
        <p:blipFill rotWithShape="1">
          <a:blip r:embed="rId9">
            <a:alphaModFix/>
          </a:blip>
          <a:srcRect b="0" l="0" r="0" t="0"/>
          <a:stretch/>
        </p:blipFill>
        <p:spPr>
          <a:xfrm>
            <a:off x="8545068" y="2331720"/>
            <a:ext cx="640080" cy="640080"/>
          </a:xfrm>
          <a:prstGeom prst="rect">
            <a:avLst/>
          </a:prstGeom>
          <a:noFill/>
          <a:ln>
            <a:noFill/>
          </a:ln>
        </p:spPr>
      </p:pic>
      <p:sp>
        <p:nvSpPr>
          <p:cNvPr id="144" name="Google Shape;144;p7"/>
          <p:cNvSpPr/>
          <p:nvPr/>
        </p:nvSpPr>
        <p:spPr>
          <a:xfrm>
            <a:off x="8019288" y="301752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lang="en-US" sz="1600">
                <a:solidFill>
                  <a:srgbClr val="1E2761"/>
                </a:solidFill>
                <a:latin typeface="Calibri"/>
                <a:ea typeface="Calibri"/>
                <a:cs typeface="Calibri"/>
                <a:sym typeface="Calibri"/>
              </a:rPr>
              <a:t>Receive</a:t>
            </a:r>
            <a:endParaRPr sz="1600">
              <a:solidFill>
                <a:schemeClr val="dk1"/>
              </a:solidFill>
              <a:latin typeface="Calibri"/>
              <a:ea typeface="Calibri"/>
              <a:cs typeface="Calibri"/>
              <a:sym typeface="Calibri"/>
            </a:endParaRPr>
          </a:p>
        </p:txBody>
      </p:sp>
      <p:sp>
        <p:nvSpPr>
          <p:cNvPr id="145" name="Google Shape;145;p7"/>
          <p:cNvSpPr/>
          <p:nvPr/>
        </p:nvSpPr>
        <p:spPr>
          <a:xfrm>
            <a:off x="8019288" y="338328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Warehouse</a:t>
            </a:r>
            <a:endParaRPr sz="1100">
              <a:solidFill>
                <a:schemeClr val="dk1"/>
              </a:solidFill>
              <a:latin typeface="Calibri"/>
              <a:ea typeface="Calibri"/>
              <a:cs typeface="Calibri"/>
              <a:sym typeface="Calibri"/>
            </a:endParaRPr>
          </a:p>
        </p:txBody>
      </p:sp>
      <p:sp>
        <p:nvSpPr>
          <p:cNvPr id="146" name="Google Shape;146;p7"/>
          <p:cNvSpPr/>
          <p:nvPr/>
        </p:nvSpPr>
        <p:spPr>
          <a:xfrm>
            <a:off x="8110728" y="3657600"/>
            <a:ext cx="15087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logs goods receipt</a:t>
            </a:r>
            <a:endParaRPr sz="1000">
              <a:solidFill>
                <a:schemeClr val="dk1"/>
              </a:solidFill>
              <a:latin typeface="Calibri"/>
              <a:ea typeface="Calibri"/>
              <a:cs typeface="Calibri"/>
              <a:sym typeface="Calibri"/>
            </a:endParaRPr>
          </a:p>
        </p:txBody>
      </p:sp>
      <p:pic>
        <p:nvPicPr>
          <p:cNvPr descr="preencoded.png" id="147" name="Google Shape;147;p7"/>
          <p:cNvPicPr preferRelativeResize="0"/>
          <p:nvPr/>
        </p:nvPicPr>
        <p:blipFill rotWithShape="1">
          <a:blip r:embed="rId5">
            <a:alphaModFix/>
          </a:blip>
          <a:srcRect b="0" l="0" r="0" t="0"/>
          <a:stretch/>
        </p:blipFill>
        <p:spPr>
          <a:xfrm>
            <a:off x="9720072" y="2807208"/>
            <a:ext cx="146304" cy="146304"/>
          </a:xfrm>
          <a:prstGeom prst="rect">
            <a:avLst/>
          </a:prstGeom>
          <a:noFill/>
          <a:ln>
            <a:noFill/>
          </a:ln>
        </p:spPr>
      </p:pic>
      <p:sp>
        <p:nvSpPr>
          <p:cNvPr id="148" name="Google Shape;148;p7"/>
          <p:cNvSpPr/>
          <p:nvPr/>
        </p:nvSpPr>
        <p:spPr>
          <a:xfrm>
            <a:off x="9875520" y="1691640"/>
            <a:ext cx="1691640" cy="237744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7"/>
          <p:cNvSpPr/>
          <p:nvPr/>
        </p:nvSpPr>
        <p:spPr>
          <a:xfrm>
            <a:off x="9875520" y="1691640"/>
            <a:ext cx="169164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7"/>
          <p:cNvSpPr/>
          <p:nvPr/>
        </p:nvSpPr>
        <p:spPr>
          <a:xfrm>
            <a:off x="9875520" y="1691640"/>
            <a:ext cx="1691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1" lang="en-US" sz="1100">
                <a:solidFill>
                  <a:srgbClr val="CADCFC"/>
                </a:solidFill>
                <a:latin typeface="Calibri"/>
                <a:ea typeface="Calibri"/>
                <a:cs typeface="Calibri"/>
                <a:sym typeface="Calibri"/>
              </a:rPr>
              <a:t>STAGE 06</a:t>
            </a:r>
            <a:endParaRPr sz="1100">
              <a:solidFill>
                <a:schemeClr val="dk1"/>
              </a:solidFill>
              <a:latin typeface="Calibri"/>
              <a:ea typeface="Calibri"/>
              <a:cs typeface="Calibri"/>
              <a:sym typeface="Calibri"/>
            </a:endParaRPr>
          </a:p>
        </p:txBody>
      </p:sp>
      <p:pic>
        <p:nvPicPr>
          <p:cNvPr descr="preencoded.png" id="151" name="Google Shape;151;p7"/>
          <p:cNvPicPr preferRelativeResize="0"/>
          <p:nvPr/>
        </p:nvPicPr>
        <p:blipFill rotWithShape="1">
          <a:blip r:embed="rId10">
            <a:alphaModFix/>
          </a:blip>
          <a:srcRect b="0" l="0" r="0" t="0"/>
          <a:stretch/>
        </p:blipFill>
        <p:spPr>
          <a:xfrm>
            <a:off x="10401300" y="2331720"/>
            <a:ext cx="640080" cy="640080"/>
          </a:xfrm>
          <a:prstGeom prst="rect">
            <a:avLst/>
          </a:prstGeom>
          <a:noFill/>
          <a:ln>
            <a:noFill/>
          </a:ln>
        </p:spPr>
      </p:pic>
      <p:sp>
        <p:nvSpPr>
          <p:cNvPr id="152" name="Google Shape;152;p7"/>
          <p:cNvSpPr/>
          <p:nvPr/>
        </p:nvSpPr>
        <p:spPr>
          <a:xfrm>
            <a:off x="9875520" y="301752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lang="en-US" sz="1600">
                <a:solidFill>
                  <a:srgbClr val="1E2761"/>
                </a:solidFill>
                <a:latin typeface="Calibri"/>
                <a:ea typeface="Calibri"/>
                <a:cs typeface="Calibri"/>
                <a:sym typeface="Calibri"/>
              </a:rPr>
              <a:t>Pay</a:t>
            </a:r>
            <a:endParaRPr sz="1600">
              <a:solidFill>
                <a:schemeClr val="dk1"/>
              </a:solidFill>
              <a:latin typeface="Calibri"/>
              <a:ea typeface="Calibri"/>
              <a:cs typeface="Calibri"/>
              <a:sym typeface="Calibri"/>
            </a:endParaRPr>
          </a:p>
        </p:txBody>
      </p:sp>
      <p:sp>
        <p:nvSpPr>
          <p:cNvPr id="153" name="Google Shape;153;p7"/>
          <p:cNvSpPr/>
          <p:nvPr/>
        </p:nvSpPr>
        <p:spPr>
          <a:xfrm>
            <a:off x="9875520" y="338328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Finance</a:t>
            </a:r>
            <a:endParaRPr sz="1100">
              <a:solidFill>
                <a:schemeClr val="dk1"/>
              </a:solidFill>
              <a:latin typeface="Calibri"/>
              <a:ea typeface="Calibri"/>
              <a:cs typeface="Calibri"/>
              <a:sym typeface="Calibri"/>
            </a:endParaRPr>
          </a:p>
        </p:txBody>
      </p:sp>
      <p:sp>
        <p:nvSpPr>
          <p:cNvPr id="154" name="Google Shape;154;p7"/>
          <p:cNvSpPr/>
          <p:nvPr/>
        </p:nvSpPr>
        <p:spPr>
          <a:xfrm>
            <a:off x="9966960" y="3657600"/>
            <a:ext cx="15087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settles invoice</a:t>
            </a:r>
            <a:endParaRPr sz="1000">
              <a:solidFill>
                <a:schemeClr val="dk1"/>
              </a:solidFill>
              <a:latin typeface="Calibri"/>
              <a:ea typeface="Calibri"/>
              <a:cs typeface="Calibri"/>
              <a:sym typeface="Calibri"/>
            </a:endParaRPr>
          </a:p>
        </p:txBody>
      </p:sp>
      <p:sp>
        <p:nvSpPr>
          <p:cNvPr id="155" name="Google Shape;155;p7"/>
          <p:cNvSpPr/>
          <p:nvPr/>
        </p:nvSpPr>
        <p:spPr>
          <a:xfrm>
            <a:off x="457200" y="4434840"/>
            <a:ext cx="11247120" cy="1783080"/>
          </a:xfrm>
          <a:prstGeom prst="rect">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6" name="Google Shape;156;p7"/>
          <p:cNvPicPr preferRelativeResize="0"/>
          <p:nvPr/>
        </p:nvPicPr>
        <p:blipFill rotWithShape="1">
          <a:blip r:embed="rId11">
            <a:alphaModFix/>
          </a:blip>
          <a:srcRect b="0" l="0" r="0" t="0"/>
          <a:stretch/>
        </p:blipFill>
        <p:spPr>
          <a:xfrm>
            <a:off x="777240" y="4617720"/>
            <a:ext cx="457200" cy="457200"/>
          </a:xfrm>
          <a:prstGeom prst="rect">
            <a:avLst/>
          </a:prstGeom>
          <a:noFill/>
          <a:ln>
            <a:noFill/>
          </a:ln>
        </p:spPr>
      </p:pic>
      <p:sp>
        <p:nvSpPr>
          <p:cNvPr id="157" name="Google Shape;157;p7"/>
          <p:cNvSpPr/>
          <p:nvPr/>
        </p:nvSpPr>
        <p:spPr>
          <a:xfrm>
            <a:off x="1371600" y="457200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1600">
                <a:solidFill>
                  <a:srgbClr val="1E2761"/>
                </a:solidFill>
                <a:latin typeface="Calibri"/>
                <a:ea typeface="Calibri"/>
                <a:cs typeface="Calibri"/>
                <a:sym typeface="Calibri"/>
              </a:rPr>
              <a:t>Critical Business Rules Enforced by the Database</a:t>
            </a:r>
            <a:endParaRPr sz="1600">
              <a:solidFill>
                <a:schemeClr val="dk1"/>
              </a:solidFill>
              <a:latin typeface="Calibri"/>
              <a:ea typeface="Calibri"/>
              <a:cs typeface="Calibri"/>
              <a:sym typeface="Calibri"/>
            </a:endParaRPr>
          </a:p>
        </p:txBody>
      </p:sp>
      <p:sp>
        <p:nvSpPr>
          <p:cNvPr id="158" name="Google Shape;158;p7"/>
          <p:cNvSpPr/>
          <p:nvPr/>
        </p:nvSpPr>
        <p:spPr>
          <a:xfrm>
            <a:off x="777240" y="5074920"/>
            <a:ext cx="10607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F36"/>
              </a:buClr>
              <a:buSzPts val="1300"/>
              <a:buFont typeface="Calibri"/>
              <a:buNone/>
            </a:pPr>
            <a:r>
              <a:rPr lang="en-US" sz="1300">
                <a:solidFill>
                  <a:srgbClr val="1A1F36"/>
                </a:solidFill>
                <a:latin typeface="Calibri"/>
                <a:ea typeface="Calibri"/>
                <a:cs typeface="Calibri"/>
                <a:sym typeface="Calibri"/>
              </a:rPr>
              <a:t>Approvals blocked when </a:t>
            </a:r>
            <a:r>
              <a:rPr b="1" lang="en-US" sz="1300">
                <a:solidFill>
                  <a:srgbClr val="1E2761"/>
                </a:solidFill>
                <a:latin typeface="Consolas"/>
                <a:ea typeface="Consolas"/>
                <a:cs typeface="Consolas"/>
                <a:sym typeface="Consolas"/>
              </a:rPr>
              <a:t>estimated_cost &gt; (budget_allocated − budget_used)</a:t>
            </a:r>
            <a:r>
              <a:rPr lang="en-US" sz="1300">
                <a:solidFill>
                  <a:srgbClr val="1A1F36"/>
                </a:solidFill>
                <a:latin typeface="Calibri"/>
                <a:ea typeface="Calibri"/>
                <a:cs typeface="Calibri"/>
                <a:sym typeface="Calibri"/>
              </a:rPr>
              <a:t>         •         No PO without an approved PR         •         No payment without a Goods Receipt</a:t>
            </a:r>
            <a:endParaRPr sz="1300">
              <a:solidFill>
                <a:schemeClr val="dk1"/>
              </a:solidFill>
              <a:latin typeface="Calibri"/>
              <a:ea typeface="Calibri"/>
              <a:cs typeface="Calibri"/>
              <a:sym typeface="Calibri"/>
            </a:endParaRPr>
          </a:p>
        </p:txBody>
      </p:sp>
      <p:sp>
        <p:nvSpPr>
          <p:cNvPr id="159" name="Google Shape;159;p7"/>
          <p:cNvSpPr/>
          <p:nvPr/>
        </p:nvSpPr>
        <p:spPr>
          <a:xfrm>
            <a:off x="777240" y="5486400"/>
            <a:ext cx="10607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Six roles (Employee, Manager, Procurement, Vendor, Finance, Admin)  •  Every state change logged immutably in PR_Status_History  •  Every action logged in Audit_Log with IP &amp; timestamp</a:t>
            </a:r>
            <a:endParaRPr sz="1200">
              <a:solidFill>
                <a:schemeClr val="dk1"/>
              </a:solidFill>
              <a:latin typeface="Calibri"/>
              <a:ea typeface="Calibri"/>
              <a:cs typeface="Calibri"/>
              <a:sym typeface="Calibri"/>
            </a:endParaRPr>
          </a:p>
        </p:txBody>
      </p:sp>
      <p:sp>
        <p:nvSpPr>
          <p:cNvPr id="160" name="Google Shape;160;p7"/>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01  Project Overview</a:t>
            </a:r>
            <a:endParaRPr sz="900">
              <a:solidFill>
                <a:schemeClr val="dk1"/>
              </a:solidFill>
              <a:latin typeface="Calibri"/>
              <a:ea typeface="Calibri"/>
              <a:cs typeface="Calibri"/>
              <a:sym typeface="Calibri"/>
            </a:endParaRPr>
          </a:p>
        </p:txBody>
      </p:sp>
      <p:sp>
        <p:nvSpPr>
          <p:cNvPr id="161" name="Google Shape;161;p7"/>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5</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6" name="Shape 166"/>
        <p:cNvGrpSpPr/>
        <p:nvPr/>
      </p:nvGrpSpPr>
      <p:grpSpPr>
        <a:xfrm>
          <a:off x="0" y="0"/>
          <a:ext cx="0" cy="0"/>
          <a:chOff x="0" y="0"/>
          <a:chExt cx="0" cy="0"/>
        </a:xfrm>
      </p:grpSpPr>
      <p:sp>
        <p:nvSpPr>
          <p:cNvPr id="167" name="Google Shape;167;p8"/>
          <p:cNvSpPr/>
          <p:nvPr/>
        </p:nvSpPr>
        <p:spPr>
          <a:xfrm>
            <a:off x="731520" y="2011680"/>
            <a:ext cx="274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11000"/>
              <a:buFont typeface="Georgia"/>
              <a:buNone/>
            </a:pPr>
            <a:r>
              <a:rPr b="1" lang="en-US" sz="11000">
                <a:solidFill>
                  <a:srgbClr val="D4AF37"/>
                </a:solidFill>
                <a:latin typeface="Georgia"/>
                <a:ea typeface="Georgia"/>
                <a:cs typeface="Georgia"/>
                <a:sym typeface="Georgia"/>
              </a:rPr>
              <a:t>02</a:t>
            </a:r>
            <a:endParaRPr sz="11000">
              <a:solidFill>
                <a:schemeClr val="dk1"/>
              </a:solidFill>
              <a:latin typeface="Calibri"/>
              <a:ea typeface="Calibri"/>
              <a:cs typeface="Calibri"/>
              <a:sym typeface="Calibri"/>
            </a:endParaRPr>
          </a:p>
        </p:txBody>
      </p:sp>
      <p:sp>
        <p:nvSpPr>
          <p:cNvPr id="168" name="Google Shape;168;p8"/>
          <p:cNvSpPr/>
          <p:nvPr/>
        </p:nvSpPr>
        <p:spPr>
          <a:xfrm>
            <a:off x="731520" y="3566160"/>
            <a:ext cx="10058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lang="en-US" sz="4400">
                <a:solidFill>
                  <a:srgbClr val="FFFFFF"/>
                </a:solidFill>
                <a:latin typeface="Georgia"/>
                <a:ea typeface="Georgia"/>
                <a:cs typeface="Georgia"/>
                <a:sym typeface="Georgia"/>
              </a:rPr>
              <a:t>Database Design</a:t>
            </a:r>
            <a:endParaRPr sz="4400">
              <a:solidFill>
                <a:schemeClr val="dk1"/>
              </a:solidFill>
              <a:latin typeface="Calibri"/>
              <a:ea typeface="Calibri"/>
              <a:cs typeface="Calibri"/>
              <a:sym typeface="Calibri"/>
            </a:endParaRPr>
          </a:p>
        </p:txBody>
      </p:sp>
      <p:sp>
        <p:nvSpPr>
          <p:cNvPr id="169" name="Google Shape;169;p8"/>
          <p:cNvSpPr/>
          <p:nvPr/>
        </p:nvSpPr>
        <p:spPr>
          <a:xfrm>
            <a:off x="731520" y="4343400"/>
            <a:ext cx="10058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i="1" lang="en-US" sz="1800">
                <a:solidFill>
                  <a:srgbClr val="CADCFC"/>
                </a:solidFill>
                <a:latin typeface="Calibri"/>
                <a:ea typeface="Calibri"/>
                <a:cs typeface="Calibri"/>
                <a:sym typeface="Calibri"/>
              </a:rPr>
              <a:t>16 tables, 6 modules, normalized to 3NF</a:t>
            </a:r>
            <a:endParaRPr sz="1800">
              <a:solidFill>
                <a:schemeClr val="dk1"/>
              </a:solidFill>
              <a:latin typeface="Calibri"/>
              <a:ea typeface="Calibri"/>
              <a:cs typeface="Calibri"/>
              <a:sym typeface="Calibri"/>
            </a:endParaRPr>
          </a:p>
        </p:txBody>
      </p:sp>
      <p:sp>
        <p:nvSpPr>
          <p:cNvPr id="170" name="Google Shape;170;p8"/>
          <p:cNvSpPr/>
          <p:nvPr/>
        </p:nvSpPr>
        <p:spPr>
          <a:xfrm>
            <a:off x="731520" y="59436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lang="en-US" sz="1200">
                <a:solidFill>
                  <a:srgbClr val="CADCFC"/>
                </a:solidFill>
                <a:latin typeface="Calibri"/>
                <a:ea typeface="Calibri"/>
                <a:cs typeface="Calibri"/>
                <a:sym typeface="Calibri"/>
              </a:rPr>
              <a:t>PRESENTED BY  SMIT PATEL</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pic>
        <p:nvPicPr>
          <p:cNvPr descr="preencoded.png" id="176" name="Google Shape;176;p9"/>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177" name="Google Shape;177;p9"/>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Schema Organized into Six Modules</a:t>
            </a:r>
            <a:endParaRPr sz="2800">
              <a:solidFill>
                <a:schemeClr val="dk1"/>
              </a:solidFill>
              <a:latin typeface="Calibri"/>
              <a:ea typeface="Calibri"/>
              <a:cs typeface="Calibri"/>
              <a:sym typeface="Calibri"/>
            </a:endParaRPr>
          </a:p>
        </p:txBody>
      </p:sp>
      <p:sp>
        <p:nvSpPr>
          <p:cNvPr id="178" name="Google Shape;178;p9"/>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Functional grouping keeps a 16-table schema navigable</a:t>
            </a:r>
            <a:endParaRPr sz="1300">
              <a:solidFill>
                <a:schemeClr val="dk1"/>
              </a:solidFill>
              <a:latin typeface="Calibri"/>
              <a:ea typeface="Calibri"/>
              <a:cs typeface="Calibri"/>
              <a:sym typeface="Calibri"/>
            </a:endParaRPr>
          </a:p>
        </p:txBody>
      </p:sp>
      <p:sp>
        <p:nvSpPr>
          <p:cNvPr id="179" name="Google Shape;179;p9"/>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9"/>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Smit</a:t>
            </a:r>
            <a:endParaRPr sz="1100">
              <a:solidFill>
                <a:schemeClr val="dk1"/>
              </a:solidFill>
              <a:latin typeface="Calibri"/>
              <a:ea typeface="Calibri"/>
              <a:cs typeface="Calibri"/>
              <a:sym typeface="Calibri"/>
            </a:endParaRPr>
          </a:p>
        </p:txBody>
      </p:sp>
      <p:sp>
        <p:nvSpPr>
          <p:cNvPr id="181" name="Google Shape;181;p9"/>
          <p:cNvSpPr/>
          <p:nvPr/>
        </p:nvSpPr>
        <p:spPr>
          <a:xfrm>
            <a:off x="457200" y="137160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9"/>
          <p:cNvSpPr/>
          <p:nvPr/>
        </p:nvSpPr>
        <p:spPr>
          <a:xfrm>
            <a:off x="457200" y="1371600"/>
            <a:ext cx="64008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9"/>
          <p:cNvSpPr/>
          <p:nvPr/>
        </p:nvSpPr>
        <p:spPr>
          <a:xfrm>
            <a:off x="457200" y="137160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M1</a:t>
            </a:r>
            <a:endParaRPr sz="1300">
              <a:solidFill>
                <a:schemeClr val="dk1"/>
              </a:solidFill>
              <a:latin typeface="Calibri"/>
              <a:ea typeface="Calibri"/>
              <a:cs typeface="Calibri"/>
              <a:sym typeface="Calibri"/>
            </a:endParaRPr>
          </a:p>
        </p:txBody>
      </p:sp>
      <p:pic>
        <p:nvPicPr>
          <p:cNvPr descr="preencoded.png" id="184" name="Google Shape;184;p9"/>
          <p:cNvPicPr preferRelativeResize="0"/>
          <p:nvPr/>
        </p:nvPicPr>
        <p:blipFill rotWithShape="1">
          <a:blip r:embed="rId4">
            <a:alphaModFix/>
          </a:blip>
          <a:srcRect b="0" l="0" r="0" t="0"/>
          <a:stretch/>
        </p:blipFill>
        <p:spPr>
          <a:xfrm>
            <a:off x="3657600" y="1463040"/>
            <a:ext cx="320040" cy="320040"/>
          </a:xfrm>
          <a:prstGeom prst="rect">
            <a:avLst/>
          </a:prstGeom>
          <a:noFill/>
          <a:ln>
            <a:noFill/>
          </a:ln>
        </p:spPr>
      </p:pic>
      <p:sp>
        <p:nvSpPr>
          <p:cNvPr id="185" name="Google Shape;185;p9"/>
          <p:cNvSpPr/>
          <p:nvPr/>
        </p:nvSpPr>
        <p:spPr>
          <a:xfrm>
            <a:off x="594360" y="187452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Authentication &amp; Identity</a:t>
            </a:r>
            <a:endParaRPr sz="1400">
              <a:solidFill>
                <a:schemeClr val="dk1"/>
              </a:solidFill>
              <a:latin typeface="Calibri"/>
              <a:ea typeface="Calibri"/>
              <a:cs typeface="Calibri"/>
              <a:sym typeface="Calibri"/>
            </a:endParaRPr>
          </a:p>
        </p:txBody>
      </p:sp>
      <p:sp>
        <p:nvSpPr>
          <p:cNvPr id="186" name="Google Shape;186;p9"/>
          <p:cNvSpPr/>
          <p:nvPr/>
        </p:nvSpPr>
        <p:spPr>
          <a:xfrm>
            <a:off x="594360" y="2212848"/>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950"/>
              <a:buFont typeface="Consolas"/>
              <a:buNone/>
            </a:pPr>
            <a:r>
              <a:rPr b="1" lang="en-US" sz="950">
                <a:solidFill>
                  <a:srgbClr val="D4AF37"/>
                </a:solidFill>
                <a:latin typeface="Consolas"/>
                <a:ea typeface="Consolas"/>
                <a:cs typeface="Consolas"/>
                <a:sym typeface="Consolas"/>
              </a:rPr>
              <a:t>Roles  •  Departments  •  Users</a:t>
            </a:r>
            <a:endParaRPr sz="950">
              <a:solidFill>
                <a:schemeClr val="dk1"/>
              </a:solidFill>
              <a:latin typeface="Calibri"/>
              <a:ea typeface="Calibri"/>
              <a:cs typeface="Calibri"/>
              <a:sym typeface="Calibri"/>
            </a:endParaRPr>
          </a:p>
        </p:txBody>
      </p:sp>
      <p:sp>
        <p:nvSpPr>
          <p:cNvPr id="187" name="Google Shape;187;p9"/>
          <p:cNvSpPr/>
          <p:nvPr/>
        </p:nvSpPr>
        <p:spPr>
          <a:xfrm>
            <a:off x="594360" y="251460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i="1" lang="en-US" sz="1050">
                <a:solidFill>
                  <a:srgbClr val="475569"/>
                </a:solidFill>
                <a:latin typeface="Calibri"/>
                <a:ea typeface="Calibri"/>
                <a:cs typeface="Calibri"/>
                <a:sym typeface="Calibri"/>
              </a:rPr>
              <a:t>Permissions, departments, and user accounts</a:t>
            </a:r>
            <a:endParaRPr sz="1050">
              <a:solidFill>
                <a:schemeClr val="dk1"/>
              </a:solidFill>
              <a:latin typeface="Calibri"/>
              <a:ea typeface="Calibri"/>
              <a:cs typeface="Calibri"/>
              <a:sym typeface="Calibri"/>
            </a:endParaRPr>
          </a:p>
        </p:txBody>
      </p:sp>
      <p:sp>
        <p:nvSpPr>
          <p:cNvPr id="188" name="Google Shape;188;p9"/>
          <p:cNvSpPr/>
          <p:nvPr/>
        </p:nvSpPr>
        <p:spPr>
          <a:xfrm>
            <a:off x="4325112" y="137160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9"/>
          <p:cNvSpPr/>
          <p:nvPr/>
        </p:nvSpPr>
        <p:spPr>
          <a:xfrm>
            <a:off x="4325112" y="1371600"/>
            <a:ext cx="64008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4325112" y="137160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M2</a:t>
            </a:r>
            <a:endParaRPr sz="1300">
              <a:solidFill>
                <a:schemeClr val="dk1"/>
              </a:solidFill>
              <a:latin typeface="Calibri"/>
              <a:ea typeface="Calibri"/>
              <a:cs typeface="Calibri"/>
              <a:sym typeface="Calibri"/>
            </a:endParaRPr>
          </a:p>
        </p:txBody>
      </p:sp>
      <p:pic>
        <p:nvPicPr>
          <p:cNvPr descr="preencoded.png" id="191" name="Google Shape;191;p9"/>
          <p:cNvPicPr preferRelativeResize="0"/>
          <p:nvPr/>
        </p:nvPicPr>
        <p:blipFill rotWithShape="1">
          <a:blip r:embed="rId5">
            <a:alphaModFix/>
          </a:blip>
          <a:srcRect b="0" l="0" r="0" t="0"/>
          <a:stretch/>
        </p:blipFill>
        <p:spPr>
          <a:xfrm>
            <a:off x="7525512" y="1463040"/>
            <a:ext cx="320040" cy="320040"/>
          </a:xfrm>
          <a:prstGeom prst="rect">
            <a:avLst/>
          </a:prstGeom>
          <a:noFill/>
          <a:ln>
            <a:noFill/>
          </a:ln>
        </p:spPr>
      </p:pic>
      <p:sp>
        <p:nvSpPr>
          <p:cNvPr id="192" name="Google Shape;192;p9"/>
          <p:cNvSpPr/>
          <p:nvPr/>
        </p:nvSpPr>
        <p:spPr>
          <a:xfrm>
            <a:off x="4462272" y="187452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Procurement Workflow</a:t>
            </a:r>
            <a:endParaRPr sz="1400">
              <a:solidFill>
                <a:schemeClr val="dk1"/>
              </a:solidFill>
              <a:latin typeface="Calibri"/>
              <a:ea typeface="Calibri"/>
              <a:cs typeface="Calibri"/>
              <a:sym typeface="Calibri"/>
            </a:endParaRPr>
          </a:p>
        </p:txBody>
      </p:sp>
      <p:sp>
        <p:nvSpPr>
          <p:cNvPr id="193" name="Google Shape;193;p9"/>
          <p:cNvSpPr/>
          <p:nvPr/>
        </p:nvSpPr>
        <p:spPr>
          <a:xfrm>
            <a:off x="4462272" y="2212848"/>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950"/>
              <a:buFont typeface="Consolas"/>
              <a:buNone/>
            </a:pPr>
            <a:r>
              <a:rPr b="1" lang="en-US" sz="950">
                <a:solidFill>
                  <a:srgbClr val="D4AF37"/>
                </a:solidFill>
                <a:latin typeface="Consolas"/>
                <a:ea typeface="Consolas"/>
                <a:cs typeface="Consolas"/>
                <a:sym typeface="Consolas"/>
              </a:rPr>
              <a:t>Purchase_Requests  •  PR_Approvals  •  PR_Status_History</a:t>
            </a:r>
            <a:endParaRPr sz="950">
              <a:solidFill>
                <a:schemeClr val="dk1"/>
              </a:solidFill>
              <a:latin typeface="Calibri"/>
              <a:ea typeface="Calibri"/>
              <a:cs typeface="Calibri"/>
              <a:sym typeface="Calibri"/>
            </a:endParaRPr>
          </a:p>
        </p:txBody>
      </p:sp>
      <p:sp>
        <p:nvSpPr>
          <p:cNvPr id="194" name="Google Shape;194;p9"/>
          <p:cNvSpPr/>
          <p:nvPr/>
        </p:nvSpPr>
        <p:spPr>
          <a:xfrm>
            <a:off x="4462272" y="251460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i="1" lang="en-US" sz="1050">
                <a:solidFill>
                  <a:srgbClr val="475569"/>
                </a:solidFill>
                <a:latin typeface="Calibri"/>
                <a:ea typeface="Calibri"/>
                <a:cs typeface="Calibri"/>
                <a:sym typeface="Calibri"/>
              </a:rPr>
              <a:t>Request submission, approvals, state transitions</a:t>
            </a:r>
            <a:endParaRPr sz="1050">
              <a:solidFill>
                <a:schemeClr val="dk1"/>
              </a:solidFill>
              <a:latin typeface="Calibri"/>
              <a:ea typeface="Calibri"/>
              <a:cs typeface="Calibri"/>
              <a:sym typeface="Calibri"/>
            </a:endParaRPr>
          </a:p>
        </p:txBody>
      </p:sp>
      <p:sp>
        <p:nvSpPr>
          <p:cNvPr id="195" name="Google Shape;195;p9"/>
          <p:cNvSpPr/>
          <p:nvPr/>
        </p:nvSpPr>
        <p:spPr>
          <a:xfrm>
            <a:off x="8193024" y="137160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9"/>
          <p:cNvSpPr/>
          <p:nvPr/>
        </p:nvSpPr>
        <p:spPr>
          <a:xfrm>
            <a:off x="8193024" y="1371600"/>
            <a:ext cx="64008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9"/>
          <p:cNvSpPr/>
          <p:nvPr/>
        </p:nvSpPr>
        <p:spPr>
          <a:xfrm>
            <a:off x="8193024" y="137160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M3</a:t>
            </a:r>
            <a:endParaRPr sz="1300">
              <a:solidFill>
                <a:schemeClr val="dk1"/>
              </a:solidFill>
              <a:latin typeface="Calibri"/>
              <a:ea typeface="Calibri"/>
              <a:cs typeface="Calibri"/>
              <a:sym typeface="Calibri"/>
            </a:endParaRPr>
          </a:p>
        </p:txBody>
      </p:sp>
      <p:pic>
        <p:nvPicPr>
          <p:cNvPr descr="preencoded.png" id="198" name="Google Shape;198;p9"/>
          <p:cNvPicPr preferRelativeResize="0"/>
          <p:nvPr/>
        </p:nvPicPr>
        <p:blipFill rotWithShape="1">
          <a:blip r:embed="rId6">
            <a:alphaModFix/>
          </a:blip>
          <a:srcRect b="0" l="0" r="0" t="0"/>
          <a:stretch/>
        </p:blipFill>
        <p:spPr>
          <a:xfrm>
            <a:off x="11393424" y="1463040"/>
            <a:ext cx="320040" cy="320040"/>
          </a:xfrm>
          <a:prstGeom prst="rect">
            <a:avLst/>
          </a:prstGeom>
          <a:noFill/>
          <a:ln>
            <a:noFill/>
          </a:ln>
        </p:spPr>
      </p:pic>
      <p:sp>
        <p:nvSpPr>
          <p:cNvPr id="199" name="Google Shape;199;p9"/>
          <p:cNvSpPr/>
          <p:nvPr/>
        </p:nvSpPr>
        <p:spPr>
          <a:xfrm>
            <a:off x="8330184" y="187452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Vendor Management</a:t>
            </a:r>
            <a:endParaRPr sz="1400">
              <a:solidFill>
                <a:schemeClr val="dk1"/>
              </a:solidFill>
              <a:latin typeface="Calibri"/>
              <a:ea typeface="Calibri"/>
              <a:cs typeface="Calibri"/>
              <a:sym typeface="Calibri"/>
            </a:endParaRPr>
          </a:p>
        </p:txBody>
      </p:sp>
      <p:sp>
        <p:nvSpPr>
          <p:cNvPr id="200" name="Google Shape;200;p9"/>
          <p:cNvSpPr/>
          <p:nvPr/>
        </p:nvSpPr>
        <p:spPr>
          <a:xfrm>
            <a:off x="8330184" y="2212848"/>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950"/>
              <a:buFont typeface="Consolas"/>
              <a:buNone/>
            </a:pPr>
            <a:r>
              <a:rPr b="1" lang="en-US" sz="950">
                <a:solidFill>
                  <a:srgbClr val="D4AF37"/>
                </a:solidFill>
                <a:latin typeface="Consolas"/>
                <a:ea typeface="Consolas"/>
                <a:cs typeface="Consolas"/>
                <a:sym typeface="Consolas"/>
              </a:rPr>
              <a:t>Vendors  •  Vendor_Categories  •  Contracts</a:t>
            </a:r>
            <a:endParaRPr sz="950">
              <a:solidFill>
                <a:schemeClr val="dk1"/>
              </a:solidFill>
              <a:latin typeface="Calibri"/>
              <a:ea typeface="Calibri"/>
              <a:cs typeface="Calibri"/>
              <a:sym typeface="Calibri"/>
            </a:endParaRPr>
          </a:p>
        </p:txBody>
      </p:sp>
      <p:sp>
        <p:nvSpPr>
          <p:cNvPr id="201" name="Google Shape;201;p9"/>
          <p:cNvSpPr/>
          <p:nvPr/>
        </p:nvSpPr>
        <p:spPr>
          <a:xfrm>
            <a:off x="8330184" y="251460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i="1" lang="en-US" sz="1050">
                <a:solidFill>
                  <a:srgbClr val="475569"/>
                </a:solidFill>
                <a:latin typeface="Calibri"/>
                <a:ea typeface="Calibri"/>
                <a:cs typeface="Calibri"/>
                <a:sym typeface="Calibri"/>
              </a:rPr>
              <a:t>Supplier info, specialties, long-term agreements</a:t>
            </a:r>
            <a:endParaRPr sz="1050">
              <a:solidFill>
                <a:schemeClr val="dk1"/>
              </a:solidFill>
              <a:latin typeface="Calibri"/>
              <a:ea typeface="Calibri"/>
              <a:cs typeface="Calibri"/>
              <a:sym typeface="Calibri"/>
            </a:endParaRPr>
          </a:p>
        </p:txBody>
      </p:sp>
      <p:sp>
        <p:nvSpPr>
          <p:cNvPr id="202" name="Google Shape;202;p9"/>
          <p:cNvSpPr/>
          <p:nvPr/>
        </p:nvSpPr>
        <p:spPr>
          <a:xfrm>
            <a:off x="457200" y="306324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9"/>
          <p:cNvSpPr/>
          <p:nvPr/>
        </p:nvSpPr>
        <p:spPr>
          <a:xfrm>
            <a:off x="457200" y="3063240"/>
            <a:ext cx="64008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9"/>
          <p:cNvSpPr/>
          <p:nvPr/>
        </p:nvSpPr>
        <p:spPr>
          <a:xfrm>
            <a:off x="457200" y="306324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M4</a:t>
            </a:r>
            <a:endParaRPr sz="1300">
              <a:solidFill>
                <a:schemeClr val="dk1"/>
              </a:solidFill>
              <a:latin typeface="Calibri"/>
              <a:ea typeface="Calibri"/>
              <a:cs typeface="Calibri"/>
              <a:sym typeface="Calibri"/>
            </a:endParaRPr>
          </a:p>
        </p:txBody>
      </p:sp>
      <p:pic>
        <p:nvPicPr>
          <p:cNvPr descr="preencoded.png" id="205" name="Google Shape;205;p9"/>
          <p:cNvPicPr preferRelativeResize="0"/>
          <p:nvPr/>
        </p:nvPicPr>
        <p:blipFill rotWithShape="1">
          <a:blip r:embed="rId7">
            <a:alphaModFix/>
          </a:blip>
          <a:srcRect b="0" l="0" r="0" t="0"/>
          <a:stretch/>
        </p:blipFill>
        <p:spPr>
          <a:xfrm>
            <a:off x="3657600" y="3154680"/>
            <a:ext cx="320040" cy="320040"/>
          </a:xfrm>
          <a:prstGeom prst="rect">
            <a:avLst/>
          </a:prstGeom>
          <a:noFill/>
          <a:ln>
            <a:noFill/>
          </a:ln>
        </p:spPr>
      </p:pic>
      <p:sp>
        <p:nvSpPr>
          <p:cNvPr id="206" name="Google Shape;206;p9"/>
          <p:cNvSpPr/>
          <p:nvPr/>
        </p:nvSpPr>
        <p:spPr>
          <a:xfrm>
            <a:off x="594360" y="356616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Order Fulfillment</a:t>
            </a:r>
            <a:endParaRPr sz="1400">
              <a:solidFill>
                <a:schemeClr val="dk1"/>
              </a:solidFill>
              <a:latin typeface="Calibri"/>
              <a:ea typeface="Calibri"/>
              <a:cs typeface="Calibri"/>
              <a:sym typeface="Calibri"/>
            </a:endParaRPr>
          </a:p>
        </p:txBody>
      </p:sp>
      <p:sp>
        <p:nvSpPr>
          <p:cNvPr id="207" name="Google Shape;207;p9"/>
          <p:cNvSpPr/>
          <p:nvPr/>
        </p:nvSpPr>
        <p:spPr>
          <a:xfrm>
            <a:off x="594360" y="3904488"/>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950"/>
              <a:buFont typeface="Consolas"/>
              <a:buNone/>
            </a:pPr>
            <a:r>
              <a:rPr b="1" lang="en-US" sz="950">
                <a:solidFill>
                  <a:srgbClr val="D4AF37"/>
                </a:solidFill>
                <a:latin typeface="Consolas"/>
                <a:ea typeface="Consolas"/>
                <a:cs typeface="Consolas"/>
                <a:sym typeface="Consolas"/>
              </a:rPr>
              <a:t>Purchase_Orders  •  PO_Line_Items  •  Goods_Receipt</a:t>
            </a:r>
            <a:endParaRPr sz="950">
              <a:solidFill>
                <a:schemeClr val="dk1"/>
              </a:solidFill>
              <a:latin typeface="Calibri"/>
              <a:ea typeface="Calibri"/>
              <a:cs typeface="Calibri"/>
              <a:sym typeface="Calibri"/>
            </a:endParaRPr>
          </a:p>
        </p:txBody>
      </p:sp>
      <p:sp>
        <p:nvSpPr>
          <p:cNvPr id="208" name="Google Shape;208;p9"/>
          <p:cNvSpPr/>
          <p:nvPr/>
        </p:nvSpPr>
        <p:spPr>
          <a:xfrm>
            <a:off x="594360" y="420624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i="1" lang="en-US" sz="1050">
                <a:solidFill>
                  <a:srgbClr val="475569"/>
                </a:solidFill>
                <a:latin typeface="Calibri"/>
                <a:ea typeface="Calibri"/>
                <a:cs typeface="Calibri"/>
                <a:sym typeface="Calibri"/>
              </a:rPr>
              <a:t>Formal POs, line items, delivery confirmation</a:t>
            </a:r>
            <a:endParaRPr sz="1050">
              <a:solidFill>
                <a:schemeClr val="dk1"/>
              </a:solidFill>
              <a:latin typeface="Calibri"/>
              <a:ea typeface="Calibri"/>
              <a:cs typeface="Calibri"/>
              <a:sym typeface="Calibri"/>
            </a:endParaRPr>
          </a:p>
        </p:txBody>
      </p:sp>
      <p:sp>
        <p:nvSpPr>
          <p:cNvPr id="209" name="Google Shape;209;p9"/>
          <p:cNvSpPr/>
          <p:nvPr/>
        </p:nvSpPr>
        <p:spPr>
          <a:xfrm>
            <a:off x="4325112" y="306324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9"/>
          <p:cNvSpPr/>
          <p:nvPr/>
        </p:nvSpPr>
        <p:spPr>
          <a:xfrm>
            <a:off x="4325112" y="3063240"/>
            <a:ext cx="64008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9"/>
          <p:cNvSpPr/>
          <p:nvPr/>
        </p:nvSpPr>
        <p:spPr>
          <a:xfrm>
            <a:off x="4325112" y="306324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M5</a:t>
            </a:r>
            <a:endParaRPr sz="1300">
              <a:solidFill>
                <a:schemeClr val="dk1"/>
              </a:solidFill>
              <a:latin typeface="Calibri"/>
              <a:ea typeface="Calibri"/>
              <a:cs typeface="Calibri"/>
              <a:sym typeface="Calibri"/>
            </a:endParaRPr>
          </a:p>
        </p:txBody>
      </p:sp>
      <p:pic>
        <p:nvPicPr>
          <p:cNvPr descr="preencoded.png" id="212" name="Google Shape;212;p9"/>
          <p:cNvPicPr preferRelativeResize="0"/>
          <p:nvPr/>
        </p:nvPicPr>
        <p:blipFill rotWithShape="1">
          <a:blip r:embed="rId8">
            <a:alphaModFix/>
          </a:blip>
          <a:srcRect b="0" l="0" r="0" t="0"/>
          <a:stretch/>
        </p:blipFill>
        <p:spPr>
          <a:xfrm>
            <a:off x="7525512" y="3154680"/>
            <a:ext cx="320040" cy="320040"/>
          </a:xfrm>
          <a:prstGeom prst="rect">
            <a:avLst/>
          </a:prstGeom>
          <a:noFill/>
          <a:ln>
            <a:noFill/>
          </a:ln>
        </p:spPr>
      </p:pic>
      <p:sp>
        <p:nvSpPr>
          <p:cNvPr id="213" name="Google Shape;213;p9"/>
          <p:cNvSpPr/>
          <p:nvPr/>
        </p:nvSpPr>
        <p:spPr>
          <a:xfrm>
            <a:off x="4462272" y="356616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Finance</a:t>
            </a:r>
            <a:endParaRPr sz="1400">
              <a:solidFill>
                <a:schemeClr val="dk1"/>
              </a:solidFill>
              <a:latin typeface="Calibri"/>
              <a:ea typeface="Calibri"/>
              <a:cs typeface="Calibri"/>
              <a:sym typeface="Calibri"/>
            </a:endParaRPr>
          </a:p>
        </p:txBody>
      </p:sp>
      <p:sp>
        <p:nvSpPr>
          <p:cNvPr id="214" name="Google Shape;214;p9"/>
          <p:cNvSpPr/>
          <p:nvPr/>
        </p:nvSpPr>
        <p:spPr>
          <a:xfrm>
            <a:off x="4462272" y="3904488"/>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950"/>
              <a:buFont typeface="Consolas"/>
              <a:buNone/>
            </a:pPr>
            <a:r>
              <a:rPr b="1" lang="en-US" sz="950">
                <a:solidFill>
                  <a:srgbClr val="D4AF37"/>
                </a:solidFill>
                <a:latin typeface="Consolas"/>
                <a:ea typeface="Consolas"/>
                <a:cs typeface="Consolas"/>
                <a:sym typeface="Consolas"/>
              </a:rPr>
              <a:t>Invoices  •  Payments  •  Budget_Transactions</a:t>
            </a:r>
            <a:endParaRPr sz="950">
              <a:solidFill>
                <a:schemeClr val="dk1"/>
              </a:solidFill>
              <a:latin typeface="Calibri"/>
              <a:ea typeface="Calibri"/>
              <a:cs typeface="Calibri"/>
              <a:sym typeface="Calibri"/>
            </a:endParaRPr>
          </a:p>
        </p:txBody>
      </p:sp>
      <p:sp>
        <p:nvSpPr>
          <p:cNvPr id="215" name="Google Shape;215;p9"/>
          <p:cNvSpPr/>
          <p:nvPr/>
        </p:nvSpPr>
        <p:spPr>
          <a:xfrm>
            <a:off x="4462272" y="420624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i="1" lang="en-US" sz="1050">
                <a:solidFill>
                  <a:srgbClr val="475569"/>
                </a:solidFill>
                <a:latin typeface="Calibri"/>
                <a:ea typeface="Calibri"/>
                <a:cs typeface="Calibri"/>
                <a:sym typeface="Calibri"/>
              </a:rPr>
              <a:t>Billing, settlements, budget ledger</a:t>
            </a:r>
            <a:endParaRPr sz="1050">
              <a:solidFill>
                <a:schemeClr val="dk1"/>
              </a:solidFill>
              <a:latin typeface="Calibri"/>
              <a:ea typeface="Calibri"/>
              <a:cs typeface="Calibri"/>
              <a:sym typeface="Calibri"/>
            </a:endParaRPr>
          </a:p>
        </p:txBody>
      </p:sp>
      <p:sp>
        <p:nvSpPr>
          <p:cNvPr id="216" name="Google Shape;216;p9"/>
          <p:cNvSpPr/>
          <p:nvPr/>
        </p:nvSpPr>
        <p:spPr>
          <a:xfrm>
            <a:off x="8193024" y="306324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9"/>
          <p:cNvSpPr/>
          <p:nvPr/>
        </p:nvSpPr>
        <p:spPr>
          <a:xfrm>
            <a:off x="8193024" y="3063240"/>
            <a:ext cx="640080" cy="4572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9"/>
          <p:cNvSpPr/>
          <p:nvPr/>
        </p:nvSpPr>
        <p:spPr>
          <a:xfrm>
            <a:off x="8193024" y="3063240"/>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M6</a:t>
            </a:r>
            <a:endParaRPr sz="1300">
              <a:solidFill>
                <a:schemeClr val="dk1"/>
              </a:solidFill>
              <a:latin typeface="Calibri"/>
              <a:ea typeface="Calibri"/>
              <a:cs typeface="Calibri"/>
              <a:sym typeface="Calibri"/>
            </a:endParaRPr>
          </a:p>
        </p:txBody>
      </p:sp>
      <p:pic>
        <p:nvPicPr>
          <p:cNvPr descr="preencoded.png" id="219" name="Google Shape;219;p9"/>
          <p:cNvPicPr preferRelativeResize="0"/>
          <p:nvPr/>
        </p:nvPicPr>
        <p:blipFill rotWithShape="1">
          <a:blip r:embed="rId9">
            <a:alphaModFix/>
          </a:blip>
          <a:srcRect b="0" l="0" r="0" t="0"/>
          <a:stretch/>
        </p:blipFill>
        <p:spPr>
          <a:xfrm>
            <a:off x="11393424" y="3154680"/>
            <a:ext cx="320040" cy="320040"/>
          </a:xfrm>
          <a:prstGeom prst="rect">
            <a:avLst/>
          </a:prstGeom>
          <a:noFill/>
          <a:ln>
            <a:noFill/>
          </a:ln>
        </p:spPr>
      </p:pic>
      <p:sp>
        <p:nvSpPr>
          <p:cNvPr id="220" name="Google Shape;220;p9"/>
          <p:cNvSpPr/>
          <p:nvPr/>
        </p:nvSpPr>
        <p:spPr>
          <a:xfrm>
            <a:off x="8330184" y="356616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System Monitoring</a:t>
            </a:r>
            <a:endParaRPr sz="1400">
              <a:solidFill>
                <a:schemeClr val="dk1"/>
              </a:solidFill>
              <a:latin typeface="Calibri"/>
              <a:ea typeface="Calibri"/>
              <a:cs typeface="Calibri"/>
              <a:sym typeface="Calibri"/>
            </a:endParaRPr>
          </a:p>
        </p:txBody>
      </p:sp>
      <p:sp>
        <p:nvSpPr>
          <p:cNvPr id="221" name="Google Shape;221;p9"/>
          <p:cNvSpPr/>
          <p:nvPr/>
        </p:nvSpPr>
        <p:spPr>
          <a:xfrm>
            <a:off x="8330184" y="3904488"/>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950"/>
              <a:buFont typeface="Consolas"/>
              <a:buNone/>
            </a:pPr>
            <a:r>
              <a:rPr b="1" lang="en-US" sz="950">
                <a:solidFill>
                  <a:srgbClr val="D4AF37"/>
                </a:solidFill>
                <a:latin typeface="Consolas"/>
                <a:ea typeface="Consolas"/>
                <a:cs typeface="Consolas"/>
                <a:sym typeface="Consolas"/>
              </a:rPr>
              <a:t>Audit_Log  •  Notifications  •  Saved_Reports</a:t>
            </a:r>
            <a:endParaRPr sz="950">
              <a:solidFill>
                <a:schemeClr val="dk1"/>
              </a:solidFill>
              <a:latin typeface="Calibri"/>
              <a:ea typeface="Calibri"/>
              <a:cs typeface="Calibri"/>
              <a:sym typeface="Calibri"/>
            </a:endParaRPr>
          </a:p>
        </p:txBody>
      </p:sp>
      <p:sp>
        <p:nvSpPr>
          <p:cNvPr id="222" name="Google Shape;222;p9"/>
          <p:cNvSpPr/>
          <p:nvPr/>
        </p:nvSpPr>
        <p:spPr>
          <a:xfrm>
            <a:off x="8330184" y="420624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i="1" lang="en-US" sz="1050">
                <a:solidFill>
                  <a:srgbClr val="475569"/>
                </a:solidFill>
                <a:latin typeface="Calibri"/>
                <a:ea typeface="Calibri"/>
                <a:cs typeface="Calibri"/>
                <a:sym typeface="Calibri"/>
              </a:rPr>
              <a:t>Action logs, alerts, saved KPI reports</a:t>
            </a:r>
            <a:endParaRPr sz="1050">
              <a:solidFill>
                <a:schemeClr val="dk1"/>
              </a:solidFill>
              <a:latin typeface="Calibri"/>
              <a:ea typeface="Calibri"/>
              <a:cs typeface="Calibri"/>
              <a:sym typeface="Calibri"/>
            </a:endParaRPr>
          </a:p>
        </p:txBody>
      </p:sp>
      <p:sp>
        <p:nvSpPr>
          <p:cNvPr id="223" name="Google Shape;223;p9"/>
          <p:cNvSpPr/>
          <p:nvPr/>
        </p:nvSpPr>
        <p:spPr>
          <a:xfrm>
            <a:off x="457200" y="5074920"/>
            <a:ext cx="11247120" cy="11430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9"/>
          <p:cNvSpPr/>
          <p:nvPr/>
        </p:nvSpPr>
        <p:spPr>
          <a:xfrm>
            <a:off x="457200" y="5166360"/>
            <a:ext cx="224942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3200"/>
              <a:buFont typeface="Georgia"/>
              <a:buNone/>
            </a:pPr>
            <a:r>
              <a:rPr b="1" lang="en-US" sz="3200">
                <a:solidFill>
                  <a:srgbClr val="D4AF37"/>
                </a:solidFill>
                <a:latin typeface="Georgia"/>
                <a:ea typeface="Georgia"/>
                <a:cs typeface="Georgia"/>
                <a:sym typeface="Georgia"/>
              </a:rPr>
              <a:t>16</a:t>
            </a:r>
            <a:endParaRPr sz="3200">
              <a:solidFill>
                <a:schemeClr val="dk1"/>
              </a:solidFill>
              <a:latin typeface="Calibri"/>
              <a:ea typeface="Calibri"/>
              <a:cs typeface="Calibri"/>
              <a:sym typeface="Calibri"/>
            </a:endParaRPr>
          </a:p>
        </p:txBody>
      </p:sp>
      <p:sp>
        <p:nvSpPr>
          <p:cNvPr id="225" name="Google Shape;225;p9"/>
          <p:cNvSpPr/>
          <p:nvPr/>
        </p:nvSpPr>
        <p:spPr>
          <a:xfrm>
            <a:off x="457200" y="5760720"/>
            <a:ext cx="22494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Tables</a:t>
            </a:r>
            <a:endParaRPr sz="1100">
              <a:solidFill>
                <a:schemeClr val="dk1"/>
              </a:solidFill>
              <a:latin typeface="Calibri"/>
              <a:ea typeface="Calibri"/>
              <a:cs typeface="Calibri"/>
              <a:sym typeface="Calibri"/>
            </a:endParaRPr>
          </a:p>
        </p:txBody>
      </p:sp>
      <p:sp>
        <p:nvSpPr>
          <p:cNvPr id="226" name="Google Shape;226;p9"/>
          <p:cNvSpPr/>
          <p:nvPr/>
        </p:nvSpPr>
        <p:spPr>
          <a:xfrm>
            <a:off x="2706624" y="5166360"/>
            <a:ext cx="224942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3200"/>
              <a:buFont typeface="Georgia"/>
              <a:buNone/>
            </a:pPr>
            <a:r>
              <a:rPr b="1" lang="en-US" sz="3200">
                <a:solidFill>
                  <a:srgbClr val="D4AF37"/>
                </a:solidFill>
                <a:latin typeface="Georgia"/>
                <a:ea typeface="Georgia"/>
                <a:cs typeface="Georgia"/>
                <a:sym typeface="Georgia"/>
              </a:rPr>
              <a:t>3NF</a:t>
            </a:r>
            <a:endParaRPr sz="3200">
              <a:solidFill>
                <a:schemeClr val="dk1"/>
              </a:solidFill>
              <a:latin typeface="Calibri"/>
              <a:ea typeface="Calibri"/>
              <a:cs typeface="Calibri"/>
              <a:sym typeface="Calibri"/>
            </a:endParaRPr>
          </a:p>
        </p:txBody>
      </p:sp>
      <p:sp>
        <p:nvSpPr>
          <p:cNvPr id="227" name="Google Shape;227;p9"/>
          <p:cNvSpPr/>
          <p:nvPr/>
        </p:nvSpPr>
        <p:spPr>
          <a:xfrm>
            <a:off x="2706624" y="5760720"/>
            <a:ext cx="22494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Normal Form</a:t>
            </a:r>
            <a:endParaRPr sz="1100">
              <a:solidFill>
                <a:schemeClr val="dk1"/>
              </a:solidFill>
              <a:latin typeface="Calibri"/>
              <a:ea typeface="Calibri"/>
              <a:cs typeface="Calibri"/>
              <a:sym typeface="Calibri"/>
            </a:endParaRPr>
          </a:p>
        </p:txBody>
      </p:sp>
      <p:sp>
        <p:nvSpPr>
          <p:cNvPr id="228" name="Google Shape;228;p9"/>
          <p:cNvSpPr/>
          <p:nvPr/>
        </p:nvSpPr>
        <p:spPr>
          <a:xfrm>
            <a:off x="4956048" y="5166360"/>
            <a:ext cx="224942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3200"/>
              <a:buFont typeface="Georgia"/>
              <a:buNone/>
            </a:pPr>
            <a:r>
              <a:rPr b="1" lang="en-US" sz="3200">
                <a:solidFill>
                  <a:srgbClr val="D4AF37"/>
                </a:solidFill>
                <a:latin typeface="Georgia"/>
                <a:ea typeface="Georgia"/>
                <a:cs typeface="Georgia"/>
                <a:sym typeface="Georgia"/>
              </a:rPr>
              <a:t>30+</a:t>
            </a:r>
            <a:endParaRPr sz="3200">
              <a:solidFill>
                <a:schemeClr val="dk1"/>
              </a:solidFill>
              <a:latin typeface="Calibri"/>
              <a:ea typeface="Calibri"/>
              <a:cs typeface="Calibri"/>
              <a:sym typeface="Calibri"/>
            </a:endParaRPr>
          </a:p>
        </p:txBody>
      </p:sp>
      <p:sp>
        <p:nvSpPr>
          <p:cNvPr id="229" name="Google Shape;229;p9"/>
          <p:cNvSpPr/>
          <p:nvPr/>
        </p:nvSpPr>
        <p:spPr>
          <a:xfrm>
            <a:off x="4956048" y="5760720"/>
            <a:ext cx="22494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Foreign Keys</a:t>
            </a:r>
            <a:endParaRPr sz="1100">
              <a:solidFill>
                <a:schemeClr val="dk1"/>
              </a:solidFill>
              <a:latin typeface="Calibri"/>
              <a:ea typeface="Calibri"/>
              <a:cs typeface="Calibri"/>
              <a:sym typeface="Calibri"/>
            </a:endParaRPr>
          </a:p>
        </p:txBody>
      </p:sp>
      <p:sp>
        <p:nvSpPr>
          <p:cNvPr id="230" name="Google Shape;230;p9"/>
          <p:cNvSpPr/>
          <p:nvPr/>
        </p:nvSpPr>
        <p:spPr>
          <a:xfrm>
            <a:off x="7205472" y="5166360"/>
            <a:ext cx="224942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3200"/>
              <a:buFont typeface="Georgia"/>
              <a:buNone/>
            </a:pPr>
            <a:r>
              <a:rPr b="1" lang="en-US" sz="3200">
                <a:solidFill>
                  <a:srgbClr val="D4AF37"/>
                </a:solidFill>
                <a:latin typeface="Georgia"/>
                <a:ea typeface="Georgia"/>
                <a:cs typeface="Georgia"/>
                <a:sym typeface="Georgia"/>
              </a:rPr>
              <a:t>6</a:t>
            </a:r>
            <a:endParaRPr sz="3200">
              <a:solidFill>
                <a:schemeClr val="dk1"/>
              </a:solidFill>
              <a:latin typeface="Calibri"/>
              <a:ea typeface="Calibri"/>
              <a:cs typeface="Calibri"/>
              <a:sym typeface="Calibri"/>
            </a:endParaRPr>
          </a:p>
        </p:txBody>
      </p:sp>
      <p:sp>
        <p:nvSpPr>
          <p:cNvPr id="231" name="Google Shape;231;p9"/>
          <p:cNvSpPr/>
          <p:nvPr/>
        </p:nvSpPr>
        <p:spPr>
          <a:xfrm>
            <a:off x="7205472" y="5760720"/>
            <a:ext cx="22494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User Roles</a:t>
            </a:r>
            <a:endParaRPr sz="1100">
              <a:solidFill>
                <a:schemeClr val="dk1"/>
              </a:solidFill>
              <a:latin typeface="Calibri"/>
              <a:ea typeface="Calibri"/>
              <a:cs typeface="Calibri"/>
              <a:sym typeface="Calibri"/>
            </a:endParaRPr>
          </a:p>
        </p:txBody>
      </p:sp>
      <p:sp>
        <p:nvSpPr>
          <p:cNvPr id="232" name="Google Shape;232;p9"/>
          <p:cNvSpPr/>
          <p:nvPr/>
        </p:nvSpPr>
        <p:spPr>
          <a:xfrm>
            <a:off x="9454896" y="5166360"/>
            <a:ext cx="224942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3200"/>
              <a:buFont typeface="Georgia"/>
              <a:buNone/>
            </a:pPr>
            <a:r>
              <a:rPr b="1" lang="en-US" sz="3200">
                <a:solidFill>
                  <a:srgbClr val="D4AF37"/>
                </a:solidFill>
                <a:latin typeface="Georgia"/>
                <a:ea typeface="Georgia"/>
                <a:cs typeface="Georgia"/>
                <a:sym typeface="Georgia"/>
              </a:rPr>
              <a:t>100%</a:t>
            </a:r>
            <a:endParaRPr sz="3200">
              <a:solidFill>
                <a:schemeClr val="dk1"/>
              </a:solidFill>
              <a:latin typeface="Calibri"/>
              <a:ea typeface="Calibri"/>
              <a:cs typeface="Calibri"/>
              <a:sym typeface="Calibri"/>
            </a:endParaRPr>
          </a:p>
        </p:txBody>
      </p:sp>
      <p:sp>
        <p:nvSpPr>
          <p:cNvPr id="233" name="Google Shape;233;p9"/>
          <p:cNvSpPr/>
          <p:nvPr/>
        </p:nvSpPr>
        <p:spPr>
          <a:xfrm>
            <a:off x="9454896" y="5760720"/>
            <a:ext cx="224942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Audit Coverage</a:t>
            </a:r>
            <a:endParaRPr sz="1100">
              <a:solidFill>
                <a:schemeClr val="dk1"/>
              </a:solidFill>
              <a:latin typeface="Calibri"/>
              <a:ea typeface="Calibri"/>
              <a:cs typeface="Calibri"/>
              <a:sym typeface="Calibri"/>
            </a:endParaRPr>
          </a:p>
        </p:txBody>
      </p:sp>
      <p:sp>
        <p:nvSpPr>
          <p:cNvPr id="234" name="Google Shape;234;p9"/>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02  Database Design</a:t>
            </a:r>
            <a:endParaRPr sz="900">
              <a:solidFill>
                <a:schemeClr val="dk1"/>
              </a:solidFill>
              <a:latin typeface="Calibri"/>
              <a:ea typeface="Calibri"/>
              <a:cs typeface="Calibri"/>
              <a:sym typeface="Calibri"/>
            </a:endParaRPr>
          </a:p>
        </p:txBody>
      </p:sp>
      <p:sp>
        <p:nvSpPr>
          <p:cNvPr id="235" name="Google Shape;235;p9"/>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7</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pic>
        <p:nvPicPr>
          <p:cNvPr descr="preencoded.png" id="241" name="Google Shape;241;p10"/>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242" name="Google Shape;242;p10"/>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Core Entity-Relationship Diagram</a:t>
            </a:r>
            <a:endParaRPr sz="2800">
              <a:solidFill>
                <a:schemeClr val="dk1"/>
              </a:solidFill>
              <a:latin typeface="Calibri"/>
              <a:ea typeface="Calibri"/>
              <a:cs typeface="Calibri"/>
              <a:sym typeface="Calibri"/>
            </a:endParaRPr>
          </a:p>
        </p:txBody>
      </p:sp>
      <p:sp>
        <p:nvSpPr>
          <p:cNvPr id="243" name="Google Shape;243;p10"/>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Foreign keys connect every actor and document in the workflow</a:t>
            </a:r>
            <a:endParaRPr sz="1300">
              <a:solidFill>
                <a:schemeClr val="dk1"/>
              </a:solidFill>
              <a:latin typeface="Calibri"/>
              <a:ea typeface="Calibri"/>
              <a:cs typeface="Calibri"/>
              <a:sym typeface="Calibri"/>
            </a:endParaRPr>
          </a:p>
        </p:txBody>
      </p:sp>
      <p:sp>
        <p:nvSpPr>
          <p:cNvPr id="244" name="Google Shape;244;p10"/>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10"/>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Smit</a:t>
            </a:r>
            <a:endParaRPr/>
          </a:p>
        </p:txBody>
      </p:sp>
      <p:sp>
        <p:nvSpPr>
          <p:cNvPr id="246" name="Google Shape;246;p10"/>
          <p:cNvSpPr/>
          <p:nvPr/>
        </p:nvSpPr>
        <p:spPr>
          <a:xfrm>
            <a:off x="457200" y="1325880"/>
            <a:ext cx="182880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0"/>
          <p:cNvSpPr/>
          <p:nvPr/>
        </p:nvSpPr>
        <p:spPr>
          <a:xfrm>
            <a:off x="457200" y="1325880"/>
            <a:ext cx="182880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0"/>
          <p:cNvSpPr/>
          <p:nvPr/>
        </p:nvSpPr>
        <p:spPr>
          <a:xfrm>
            <a:off x="457200" y="1325880"/>
            <a:ext cx="18288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Departments</a:t>
            </a:r>
            <a:endParaRPr sz="1100">
              <a:solidFill>
                <a:schemeClr val="dk1"/>
              </a:solidFill>
              <a:latin typeface="Calibri"/>
              <a:ea typeface="Calibri"/>
              <a:cs typeface="Calibri"/>
              <a:sym typeface="Calibri"/>
            </a:endParaRPr>
          </a:p>
        </p:txBody>
      </p:sp>
      <p:sp>
        <p:nvSpPr>
          <p:cNvPr id="249" name="Google Shape;249;p10"/>
          <p:cNvSpPr/>
          <p:nvPr/>
        </p:nvSpPr>
        <p:spPr>
          <a:xfrm>
            <a:off x="548640" y="1655064"/>
            <a:ext cx="16459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dept_id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dept_name</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budget_allocated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budget_used</a:t>
            </a:r>
            <a:endParaRPr sz="900">
              <a:solidFill>
                <a:schemeClr val="dk1"/>
              </a:solidFill>
              <a:latin typeface="Calibri"/>
              <a:ea typeface="Calibri"/>
              <a:cs typeface="Calibri"/>
              <a:sym typeface="Calibri"/>
            </a:endParaRPr>
          </a:p>
        </p:txBody>
      </p:sp>
      <p:sp>
        <p:nvSpPr>
          <p:cNvPr id="250" name="Google Shape;250;p10"/>
          <p:cNvSpPr/>
          <p:nvPr/>
        </p:nvSpPr>
        <p:spPr>
          <a:xfrm>
            <a:off x="2606040" y="1325880"/>
            <a:ext cx="182880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0"/>
          <p:cNvSpPr/>
          <p:nvPr/>
        </p:nvSpPr>
        <p:spPr>
          <a:xfrm>
            <a:off x="2606040" y="1325880"/>
            <a:ext cx="182880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0"/>
          <p:cNvSpPr/>
          <p:nvPr/>
        </p:nvSpPr>
        <p:spPr>
          <a:xfrm>
            <a:off x="2606040" y="1325880"/>
            <a:ext cx="18288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Roles</a:t>
            </a:r>
            <a:endParaRPr sz="1100">
              <a:solidFill>
                <a:schemeClr val="dk1"/>
              </a:solidFill>
              <a:latin typeface="Calibri"/>
              <a:ea typeface="Calibri"/>
              <a:cs typeface="Calibri"/>
              <a:sym typeface="Calibri"/>
            </a:endParaRPr>
          </a:p>
        </p:txBody>
      </p:sp>
      <p:sp>
        <p:nvSpPr>
          <p:cNvPr id="253" name="Google Shape;253;p10"/>
          <p:cNvSpPr/>
          <p:nvPr/>
        </p:nvSpPr>
        <p:spPr>
          <a:xfrm>
            <a:off x="2697480" y="1655064"/>
            <a:ext cx="16459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role_id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role_name</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permissions</a:t>
            </a:r>
            <a:endParaRPr sz="900">
              <a:solidFill>
                <a:schemeClr val="dk1"/>
              </a:solidFill>
              <a:latin typeface="Calibri"/>
              <a:ea typeface="Calibri"/>
              <a:cs typeface="Calibri"/>
              <a:sym typeface="Calibri"/>
            </a:endParaRPr>
          </a:p>
        </p:txBody>
      </p:sp>
      <p:sp>
        <p:nvSpPr>
          <p:cNvPr id="254" name="Google Shape;254;p10"/>
          <p:cNvSpPr/>
          <p:nvPr/>
        </p:nvSpPr>
        <p:spPr>
          <a:xfrm>
            <a:off x="4846320" y="1325880"/>
            <a:ext cx="201168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0"/>
          <p:cNvSpPr/>
          <p:nvPr/>
        </p:nvSpPr>
        <p:spPr>
          <a:xfrm>
            <a:off x="4846320" y="1325880"/>
            <a:ext cx="201168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0"/>
          <p:cNvSpPr/>
          <p:nvPr/>
        </p:nvSpPr>
        <p:spPr>
          <a:xfrm>
            <a:off x="4846320" y="1325880"/>
            <a:ext cx="2011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Users</a:t>
            </a:r>
            <a:endParaRPr sz="1100">
              <a:solidFill>
                <a:schemeClr val="dk1"/>
              </a:solidFill>
              <a:latin typeface="Calibri"/>
              <a:ea typeface="Calibri"/>
              <a:cs typeface="Calibri"/>
              <a:sym typeface="Calibri"/>
            </a:endParaRPr>
          </a:p>
        </p:txBody>
      </p:sp>
      <p:sp>
        <p:nvSpPr>
          <p:cNvPr id="257" name="Google Shape;257;p10"/>
          <p:cNvSpPr/>
          <p:nvPr/>
        </p:nvSpPr>
        <p:spPr>
          <a:xfrm>
            <a:off x="4937760" y="1655064"/>
            <a:ext cx="1828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user_id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role_id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department_id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name, email</a:t>
            </a:r>
            <a:endParaRPr sz="900">
              <a:solidFill>
                <a:schemeClr val="dk1"/>
              </a:solidFill>
              <a:latin typeface="Calibri"/>
              <a:ea typeface="Calibri"/>
              <a:cs typeface="Calibri"/>
              <a:sym typeface="Calibri"/>
            </a:endParaRPr>
          </a:p>
        </p:txBody>
      </p:sp>
      <p:sp>
        <p:nvSpPr>
          <p:cNvPr id="258" name="Google Shape;258;p10"/>
          <p:cNvSpPr/>
          <p:nvPr/>
        </p:nvSpPr>
        <p:spPr>
          <a:xfrm>
            <a:off x="7269480" y="1325880"/>
            <a:ext cx="201168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0"/>
          <p:cNvSpPr/>
          <p:nvPr/>
        </p:nvSpPr>
        <p:spPr>
          <a:xfrm>
            <a:off x="7269480" y="1325880"/>
            <a:ext cx="201168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0"/>
          <p:cNvSpPr/>
          <p:nvPr/>
        </p:nvSpPr>
        <p:spPr>
          <a:xfrm>
            <a:off x="7269480" y="1325880"/>
            <a:ext cx="2011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Vendors</a:t>
            </a:r>
            <a:endParaRPr sz="1100">
              <a:solidFill>
                <a:schemeClr val="dk1"/>
              </a:solidFill>
              <a:latin typeface="Calibri"/>
              <a:ea typeface="Calibri"/>
              <a:cs typeface="Calibri"/>
              <a:sym typeface="Calibri"/>
            </a:endParaRPr>
          </a:p>
        </p:txBody>
      </p:sp>
      <p:sp>
        <p:nvSpPr>
          <p:cNvPr id="261" name="Google Shape;261;p10"/>
          <p:cNvSpPr/>
          <p:nvPr/>
        </p:nvSpPr>
        <p:spPr>
          <a:xfrm>
            <a:off x="7360920" y="1655064"/>
            <a:ext cx="1828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vendor_id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company_name</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contact, rating</a:t>
            </a:r>
            <a:endParaRPr sz="900">
              <a:solidFill>
                <a:schemeClr val="dk1"/>
              </a:solidFill>
              <a:latin typeface="Calibri"/>
              <a:ea typeface="Calibri"/>
              <a:cs typeface="Calibri"/>
              <a:sym typeface="Calibri"/>
            </a:endParaRPr>
          </a:p>
        </p:txBody>
      </p:sp>
      <p:sp>
        <p:nvSpPr>
          <p:cNvPr id="262" name="Google Shape;262;p10"/>
          <p:cNvSpPr/>
          <p:nvPr/>
        </p:nvSpPr>
        <p:spPr>
          <a:xfrm>
            <a:off x="9646920" y="1325880"/>
            <a:ext cx="205740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0"/>
          <p:cNvSpPr/>
          <p:nvPr/>
        </p:nvSpPr>
        <p:spPr>
          <a:xfrm>
            <a:off x="9646920" y="1325880"/>
            <a:ext cx="205740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0"/>
          <p:cNvSpPr/>
          <p:nvPr/>
        </p:nvSpPr>
        <p:spPr>
          <a:xfrm>
            <a:off x="9646920" y="1325880"/>
            <a:ext cx="20574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Contracts</a:t>
            </a:r>
            <a:endParaRPr sz="1100">
              <a:solidFill>
                <a:schemeClr val="dk1"/>
              </a:solidFill>
              <a:latin typeface="Calibri"/>
              <a:ea typeface="Calibri"/>
              <a:cs typeface="Calibri"/>
              <a:sym typeface="Calibri"/>
            </a:endParaRPr>
          </a:p>
        </p:txBody>
      </p:sp>
      <p:sp>
        <p:nvSpPr>
          <p:cNvPr id="265" name="Google Shape;265;p10"/>
          <p:cNvSpPr/>
          <p:nvPr/>
        </p:nvSpPr>
        <p:spPr>
          <a:xfrm>
            <a:off x="9738360" y="1655064"/>
            <a:ext cx="18745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contract_id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vendor_id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start, end, value</a:t>
            </a:r>
            <a:endParaRPr sz="900">
              <a:solidFill>
                <a:schemeClr val="dk1"/>
              </a:solidFill>
              <a:latin typeface="Calibri"/>
              <a:ea typeface="Calibri"/>
              <a:cs typeface="Calibri"/>
              <a:sym typeface="Calibri"/>
            </a:endParaRPr>
          </a:p>
        </p:txBody>
      </p:sp>
      <p:sp>
        <p:nvSpPr>
          <p:cNvPr id="266" name="Google Shape;266;p10"/>
          <p:cNvSpPr/>
          <p:nvPr/>
        </p:nvSpPr>
        <p:spPr>
          <a:xfrm>
            <a:off x="457200" y="2971800"/>
            <a:ext cx="228600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0"/>
          <p:cNvSpPr/>
          <p:nvPr/>
        </p:nvSpPr>
        <p:spPr>
          <a:xfrm>
            <a:off x="457200" y="2971800"/>
            <a:ext cx="228600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0"/>
          <p:cNvSpPr/>
          <p:nvPr/>
        </p:nvSpPr>
        <p:spPr>
          <a:xfrm>
            <a:off x="457200" y="2971800"/>
            <a:ext cx="2286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Purchase_Requests</a:t>
            </a:r>
            <a:endParaRPr sz="1100">
              <a:solidFill>
                <a:schemeClr val="dk1"/>
              </a:solidFill>
              <a:latin typeface="Calibri"/>
              <a:ea typeface="Calibri"/>
              <a:cs typeface="Calibri"/>
              <a:sym typeface="Calibri"/>
            </a:endParaRPr>
          </a:p>
        </p:txBody>
      </p:sp>
      <p:sp>
        <p:nvSpPr>
          <p:cNvPr id="269" name="Google Shape;269;p10"/>
          <p:cNvSpPr/>
          <p:nvPr/>
        </p:nvSpPr>
        <p:spPr>
          <a:xfrm>
            <a:off x="548640" y="3300984"/>
            <a:ext cx="21031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pr_id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employee_id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dept_id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status, est_cost</a:t>
            </a:r>
            <a:endParaRPr sz="900">
              <a:solidFill>
                <a:schemeClr val="dk1"/>
              </a:solidFill>
              <a:latin typeface="Calibri"/>
              <a:ea typeface="Calibri"/>
              <a:cs typeface="Calibri"/>
              <a:sym typeface="Calibri"/>
            </a:endParaRPr>
          </a:p>
        </p:txBody>
      </p:sp>
      <p:sp>
        <p:nvSpPr>
          <p:cNvPr id="270" name="Google Shape;270;p10"/>
          <p:cNvSpPr/>
          <p:nvPr/>
        </p:nvSpPr>
        <p:spPr>
          <a:xfrm>
            <a:off x="3063240" y="2971800"/>
            <a:ext cx="201168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0"/>
          <p:cNvSpPr/>
          <p:nvPr/>
        </p:nvSpPr>
        <p:spPr>
          <a:xfrm>
            <a:off x="3063240" y="2971800"/>
            <a:ext cx="201168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10"/>
          <p:cNvSpPr/>
          <p:nvPr/>
        </p:nvSpPr>
        <p:spPr>
          <a:xfrm>
            <a:off x="3063240" y="2971800"/>
            <a:ext cx="2011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PR_Approvals</a:t>
            </a:r>
            <a:endParaRPr sz="1100">
              <a:solidFill>
                <a:schemeClr val="dk1"/>
              </a:solidFill>
              <a:latin typeface="Calibri"/>
              <a:ea typeface="Calibri"/>
              <a:cs typeface="Calibri"/>
              <a:sym typeface="Calibri"/>
            </a:endParaRPr>
          </a:p>
        </p:txBody>
      </p:sp>
      <p:sp>
        <p:nvSpPr>
          <p:cNvPr id="273" name="Google Shape;273;p10"/>
          <p:cNvSpPr/>
          <p:nvPr/>
        </p:nvSpPr>
        <p:spPr>
          <a:xfrm>
            <a:off x="3154680" y="3300984"/>
            <a:ext cx="1828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approval_id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pr_id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manager_id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decision</a:t>
            </a:r>
            <a:endParaRPr sz="900">
              <a:solidFill>
                <a:schemeClr val="dk1"/>
              </a:solidFill>
              <a:latin typeface="Calibri"/>
              <a:ea typeface="Calibri"/>
              <a:cs typeface="Calibri"/>
              <a:sym typeface="Calibri"/>
            </a:endParaRPr>
          </a:p>
        </p:txBody>
      </p:sp>
      <p:sp>
        <p:nvSpPr>
          <p:cNvPr id="274" name="Google Shape;274;p10"/>
          <p:cNvSpPr/>
          <p:nvPr/>
        </p:nvSpPr>
        <p:spPr>
          <a:xfrm>
            <a:off x="5440680" y="2971800"/>
            <a:ext cx="201168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0"/>
          <p:cNvSpPr/>
          <p:nvPr/>
        </p:nvSpPr>
        <p:spPr>
          <a:xfrm>
            <a:off x="5440680" y="2971800"/>
            <a:ext cx="201168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0"/>
          <p:cNvSpPr/>
          <p:nvPr/>
        </p:nvSpPr>
        <p:spPr>
          <a:xfrm>
            <a:off x="5440680" y="2971800"/>
            <a:ext cx="2011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PR_Status_History</a:t>
            </a:r>
            <a:endParaRPr sz="1100">
              <a:solidFill>
                <a:schemeClr val="dk1"/>
              </a:solidFill>
              <a:latin typeface="Calibri"/>
              <a:ea typeface="Calibri"/>
              <a:cs typeface="Calibri"/>
              <a:sym typeface="Calibri"/>
            </a:endParaRPr>
          </a:p>
        </p:txBody>
      </p:sp>
      <p:sp>
        <p:nvSpPr>
          <p:cNvPr id="277" name="Google Shape;277;p10"/>
          <p:cNvSpPr/>
          <p:nvPr/>
        </p:nvSpPr>
        <p:spPr>
          <a:xfrm>
            <a:off x="5532120" y="3300984"/>
            <a:ext cx="1828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history_id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pr_id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old → new status</a:t>
            </a:r>
            <a:endParaRPr sz="900">
              <a:solidFill>
                <a:schemeClr val="dk1"/>
              </a:solidFill>
              <a:latin typeface="Calibri"/>
              <a:ea typeface="Calibri"/>
              <a:cs typeface="Calibri"/>
              <a:sym typeface="Calibri"/>
            </a:endParaRPr>
          </a:p>
        </p:txBody>
      </p:sp>
      <p:sp>
        <p:nvSpPr>
          <p:cNvPr id="278" name="Google Shape;278;p10"/>
          <p:cNvSpPr/>
          <p:nvPr/>
        </p:nvSpPr>
        <p:spPr>
          <a:xfrm>
            <a:off x="7818120" y="2971800"/>
            <a:ext cx="219456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0"/>
          <p:cNvSpPr/>
          <p:nvPr/>
        </p:nvSpPr>
        <p:spPr>
          <a:xfrm>
            <a:off x="7818120" y="2971800"/>
            <a:ext cx="219456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0"/>
          <p:cNvSpPr/>
          <p:nvPr/>
        </p:nvSpPr>
        <p:spPr>
          <a:xfrm>
            <a:off x="7818120" y="2971800"/>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Purchase_Orders</a:t>
            </a:r>
            <a:endParaRPr sz="1100">
              <a:solidFill>
                <a:schemeClr val="dk1"/>
              </a:solidFill>
              <a:latin typeface="Calibri"/>
              <a:ea typeface="Calibri"/>
              <a:cs typeface="Calibri"/>
              <a:sym typeface="Calibri"/>
            </a:endParaRPr>
          </a:p>
        </p:txBody>
      </p:sp>
      <p:sp>
        <p:nvSpPr>
          <p:cNvPr id="281" name="Google Shape;281;p10"/>
          <p:cNvSpPr/>
          <p:nvPr/>
        </p:nvSpPr>
        <p:spPr>
          <a:xfrm>
            <a:off x="7909560" y="3300984"/>
            <a:ext cx="20116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po_id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pr_id, vendor_id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total, status</a:t>
            </a:r>
            <a:endParaRPr sz="900">
              <a:solidFill>
                <a:schemeClr val="dk1"/>
              </a:solidFill>
              <a:latin typeface="Calibri"/>
              <a:ea typeface="Calibri"/>
              <a:cs typeface="Calibri"/>
              <a:sym typeface="Calibri"/>
            </a:endParaRPr>
          </a:p>
        </p:txBody>
      </p:sp>
      <p:sp>
        <p:nvSpPr>
          <p:cNvPr id="282" name="Google Shape;282;p10"/>
          <p:cNvSpPr/>
          <p:nvPr/>
        </p:nvSpPr>
        <p:spPr>
          <a:xfrm>
            <a:off x="10332720" y="2971800"/>
            <a:ext cx="141732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0"/>
          <p:cNvSpPr/>
          <p:nvPr/>
        </p:nvSpPr>
        <p:spPr>
          <a:xfrm>
            <a:off x="10332720" y="2971800"/>
            <a:ext cx="141732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0"/>
          <p:cNvSpPr/>
          <p:nvPr/>
        </p:nvSpPr>
        <p:spPr>
          <a:xfrm>
            <a:off x="10332720" y="2971800"/>
            <a:ext cx="14173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PO_Line_Items</a:t>
            </a:r>
            <a:endParaRPr sz="1100">
              <a:solidFill>
                <a:schemeClr val="dk1"/>
              </a:solidFill>
              <a:latin typeface="Calibri"/>
              <a:ea typeface="Calibri"/>
              <a:cs typeface="Calibri"/>
              <a:sym typeface="Calibri"/>
            </a:endParaRPr>
          </a:p>
        </p:txBody>
      </p:sp>
      <p:sp>
        <p:nvSpPr>
          <p:cNvPr id="285" name="Google Shape;285;p10"/>
          <p:cNvSpPr/>
          <p:nvPr/>
        </p:nvSpPr>
        <p:spPr>
          <a:xfrm>
            <a:off x="10424160" y="3300984"/>
            <a:ext cx="12344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line_id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po_id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qty, price</a:t>
            </a:r>
            <a:endParaRPr sz="900">
              <a:solidFill>
                <a:schemeClr val="dk1"/>
              </a:solidFill>
              <a:latin typeface="Calibri"/>
              <a:ea typeface="Calibri"/>
              <a:cs typeface="Calibri"/>
              <a:sym typeface="Calibri"/>
            </a:endParaRPr>
          </a:p>
        </p:txBody>
      </p:sp>
      <p:sp>
        <p:nvSpPr>
          <p:cNvPr id="286" name="Google Shape;286;p10"/>
          <p:cNvSpPr/>
          <p:nvPr/>
        </p:nvSpPr>
        <p:spPr>
          <a:xfrm>
            <a:off x="457200" y="4617720"/>
            <a:ext cx="210312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0"/>
          <p:cNvSpPr/>
          <p:nvPr/>
        </p:nvSpPr>
        <p:spPr>
          <a:xfrm>
            <a:off x="457200" y="4617720"/>
            <a:ext cx="210312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0"/>
          <p:cNvSpPr/>
          <p:nvPr/>
        </p:nvSpPr>
        <p:spPr>
          <a:xfrm>
            <a:off x="457200" y="4617720"/>
            <a:ext cx="21031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Goods_Receipt</a:t>
            </a:r>
            <a:endParaRPr sz="1100">
              <a:solidFill>
                <a:schemeClr val="dk1"/>
              </a:solidFill>
              <a:latin typeface="Calibri"/>
              <a:ea typeface="Calibri"/>
              <a:cs typeface="Calibri"/>
              <a:sym typeface="Calibri"/>
            </a:endParaRPr>
          </a:p>
        </p:txBody>
      </p:sp>
      <p:sp>
        <p:nvSpPr>
          <p:cNvPr id="289" name="Google Shape;289;p10"/>
          <p:cNvSpPr/>
          <p:nvPr/>
        </p:nvSpPr>
        <p:spPr>
          <a:xfrm>
            <a:off x="548640" y="494690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gr_id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po_id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qty_received</a:t>
            </a:r>
            <a:endParaRPr sz="900">
              <a:solidFill>
                <a:schemeClr val="dk1"/>
              </a:solidFill>
              <a:latin typeface="Calibri"/>
              <a:ea typeface="Calibri"/>
              <a:cs typeface="Calibri"/>
              <a:sym typeface="Calibri"/>
            </a:endParaRPr>
          </a:p>
        </p:txBody>
      </p:sp>
      <p:sp>
        <p:nvSpPr>
          <p:cNvPr id="290" name="Google Shape;290;p10"/>
          <p:cNvSpPr/>
          <p:nvPr/>
        </p:nvSpPr>
        <p:spPr>
          <a:xfrm>
            <a:off x="2880360" y="4617720"/>
            <a:ext cx="210312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0"/>
          <p:cNvSpPr/>
          <p:nvPr/>
        </p:nvSpPr>
        <p:spPr>
          <a:xfrm>
            <a:off x="2880360" y="4617720"/>
            <a:ext cx="210312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0"/>
          <p:cNvSpPr/>
          <p:nvPr/>
        </p:nvSpPr>
        <p:spPr>
          <a:xfrm>
            <a:off x="2880360" y="4617720"/>
            <a:ext cx="21031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Invoices</a:t>
            </a:r>
            <a:endParaRPr sz="1100">
              <a:solidFill>
                <a:schemeClr val="dk1"/>
              </a:solidFill>
              <a:latin typeface="Calibri"/>
              <a:ea typeface="Calibri"/>
              <a:cs typeface="Calibri"/>
              <a:sym typeface="Calibri"/>
            </a:endParaRPr>
          </a:p>
        </p:txBody>
      </p:sp>
      <p:sp>
        <p:nvSpPr>
          <p:cNvPr id="293" name="Google Shape;293;p10"/>
          <p:cNvSpPr/>
          <p:nvPr/>
        </p:nvSpPr>
        <p:spPr>
          <a:xfrm>
            <a:off x="2971800" y="494690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invoice_id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po_id, vendor_id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amount, status</a:t>
            </a:r>
            <a:endParaRPr sz="900">
              <a:solidFill>
                <a:schemeClr val="dk1"/>
              </a:solidFill>
              <a:latin typeface="Calibri"/>
              <a:ea typeface="Calibri"/>
              <a:cs typeface="Calibri"/>
              <a:sym typeface="Calibri"/>
            </a:endParaRPr>
          </a:p>
        </p:txBody>
      </p:sp>
      <p:sp>
        <p:nvSpPr>
          <p:cNvPr id="294" name="Google Shape;294;p10"/>
          <p:cNvSpPr/>
          <p:nvPr/>
        </p:nvSpPr>
        <p:spPr>
          <a:xfrm>
            <a:off x="5303520" y="4617720"/>
            <a:ext cx="210312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0"/>
          <p:cNvSpPr/>
          <p:nvPr/>
        </p:nvSpPr>
        <p:spPr>
          <a:xfrm>
            <a:off x="5303520" y="4617720"/>
            <a:ext cx="210312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0"/>
          <p:cNvSpPr/>
          <p:nvPr/>
        </p:nvSpPr>
        <p:spPr>
          <a:xfrm>
            <a:off x="5303520" y="4617720"/>
            <a:ext cx="21031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Payments</a:t>
            </a:r>
            <a:endParaRPr sz="1100">
              <a:solidFill>
                <a:schemeClr val="dk1"/>
              </a:solidFill>
              <a:latin typeface="Calibri"/>
              <a:ea typeface="Calibri"/>
              <a:cs typeface="Calibri"/>
              <a:sym typeface="Calibri"/>
            </a:endParaRPr>
          </a:p>
        </p:txBody>
      </p:sp>
      <p:sp>
        <p:nvSpPr>
          <p:cNvPr id="297" name="Google Shape;297;p10"/>
          <p:cNvSpPr/>
          <p:nvPr/>
        </p:nvSpPr>
        <p:spPr>
          <a:xfrm>
            <a:off x="5394960" y="494690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payment_id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invoice_id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amount, method</a:t>
            </a:r>
            <a:endParaRPr sz="900">
              <a:solidFill>
                <a:schemeClr val="dk1"/>
              </a:solidFill>
              <a:latin typeface="Calibri"/>
              <a:ea typeface="Calibri"/>
              <a:cs typeface="Calibri"/>
              <a:sym typeface="Calibri"/>
            </a:endParaRPr>
          </a:p>
        </p:txBody>
      </p:sp>
      <p:sp>
        <p:nvSpPr>
          <p:cNvPr id="298" name="Google Shape;298;p10"/>
          <p:cNvSpPr/>
          <p:nvPr/>
        </p:nvSpPr>
        <p:spPr>
          <a:xfrm>
            <a:off x="7726680" y="4617720"/>
            <a:ext cx="210312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0"/>
          <p:cNvSpPr/>
          <p:nvPr/>
        </p:nvSpPr>
        <p:spPr>
          <a:xfrm>
            <a:off x="7726680" y="4617720"/>
            <a:ext cx="210312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0"/>
          <p:cNvSpPr/>
          <p:nvPr/>
        </p:nvSpPr>
        <p:spPr>
          <a:xfrm>
            <a:off x="7726680" y="4617720"/>
            <a:ext cx="21031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Budget_Transactions</a:t>
            </a:r>
            <a:endParaRPr sz="1100">
              <a:solidFill>
                <a:schemeClr val="dk1"/>
              </a:solidFill>
              <a:latin typeface="Calibri"/>
              <a:ea typeface="Calibri"/>
              <a:cs typeface="Calibri"/>
              <a:sym typeface="Calibri"/>
            </a:endParaRPr>
          </a:p>
        </p:txBody>
      </p:sp>
      <p:sp>
        <p:nvSpPr>
          <p:cNvPr id="301" name="Google Shape;301;p10"/>
          <p:cNvSpPr/>
          <p:nvPr/>
        </p:nvSpPr>
        <p:spPr>
          <a:xfrm>
            <a:off x="7818120" y="494690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txn_id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dept_id, po_id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amount, type</a:t>
            </a:r>
            <a:endParaRPr sz="900">
              <a:solidFill>
                <a:schemeClr val="dk1"/>
              </a:solidFill>
              <a:latin typeface="Calibri"/>
              <a:ea typeface="Calibri"/>
              <a:cs typeface="Calibri"/>
              <a:sym typeface="Calibri"/>
            </a:endParaRPr>
          </a:p>
        </p:txBody>
      </p:sp>
      <p:sp>
        <p:nvSpPr>
          <p:cNvPr id="302" name="Google Shape;302;p10"/>
          <p:cNvSpPr/>
          <p:nvPr/>
        </p:nvSpPr>
        <p:spPr>
          <a:xfrm>
            <a:off x="10012680" y="4617720"/>
            <a:ext cx="1737360" cy="1188720"/>
          </a:xfrm>
          <a:prstGeom prst="rect">
            <a:avLst/>
          </a:prstGeom>
          <a:solidFill>
            <a:srgbClr val="F8FAFC"/>
          </a:solidFill>
          <a:ln cap="flat" cmpd="sng" w="15875">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0"/>
          <p:cNvSpPr/>
          <p:nvPr/>
        </p:nvSpPr>
        <p:spPr>
          <a:xfrm>
            <a:off x="10012680" y="4617720"/>
            <a:ext cx="1737360" cy="292608"/>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10"/>
          <p:cNvSpPr/>
          <p:nvPr/>
        </p:nvSpPr>
        <p:spPr>
          <a:xfrm>
            <a:off x="10012680" y="4617720"/>
            <a:ext cx="17373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Audit_Log</a:t>
            </a:r>
            <a:endParaRPr sz="1100">
              <a:solidFill>
                <a:schemeClr val="dk1"/>
              </a:solidFill>
              <a:latin typeface="Calibri"/>
              <a:ea typeface="Calibri"/>
              <a:cs typeface="Calibri"/>
              <a:sym typeface="Calibri"/>
            </a:endParaRPr>
          </a:p>
        </p:txBody>
      </p:sp>
      <p:sp>
        <p:nvSpPr>
          <p:cNvPr id="305" name="Google Shape;305;p10"/>
          <p:cNvSpPr/>
          <p:nvPr/>
        </p:nvSpPr>
        <p:spPr>
          <a:xfrm>
            <a:off x="10104120" y="4946904"/>
            <a:ext cx="15544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900"/>
              <a:buFont typeface="Consolas"/>
              <a:buNone/>
            </a:pPr>
            <a:r>
              <a:rPr b="1" lang="en-US" sz="900">
                <a:solidFill>
                  <a:srgbClr val="D4AF37"/>
                </a:solidFill>
                <a:latin typeface="Consolas"/>
                <a:ea typeface="Consolas"/>
                <a:cs typeface="Consolas"/>
                <a:sym typeface="Consolas"/>
              </a:rPr>
              <a:t>PK  log_id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900"/>
              <a:buFont typeface="Consolas"/>
              <a:buNone/>
            </a:pPr>
            <a:r>
              <a:rPr b="1" lang="en-US" sz="900">
                <a:solidFill>
                  <a:srgbClr val="1E2761"/>
                </a:solidFill>
                <a:latin typeface="Consolas"/>
                <a:ea typeface="Consolas"/>
                <a:cs typeface="Consolas"/>
                <a:sym typeface="Consolas"/>
              </a:rPr>
              <a:t>FK  user_id</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900"/>
              <a:buFont typeface="Consolas"/>
              <a:buNone/>
            </a:pPr>
            <a:r>
              <a:rPr lang="en-US" sz="900">
                <a:solidFill>
                  <a:srgbClr val="1A1F36"/>
                </a:solidFill>
                <a:latin typeface="Consolas"/>
                <a:ea typeface="Consolas"/>
                <a:cs typeface="Consolas"/>
                <a:sym typeface="Consolas"/>
              </a:rPr>
              <a:t>    action, ip</a:t>
            </a:r>
            <a:endParaRPr sz="900">
              <a:solidFill>
                <a:schemeClr val="dk1"/>
              </a:solidFill>
              <a:latin typeface="Calibri"/>
              <a:ea typeface="Calibri"/>
              <a:cs typeface="Calibri"/>
              <a:sym typeface="Calibri"/>
            </a:endParaRPr>
          </a:p>
        </p:txBody>
      </p:sp>
      <p:cxnSp>
        <p:nvCxnSpPr>
          <p:cNvPr id="306" name="Google Shape;306;p10"/>
          <p:cNvCxnSpPr/>
          <p:nvPr/>
        </p:nvCxnSpPr>
        <p:spPr>
          <a:xfrm>
            <a:off x="4434840" y="1920240"/>
            <a:ext cx="411480" cy="0"/>
          </a:xfrm>
          <a:prstGeom prst="straightConnector1">
            <a:avLst/>
          </a:prstGeom>
          <a:noFill/>
          <a:ln cap="flat" cmpd="sng" w="9525">
            <a:solidFill>
              <a:srgbClr val="CADCFC"/>
            </a:solidFill>
            <a:prstDash val="solid"/>
            <a:round/>
            <a:headEnd len="sm" w="sm" type="none"/>
            <a:tailEnd len="sm" w="sm" type="none"/>
          </a:ln>
        </p:spPr>
      </p:cxnSp>
      <p:cxnSp>
        <p:nvCxnSpPr>
          <p:cNvPr id="307" name="Google Shape;307;p10"/>
          <p:cNvCxnSpPr/>
          <p:nvPr/>
        </p:nvCxnSpPr>
        <p:spPr>
          <a:xfrm>
            <a:off x="2286000" y="1920240"/>
            <a:ext cx="2560320" cy="0"/>
          </a:xfrm>
          <a:prstGeom prst="straightConnector1">
            <a:avLst/>
          </a:prstGeom>
          <a:noFill/>
          <a:ln cap="flat" cmpd="sng" w="9525">
            <a:solidFill>
              <a:srgbClr val="CADCFC"/>
            </a:solidFill>
            <a:prstDash val="solid"/>
            <a:round/>
            <a:headEnd len="sm" w="sm" type="none"/>
            <a:tailEnd len="sm" w="sm" type="none"/>
          </a:ln>
        </p:spPr>
      </p:cxnSp>
      <p:cxnSp>
        <p:nvCxnSpPr>
          <p:cNvPr id="308" name="Google Shape;308;p10"/>
          <p:cNvCxnSpPr/>
          <p:nvPr/>
        </p:nvCxnSpPr>
        <p:spPr>
          <a:xfrm>
            <a:off x="5852160" y="2514600"/>
            <a:ext cx="0" cy="457200"/>
          </a:xfrm>
          <a:prstGeom prst="straightConnector1">
            <a:avLst/>
          </a:prstGeom>
          <a:noFill/>
          <a:ln cap="flat" cmpd="sng" w="9525">
            <a:solidFill>
              <a:srgbClr val="CADCFC"/>
            </a:solidFill>
            <a:prstDash val="solid"/>
            <a:round/>
            <a:headEnd len="sm" w="sm" type="none"/>
            <a:tailEnd len="sm" w="sm" type="none"/>
          </a:ln>
        </p:spPr>
      </p:cxnSp>
      <p:cxnSp>
        <p:nvCxnSpPr>
          <p:cNvPr id="309" name="Google Shape;309;p10"/>
          <p:cNvCxnSpPr/>
          <p:nvPr/>
        </p:nvCxnSpPr>
        <p:spPr>
          <a:xfrm>
            <a:off x="1371600" y="2514600"/>
            <a:ext cx="228600" cy="457200"/>
          </a:xfrm>
          <a:prstGeom prst="straightConnector1">
            <a:avLst/>
          </a:prstGeom>
          <a:noFill/>
          <a:ln cap="flat" cmpd="sng" w="9525">
            <a:solidFill>
              <a:srgbClr val="CADCFC"/>
            </a:solidFill>
            <a:prstDash val="solid"/>
            <a:round/>
            <a:headEnd len="sm" w="sm" type="none"/>
            <a:tailEnd len="sm" w="sm" type="none"/>
          </a:ln>
        </p:spPr>
      </p:cxnSp>
      <p:cxnSp>
        <p:nvCxnSpPr>
          <p:cNvPr id="310" name="Google Shape;310;p10"/>
          <p:cNvCxnSpPr/>
          <p:nvPr/>
        </p:nvCxnSpPr>
        <p:spPr>
          <a:xfrm>
            <a:off x="2743200" y="3566160"/>
            <a:ext cx="320040" cy="0"/>
          </a:xfrm>
          <a:prstGeom prst="straightConnector1">
            <a:avLst/>
          </a:prstGeom>
          <a:noFill/>
          <a:ln cap="flat" cmpd="sng" w="9525">
            <a:solidFill>
              <a:srgbClr val="CADCFC"/>
            </a:solidFill>
            <a:prstDash val="solid"/>
            <a:round/>
            <a:headEnd len="sm" w="sm" type="none"/>
            <a:tailEnd len="sm" w="sm" type="none"/>
          </a:ln>
        </p:spPr>
      </p:cxnSp>
      <p:cxnSp>
        <p:nvCxnSpPr>
          <p:cNvPr id="311" name="Google Shape;311;p10"/>
          <p:cNvCxnSpPr/>
          <p:nvPr/>
        </p:nvCxnSpPr>
        <p:spPr>
          <a:xfrm>
            <a:off x="2743200" y="3749040"/>
            <a:ext cx="2697480" cy="0"/>
          </a:xfrm>
          <a:prstGeom prst="straightConnector1">
            <a:avLst/>
          </a:prstGeom>
          <a:noFill/>
          <a:ln cap="flat" cmpd="sng" w="9525">
            <a:solidFill>
              <a:srgbClr val="CADCFC"/>
            </a:solidFill>
            <a:prstDash val="solid"/>
            <a:round/>
            <a:headEnd len="sm" w="sm" type="none"/>
            <a:tailEnd len="sm" w="sm" type="none"/>
          </a:ln>
        </p:spPr>
      </p:cxnSp>
      <p:cxnSp>
        <p:nvCxnSpPr>
          <p:cNvPr id="312" name="Google Shape;312;p10"/>
          <p:cNvCxnSpPr/>
          <p:nvPr/>
        </p:nvCxnSpPr>
        <p:spPr>
          <a:xfrm>
            <a:off x="2743200" y="3246120"/>
            <a:ext cx="5074920" cy="0"/>
          </a:xfrm>
          <a:prstGeom prst="straightConnector1">
            <a:avLst/>
          </a:prstGeom>
          <a:noFill/>
          <a:ln cap="flat" cmpd="sng" w="9525">
            <a:solidFill>
              <a:srgbClr val="CADCFC"/>
            </a:solidFill>
            <a:prstDash val="solid"/>
            <a:round/>
            <a:headEnd len="sm" w="sm" type="none"/>
            <a:tailEnd len="sm" w="sm" type="none"/>
          </a:ln>
        </p:spPr>
      </p:cxnSp>
      <p:cxnSp>
        <p:nvCxnSpPr>
          <p:cNvPr id="313" name="Google Shape;313;p10"/>
          <p:cNvCxnSpPr/>
          <p:nvPr/>
        </p:nvCxnSpPr>
        <p:spPr>
          <a:xfrm>
            <a:off x="8275320" y="2514600"/>
            <a:ext cx="640080" cy="457200"/>
          </a:xfrm>
          <a:prstGeom prst="straightConnector1">
            <a:avLst/>
          </a:prstGeom>
          <a:noFill/>
          <a:ln cap="flat" cmpd="sng" w="9525">
            <a:solidFill>
              <a:srgbClr val="CADCFC"/>
            </a:solidFill>
            <a:prstDash val="solid"/>
            <a:round/>
            <a:headEnd len="sm" w="sm" type="none"/>
            <a:tailEnd len="sm" w="sm" type="none"/>
          </a:ln>
        </p:spPr>
      </p:cxnSp>
      <p:cxnSp>
        <p:nvCxnSpPr>
          <p:cNvPr id="314" name="Google Shape;314;p10"/>
          <p:cNvCxnSpPr/>
          <p:nvPr/>
        </p:nvCxnSpPr>
        <p:spPr>
          <a:xfrm>
            <a:off x="10058400" y="1920240"/>
            <a:ext cx="0" cy="0"/>
          </a:xfrm>
          <a:prstGeom prst="straightConnector1">
            <a:avLst/>
          </a:prstGeom>
          <a:noFill/>
          <a:ln cap="flat" cmpd="sng" w="9525">
            <a:solidFill>
              <a:srgbClr val="CADCFC"/>
            </a:solidFill>
            <a:prstDash val="solid"/>
            <a:round/>
            <a:headEnd len="sm" w="sm" type="none"/>
            <a:tailEnd len="sm" w="sm" type="none"/>
          </a:ln>
        </p:spPr>
      </p:cxnSp>
      <p:cxnSp>
        <p:nvCxnSpPr>
          <p:cNvPr id="315" name="Google Shape;315;p10"/>
          <p:cNvCxnSpPr/>
          <p:nvPr/>
        </p:nvCxnSpPr>
        <p:spPr>
          <a:xfrm>
            <a:off x="10012680" y="3566160"/>
            <a:ext cx="320040" cy="0"/>
          </a:xfrm>
          <a:prstGeom prst="straightConnector1">
            <a:avLst/>
          </a:prstGeom>
          <a:noFill/>
          <a:ln cap="flat" cmpd="sng" w="9525">
            <a:solidFill>
              <a:srgbClr val="CADCFC"/>
            </a:solidFill>
            <a:prstDash val="solid"/>
            <a:round/>
            <a:headEnd len="sm" w="sm" type="none"/>
            <a:tailEnd len="sm" w="sm" type="none"/>
          </a:ln>
        </p:spPr>
      </p:cxnSp>
      <p:cxnSp>
        <p:nvCxnSpPr>
          <p:cNvPr id="316" name="Google Shape;316;p10"/>
          <p:cNvCxnSpPr/>
          <p:nvPr/>
        </p:nvCxnSpPr>
        <p:spPr>
          <a:xfrm>
            <a:off x="8915400" y="4160520"/>
            <a:ext cx="0" cy="457200"/>
          </a:xfrm>
          <a:prstGeom prst="straightConnector1">
            <a:avLst/>
          </a:prstGeom>
          <a:noFill/>
          <a:ln cap="flat" cmpd="sng" w="9525">
            <a:solidFill>
              <a:srgbClr val="CADCFC"/>
            </a:solidFill>
            <a:prstDash val="solid"/>
            <a:round/>
            <a:headEnd len="sm" w="sm" type="none"/>
            <a:tailEnd len="sm" w="sm" type="none"/>
          </a:ln>
        </p:spPr>
      </p:cxnSp>
      <p:cxnSp>
        <p:nvCxnSpPr>
          <p:cNvPr id="317" name="Google Shape;317;p10"/>
          <p:cNvCxnSpPr/>
          <p:nvPr/>
        </p:nvCxnSpPr>
        <p:spPr>
          <a:xfrm>
            <a:off x="8915400" y="4160520"/>
            <a:ext cx="0" cy="457200"/>
          </a:xfrm>
          <a:prstGeom prst="straightConnector1">
            <a:avLst/>
          </a:prstGeom>
          <a:noFill/>
          <a:ln cap="flat" cmpd="sng" w="9525">
            <a:solidFill>
              <a:srgbClr val="CADCFC"/>
            </a:solidFill>
            <a:prstDash val="solid"/>
            <a:round/>
            <a:headEnd len="sm" w="sm" type="none"/>
            <a:tailEnd len="sm" w="sm" type="none"/>
          </a:ln>
        </p:spPr>
      </p:cxnSp>
      <p:cxnSp>
        <p:nvCxnSpPr>
          <p:cNvPr id="318" name="Google Shape;318;p10"/>
          <p:cNvCxnSpPr/>
          <p:nvPr/>
        </p:nvCxnSpPr>
        <p:spPr>
          <a:xfrm>
            <a:off x="4983480" y="5212080"/>
            <a:ext cx="320040" cy="0"/>
          </a:xfrm>
          <a:prstGeom prst="straightConnector1">
            <a:avLst/>
          </a:prstGeom>
          <a:noFill/>
          <a:ln cap="flat" cmpd="sng" w="9525">
            <a:solidFill>
              <a:srgbClr val="CADCFC"/>
            </a:solidFill>
            <a:prstDash val="solid"/>
            <a:round/>
            <a:headEnd len="sm" w="sm" type="none"/>
            <a:tailEnd len="sm" w="sm" type="none"/>
          </a:ln>
        </p:spPr>
      </p:cxnSp>
      <p:cxnSp>
        <p:nvCxnSpPr>
          <p:cNvPr id="319" name="Google Shape;319;p10"/>
          <p:cNvCxnSpPr/>
          <p:nvPr/>
        </p:nvCxnSpPr>
        <p:spPr>
          <a:xfrm>
            <a:off x="8915400" y="4160520"/>
            <a:ext cx="0" cy="457200"/>
          </a:xfrm>
          <a:prstGeom prst="straightConnector1">
            <a:avLst/>
          </a:prstGeom>
          <a:noFill/>
          <a:ln cap="flat" cmpd="sng" w="9525">
            <a:solidFill>
              <a:srgbClr val="CADCFC"/>
            </a:solidFill>
            <a:prstDash val="solid"/>
            <a:round/>
            <a:headEnd len="sm" w="sm" type="none"/>
            <a:tailEnd len="sm" w="sm" type="none"/>
          </a:ln>
        </p:spPr>
      </p:cxnSp>
      <p:cxnSp>
        <p:nvCxnSpPr>
          <p:cNvPr id="320" name="Google Shape;320;p10"/>
          <p:cNvCxnSpPr/>
          <p:nvPr/>
        </p:nvCxnSpPr>
        <p:spPr>
          <a:xfrm>
            <a:off x="5852160" y="2514600"/>
            <a:ext cx="5029200" cy="2103120"/>
          </a:xfrm>
          <a:prstGeom prst="straightConnector1">
            <a:avLst/>
          </a:prstGeom>
          <a:noFill/>
          <a:ln cap="flat" cmpd="sng" w="9525">
            <a:solidFill>
              <a:srgbClr val="CADCFC"/>
            </a:solidFill>
            <a:prstDash val="solid"/>
            <a:round/>
            <a:headEnd len="sm" w="sm" type="none"/>
            <a:tailEnd len="sm" w="sm" type="none"/>
          </a:ln>
        </p:spPr>
      </p:cxnSp>
      <p:sp>
        <p:nvSpPr>
          <p:cNvPr id="321" name="Google Shape;321;p10"/>
          <p:cNvSpPr/>
          <p:nvPr/>
        </p:nvSpPr>
        <p:spPr>
          <a:xfrm>
            <a:off x="457200" y="5989320"/>
            <a:ext cx="11247120" cy="365760"/>
          </a:xfrm>
          <a:prstGeom prst="rect">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0"/>
          <p:cNvSpPr/>
          <p:nvPr/>
        </p:nvSpPr>
        <p:spPr>
          <a:xfrm>
            <a:off x="640080" y="5989320"/>
            <a:ext cx="10881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100"/>
              <a:buFont typeface="Consolas"/>
              <a:buNone/>
            </a:pPr>
            <a:r>
              <a:rPr b="1" lang="en-US" sz="1100">
                <a:solidFill>
                  <a:srgbClr val="D4AF37"/>
                </a:solidFill>
                <a:latin typeface="Consolas"/>
                <a:ea typeface="Consolas"/>
                <a:cs typeface="Consolas"/>
                <a:sym typeface="Consolas"/>
              </a:rPr>
              <a:t>PK</a:t>
            </a:r>
            <a:r>
              <a:rPr lang="en-US" sz="1100">
                <a:solidFill>
                  <a:srgbClr val="1A1F36"/>
                </a:solidFill>
                <a:latin typeface="Calibri"/>
                <a:ea typeface="Calibri"/>
                <a:cs typeface="Calibri"/>
                <a:sym typeface="Calibri"/>
              </a:rPr>
              <a:t> Primary Key      </a:t>
            </a:r>
            <a:r>
              <a:rPr b="1" lang="en-US" sz="1100">
                <a:solidFill>
                  <a:srgbClr val="1E2761"/>
                </a:solidFill>
                <a:latin typeface="Consolas"/>
                <a:ea typeface="Consolas"/>
                <a:cs typeface="Consolas"/>
                <a:sym typeface="Consolas"/>
              </a:rPr>
              <a:t>FK</a:t>
            </a:r>
            <a:r>
              <a:rPr lang="en-US" sz="1100">
                <a:solidFill>
                  <a:srgbClr val="1A1F36"/>
                </a:solidFill>
                <a:latin typeface="Calibri"/>
                <a:ea typeface="Calibri"/>
                <a:cs typeface="Calibri"/>
                <a:sym typeface="Calibri"/>
              </a:rPr>
              <a:t> Foreign Key      </a:t>
            </a:r>
            <a:r>
              <a:rPr i="1" lang="en-US" sz="1100">
                <a:solidFill>
                  <a:srgbClr val="475569"/>
                </a:solidFill>
                <a:latin typeface="Calibri"/>
                <a:ea typeface="Calibri"/>
                <a:cs typeface="Calibri"/>
                <a:sym typeface="Calibri"/>
              </a:rPr>
              <a:t>Lines indicate relationships (1:N or 1:1) between entities</a:t>
            </a:r>
            <a:endParaRPr sz="1100">
              <a:solidFill>
                <a:schemeClr val="dk1"/>
              </a:solidFill>
              <a:latin typeface="Calibri"/>
              <a:ea typeface="Calibri"/>
              <a:cs typeface="Calibri"/>
              <a:sym typeface="Calibri"/>
            </a:endParaRPr>
          </a:p>
        </p:txBody>
      </p:sp>
      <p:sp>
        <p:nvSpPr>
          <p:cNvPr id="323" name="Google Shape;323;p10"/>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02  Database Design</a:t>
            </a:r>
            <a:endParaRPr sz="900">
              <a:solidFill>
                <a:schemeClr val="dk1"/>
              </a:solidFill>
              <a:latin typeface="Calibri"/>
              <a:ea typeface="Calibri"/>
              <a:cs typeface="Calibri"/>
              <a:sym typeface="Calibri"/>
            </a:endParaRPr>
          </a:p>
        </p:txBody>
      </p:sp>
      <p:sp>
        <p:nvSpPr>
          <p:cNvPr id="324" name="Google Shape;324;p10"/>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8</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pic>
        <p:nvPicPr>
          <p:cNvPr descr="preencoded.png" id="330" name="Google Shape;330;p11"/>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331" name="Google Shape;331;p11"/>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Key Design Decisions</a:t>
            </a:r>
            <a:endParaRPr sz="2800">
              <a:solidFill>
                <a:schemeClr val="dk1"/>
              </a:solidFill>
              <a:latin typeface="Calibri"/>
              <a:ea typeface="Calibri"/>
              <a:cs typeface="Calibri"/>
              <a:sym typeface="Calibri"/>
            </a:endParaRPr>
          </a:p>
        </p:txBody>
      </p:sp>
      <p:sp>
        <p:nvSpPr>
          <p:cNvPr id="332" name="Google Shape;332;p11"/>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Why the schema is structured the way it is</a:t>
            </a:r>
            <a:endParaRPr sz="1300">
              <a:solidFill>
                <a:schemeClr val="dk1"/>
              </a:solidFill>
              <a:latin typeface="Calibri"/>
              <a:ea typeface="Calibri"/>
              <a:cs typeface="Calibri"/>
              <a:sym typeface="Calibri"/>
            </a:endParaRPr>
          </a:p>
        </p:txBody>
      </p:sp>
      <p:sp>
        <p:nvSpPr>
          <p:cNvPr id="333" name="Google Shape;333;p11"/>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1"/>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Smit</a:t>
            </a:r>
            <a:endParaRPr sz="1100">
              <a:solidFill>
                <a:schemeClr val="dk1"/>
              </a:solidFill>
              <a:latin typeface="Calibri"/>
              <a:ea typeface="Calibri"/>
              <a:cs typeface="Calibri"/>
              <a:sym typeface="Calibri"/>
            </a:endParaRPr>
          </a:p>
        </p:txBody>
      </p:sp>
      <p:sp>
        <p:nvSpPr>
          <p:cNvPr id="335" name="Google Shape;335;p11"/>
          <p:cNvSpPr/>
          <p:nvPr/>
        </p:nvSpPr>
        <p:spPr>
          <a:xfrm>
            <a:off x="457200" y="1417320"/>
            <a:ext cx="5486400" cy="224028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1"/>
          <p:cNvSpPr/>
          <p:nvPr/>
        </p:nvSpPr>
        <p:spPr>
          <a:xfrm>
            <a:off x="457200" y="1417320"/>
            <a:ext cx="91440" cy="2240280"/>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1"/>
          <p:cNvSpPr/>
          <p:nvPr/>
        </p:nvSpPr>
        <p:spPr>
          <a:xfrm>
            <a:off x="777240" y="1783080"/>
            <a:ext cx="777240" cy="77724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38" name="Google Shape;338;p11"/>
          <p:cNvPicPr preferRelativeResize="0"/>
          <p:nvPr/>
        </p:nvPicPr>
        <p:blipFill rotWithShape="1">
          <a:blip r:embed="rId4">
            <a:alphaModFix/>
          </a:blip>
          <a:srcRect b="0" l="0" r="0" t="0"/>
          <a:stretch/>
        </p:blipFill>
        <p:spPr>
          <a:xfrm>
            <a:off x="914400" y="1920240"/>
            <a:ext cx="502920" cy="502920"/>
          </a:xfrm>
          <a:prstGeom prst="rect">
            <a:avLst/>
          </a:prstGeom>
          <a:noFill/>
          <a:ln>
            <a:noFill/>
          </a:ln>
        </p:spPr>
      </p:pic>
      <p:sp>
        <p:nvSpPr>
          <p:cNvPr id="339" name="Google Shape;339;p11"/>
          <p:cNvSpPr/>
          <p:nvPr/>
        </p:nvSpPr>
        <p:spPr>
          <a:xfrm>
            <a:off x="777240" y="1783080"/>
            <a:ext cx="777240" cy="77724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40" name="Google Shape;340;p11"/>
          <p:cNvPicPr preferRelativeResize="0"/>
          <p:nvPr/>
        </p:nvPicPr>
        <p:blipFill rotWithShape="1">
          <a:blip r:embed="rId4">
            <a:alphaModFix/>
          </a:blip>
          <a:srcRect b="0" l="0" r="0" t="0"/>
          <a:stretch/>
        </p:blipFill>
        <p:spPr>
          <a:xfrm>
            <a:off x="914400" y="1920240"/>
            <a:ext cx="502920" cy="502920"/>
          </a:xfrm>
          <a:prstGeom prst="rect">
            <a:avLst/>
          </a:prstGeom>
          <a:noFill/>
          <a:ln>
            <a:noFill/>
          </a:ln>
        </p:spPr>
      </p:pic>
      <p:sp>
        <p:nvSpPr>
          <p:cNvPr id="341" name="Google Shape;341;p11"/>
          <p:cNvSpPr/>
          <p:nvPr/>
        </p:nvSpPr>
        <p:spPr>
          <a:xfrm>
            <a:off x="1737360" y="1783080"/>
            <a:ext cx="4023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Third Normal Form (3NF)</a:t>
            </a:r>
            <a:endParaRPr sz="1700">
              <a:solidFill>
                <a:schemeClr val="dk1"/>
              </a:solidFill>
              <a:latin typeface="Calibri"/>
              <a:ea typeface="Calibri"/>
              <a:cs typeface="Calibri"/>
              <a:sym typeface="Calibri"/>
            </a:endParaRPr>
          </a:p>
        </p:txBody>
      </p:sp>
      <p:sp>
        <p:nvSpPr>
          <p:cNvPr id="342" name="Google Shape;342;p11"/>
          <p:cNvSpPr/>
          <p:nvPr/>
        </p:nvSpPr>
        <p:spPr>
          <a:xfrm>
            <a:off x="777240" y="2697480"/>
            <a:ext cx="4846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Roles, Departments, and Vendor_Categories live in their own tables instead of repeated text columns. Eliminates partial and transitive dependencies, prevents update anomalies.</a:t>
            </a:r>
            <a:endParaRPr sz="1200">
              <a:solidFill>
                <a:schemeClr val="dk1"/>
              </a:solidFill>
              <a:latin typeface="Calibri"/>
              <a:ea typeface="Calibri"/>
              <a:cs typeface="Calibri"/>
              <a:sym typeface="Calibri"/>
            </a:endParaRPr>
          </a:p>
        </p:txBody>
      </p:sp>
      <p:sp>
        <p:nvSpPr>
          <p:cNvPr id="343" name="Google Shape;343;p11"/>
          <p:cNvSpPr/>
          <p:nvPr/>
        </p:nvSpPr>
        <p:spPr>
          <a:xfrm>
            <a:off x="6217920" y="1417320"/>
            <a:ext cx="5486400" cy="224028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1"/>
          <p:cNvSpPr/>
          <p:nvPr/>
        </p:nvSpPr>
        <p:spPr>
          <a:xfrm>
            <a:off x="6217920" y="1417320"/>
            <a:ext cx="91440" cy="2240280"/>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11"/>
          <p:cNvSpPr/>
          <p:nvPr/>
        </p:nvSpPr>
        <p:spPr>
          <a:xfrm>
            <a:off x="6537960" y="1783080"/>
            <a:ext cx="777240" cy="77724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46" name="Google Shape;346;p11"/>
          <p:cNvPicPr preferRelativeResize="0"/>
          <p:nvPr/>
        </p:nvPicPr>
        <p:blipFill rotWithShape="1">
          <a:blip r:embed="rId5">
            <a:alphaModFix/>
          </a:blip>
          <a:srcRect b="0" l="0" r="0" t="0"/>
          <a:stretch/>
        </p:blipFill>
        <p:spPr>
          <a:xfrm>
            <a:off x="6675120" y="1920240"/>
            <a:ext cx="502920" cy="502920"/>
          </a:xfrm>
          <a:prstGeom prst="rect">
            <a:avLst/>
          </a:prstGeom>
          <a:noFill/>
          <a:ln>
            <a:noFill/>
          </a:ln>
        </p:spPr>
      </p:pic>
      <p:sp>
        <p:nvSpPr>
          <p:cNvPr id="347" name="Google Shape;347;p11"/>
          <p:cNvSpPr/>
          <p:nvPr/>
        </p:nvSpPr>
        <p:spPr>
          <a:xfrm>
            <a:off x="6537960" y="1783080"/>
            <a:ext cx="777240" cy="77724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48" name="Google Shape;348;p11"/>
          <p:cNvPicPr preferRelativeResize="0"/>
          <p:nvPr/>
        </p:nvPicPr>
        <p:blipFill rotWithShape="1">
          <a:blip r:embed="rId5">
            <a:alphaModFix/>
          </a:blip>
          <a:srcRect b="0" l="0" r="0" t="0"/>
          <a:stretch/>
        </p:blipFill>
        <p:spPr>
          <a:xfrm>
            <a:off x="6675120" y="1920240"/>
            <a:ext cx="502920" cy="502920"/>
          </a:xfrm>
          <a:prstGeom prst="rect">
            <a:avLst/>
          </a:prstGeom>
          <a:noFill/>
          <a:ln>
            <a:noFill/>
          </a:ln>
        </p:spPr>
      </p:pic>
      <p:sp>
        <p:nvSpPr>
          <p:cNvPr id="349" name="Google Shape;349;p11"/>
          <p:cNvSpPr/>
          <p:nvPr/>
        </p:nvSpPr>
        <p:spPr>
          <a:xfrm>
            <a:off x="7498080" y="1783080"/>
            <a:ext cx="4023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Status History over Status Overwrite</a:t>
            </a:r>
            <a:endParaRPr sz="1700">
              <a:solidFill>
                <a:schemeClr val="dk1"/>
              </a:solidFill>
              <a:latin typeface="Calibri"/>
              <a:ea typeface="Calibri"/>
              <a:cs typeface="Calibri"/>
              <a:sym typeface="Calibri"/>
            </a:endParaRPr>
          </a:p>
        </p:txBody>
      </p:sp>
      <p:sp>
        <p:nvSpPr>
          <p:cNvPr id="350" name="Google Shape;350;p11"/>
          <p:cNvSpPr/>
          <p:nvPr/>
        </p:nvSpPr>
        <p:spPr>
          <a:xfrm>
            <a:off x="6537960" y="2697480"/>
            <a:ext cx="4846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Rather than just updating Purchase_Requests.status, every transition is appended to PR_Status_History. The current status is fast to read; the full audit trail is never lost.</a:t>
            </a:r>
            <a:endParaRPr sz="1200">
              <a:solidFill>
                <a:schemeClr val="dk1"/>
              </a:solidFill>
              <a:latin typeface="Calibri"/>
              <a:ea typeface="Calibri"/>
              <a:cs typeface="Calibri"/>
              <a:sym typeface="Calibri"/>
            </a:endParaRPr>
          </a:p>
        </p:txBody>
      </p:sp>
      <p:sp>
        <p:nvSpPr>
          <p:cNvPr id="351" name="Google Shape;351;p11"/>
          <p:cNvSpPr/>
          <p:nvPr/>
        </p:nvSpPr>
        <p:spPr>
          <a:xfrm>
            <a:off x="457200" y="3886200"/>
            <a:ext cx="5486400" cy="224028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1"/>
          <p:cNvSpPr/>
          <p:nvPr/>
        </p:nvSpPr>
        <p:spPr>
          <a:xfrm>
            <a:off x="457200" y="3886200"/>
            <a:ext cx="91440" cy="2240280"/>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11"/>
          <p:cNvSpPr/>
          <p:nvPr/>
        </p:nvSpPr>
        <p:spPr>
          <a:xfrm>
            <a:off x="777240" y="4251960"/>
            <a:ext cx="777240" cy="77724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54" name="Google Shape;354;p11"/>
          <p:cNvPicPr preferRelativeResize="0"/>
          <p:nvPr/>
        </p:nvPicPr>
        <p:blipFill rotWithShape="1">
          <a:blip r:embed="rId6">
            <a:alphaModFix/>
          </a:blip>
          <a:srcRect b="0" l="0" r="0" t="0"/>
          <a:stretch/>
        </p:blipFill>
        <p:spPr>
          <a:xfrm>
            <a:off x="914400" y="4389120"/>
            <a:ext cx="502920" cy="502920"/>
          </a:xfrm>
          <a:prstGeom prst="rect">
            <a:avLst/>
          </a:prstGeom>
          <a:noFill/>
          <a:ln>
            <a:noFill/>
          </a:ln>
        </p:spPr>
      </p:pic>
      <p:sp>
        <p:nvSpPr>
          <p:cNvPr id="355" name="Google Shape;355;p11"/>
          <p:cNvSpPr/>
          <p:nvPr/>
        </p:nvSpPr>
        <p:spPr>
          <a:xfrm>
            <a:off x="777240" y="4251960"/>
            <a:ext cx="777240" cy="77724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56" name="Google Shape;356;p11"/>
          <p:cNvPicPr preferRelativeResize="0"/>
          <p:nvPr/>
        </p:nvPicPr>
        <p:blipFill rotWithShape="1">
          <a:blip r:embed="rId6">
            <a:alphaModFix/>
          </a:blip>
          <a:srcRect b="0" l="0" r="0" t="0"/>
          <a:stretch/>
        </p:blipFill>
        <p:spPr>
          <a:xfrm>
            <a:off x="914400" y="4389120"/>
            <a:ext cx="502920" cy="502920"/>
          </a:xfrm>
          <a:prstGeom prst="rect">
            <a:avLst/>
          </a:prstGeom>
          <a:noFill/>
          <a:ln>
            <a:noFill/>
          </a:ln>
        </p:spPr>
      </p:pic>
      <p:sp>
        <p:nvSpPr>
          <p:cNvPr id="357" name="Google Shape;357;p11"/>
          <p:cNvSpPr/>
          <p:nvPr/>
        </p:nvSpPr>
        <p:spPr>
          <a:xfrm>
            <a:off x="1737360" y="4251960"/>
            <a:ext cx="4023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AUTOINCREMENT Surrogate Keys</a:t>
            </a:r>
            <a:endParaRPr sz="1700">
              <a:solidFill>
                <a:schemeClr val="dk1"/>
              </a:solidFill>
              <a:latin typeface="Calibri"/>
              <a:ea typeface="Calibri"/>
              <a:cs typeface="Calibri"/>
              <a:sym typeface="Calibri"/>
            </a:endParaRPr>
          </a:p>
        </p:txBody>
      </p:sp>
      <p:sp>
        <p:nvSpPr>
          <p:cNvPr id="358" name="Google Shape;358;p11"/>
          <p:cNvSpPr/>
          <p:nvPr/>
        </p:nvSpPr>
        <p:spPr>
          <a:xfrm>
            <a:off x="777240" y="5166360"/>
            <a:ext cx="4846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Every table uses an integer primary key. Foreign keys remain narrow and stable even if business identifiers (PO numbers, emails) change later.</a:t>
            </a:r>
            <a:endParaRPr sz="1200">
              <a:solidFill>
                <a:schemeClr val="dk1"/>
              </a:solidFill>
              <a:latin typeface="Calibri"/>
              <a:ea typeface="Calibri"/>
              <a:cs typeface="Calibri"/>
              <a:sym typeface="Calibri"/>
            </a:endParaRPr>
          </a:p>
        </p:txBody>
      </p:sp>
      <p:sp>
        <p:nvSpPr>
          <p:cNvPr id="359" name="Google Shape;359;p11"/>
          <p:cNvSpPr/>
          <p:nvPr/>
        </p:nvSpPr>
        <p:spPr>
          <a:xfrm>
            <a:off x="6217920" y="3886200"/>
            <a:ext cx="5486400" cy="224028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1"/>
          <p:cNvSpPr/>
          <p:nvPr/>
        </p:nvSpPr>
        <p:spPr>
          <a:xfrm>
            <a:off x="6217920" y="3886200"/>
            <a:ext cx="91440" cy="2240280"/>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1"/>
          <p:cNvSpPr/>
          <p:nvPr/>
        </p:nvSpPr>
        <p:spPr>
          <a:xfrm>
            <a:off x="6537960" y="4251960"/>
            <a:ext cx="777240" cy="77724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62" name="Google Shape;362;p11"/>
          <p:cNvPicPr preferRelativeResize="0"/>
          <p:nvPr/>
        </p:nvPicPr>
        <p:blipFill rotWithShape="1">
          <a:blip r:embed="rId7">
            <a:alphaModFix/>
          </a:blip>
          <a:srcRect b="0" l="0" r="0" t="0"/>
          <a:stretch/>
        </p:blipFill>
        <p:spPr>
          <a:xfrm>
            <a:off x="6675120" y="4389120"/>
            <a:ext cx="502920" cy="502920"/>
          </a:xfrm>
          <a:prstGeom prst="rect">
            <a:avLst/>
          </a:prstGeom>
          <a:noFill/>
          <a:ln>
            <a:noFill/>
          </a:ln>
        </p:spPr>
      </p:pic>
      <p:sp>
        <p:nvSpPr>
          <p:cNvPr id="363" name="Google Shape;363;p11"/>
          <p:cNvSpPr/>
          <p:nvPr/>
        </p:nvSpPr>
        <p:spPr>
          <a:xfrm>
            <a:off x="6537960" y="4251960"/>
            <a:ext cx="777240" cy="77724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64" name="Google Shape;364;p11"/>
          <p:cNvPicPr preferRelativeResize="0"/>
          <p:nvPr/>
        </p:nvPicPr>
        <p:blipFill rotWithShape="1">
          <a:blip r:embed="rId7">
            <a:alphaModFix/>
          </a:blip>
          <a:srcRect b="0" l="0" r="0" t="0"/>
          <a:stretch/>
        </p:blipFill>
        <p:spPr>
          <a:xfrm>
            <a:off x="6675120" y="4389120"/>
            <a:ext cx="502920" cy="502920"/>
          </a:xfrm>
          <a:prstGeom prst="rect">
            <a:avLst/>
          </a:prstGeom>
          <a:noFill/>
          <a:ln>
            <a:noFill/>
          </a:ln>
        </p:spPr>
      </p:pic>
      <p:sp>
        <p:nvSpPr>
          <p:cNvPr id="365" name="Google Shape;365;p11"/>
          <p:cNvSpPr/>
          <p:nvPr/>
        </p:nvSpPr>
        <p:spPr>
          <a:xfrm>
            <a:off x="7498080" y="4251960"/>
            <a:ext cx="4023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Role-Based Access at the Schema Level</a:t>
            </a:r>
            <a:endParaRPr sz="1700">
              <a:solidFill>
                <a:schemeClr val="dk1"/>
              </a:solidFill>
              <a:latin typeface="Calibri"/>
              <a:ea typeface="Calibri"/>
              <a:cs typeface="Calibri"/>
              <a:sym typeface="Calibri"/>
            </a:endParaRPr>
          </a:p>
        </p:txBody>
      </p:sp>
      <p:sp>
        <p:nvSpPr>
          <p:cNvPr id="366" name="Google Shape;366;p11"/>
          <p:cNvSpPr/>
          <p:nvPr/>
        </p:nvSpPr>
        <p:spPr>
          <a:xfrm>
            <a:off x="6537960" y="5166360"/>
            <a:ext cx="4846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Users.role is an FK to a Roles table with a permissions_json column. Application logic reads this single source of truth — no hard-coded role strings scattered through code.</a:t>
            </a:r>
            <a:endParaRPr sz="1200">
              <a:solidFill>
                <a:schemeClr val="dk1"/>
              </a:solidFill>
              <a:latin typeface="Calibri"/>
              <a:ea typeface="Calibri"/>
              <a:cs typeface="Calibri"/>
              <a:sym typeface="Calibri"/>
            </a:endParaRPr>
          </a:p>
        </p:txBody>
      </p:sp>
      <p:sp>
        <p:nvSpPr>
          <p:cNvPr id="367" name="Google Shape;367;p11"/>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02  Database Design</a:t>
            </a:r>
            <a:endParaRPr sz="900">
              <a:solidFill>
                <a:schemeClr val="dk1"/>
              </a:solidFill>
              <a:latin typeface="Calibri"/>
              <a:ea typeface="Calibri"/>
              <a:cs typeface="Calibri"/>
              <a:sym typeface="Calibri"/>
            </a:endParaRPr>
          </a:p>
        </p:txBody>
      </p:sp>
      <p:sp>
        <p:nvSpPr>
          <p:cNvPr id="368" name="Google Shape;368;p11"/>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9</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73" name="Shape 373"/>
        <p:cNvGrpSpPr/>
        <p:nvPr/>
      </p:nvGrpSpPr>
      <p:grpSpPr>
        <a:xfrm>
          <a:off x="0" y="0"/>
          <a:ext cx="0" cy="0"/>
          <a:chOff x="0" y="0"/>
          <a:chExt cx="0" cy="0"/>
        </a:xfrm>
      </p:grpSpPr>
      <p:sp>
        <p:nvSpPr>
          <p:cNvPr id="374" name="Google Shape;374;p12"/>
          <p:cNvSpPr/>
          <p:nvPr/>
        </p:nvSpPr>
        <p:spPr>
          <a:xfrm>
            <a:off x="731520" y="2011680"/>
            <a:ext cx="274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11000"/>
              <a:buFont typeface="Georgia"/>
              <a:buNone/>
            </a:pPr>
            <a:r>
              <a:rPr b="1" lang="en-US" sz="11000">
                <a:solidFill>
                  <a:srgbClr val="D4AF37"/>
                </a:solidFill>
                <a:latin typeface="Georgia"/>
                <a:ea typeface="Georgia"/>
                <a:cs typeface="Georgia"/>
                <a:sym typeface="Georgia"/>
              </a:rPr>
              <a:t>03</a:t>
            </a:r>
            <a:endParaRPr sz="11000">
              <a:solidFill>
                <a:schemeClr val="dk1"/>
              </a:solidFill>
              <a:latin typeface="Calibri"/>
              <a:ea typeface="Calibri"/>
              <a:cs typeface="Calibri"/>
              <a:sym typeface="Calibri"/>
            </a:endParaRPr>
          </a:p>
        </p:txBody>
      </p:sp>
      <p:sp>
        <p:nvSpPr>
          <p:cNvPr id="375" name="Google Shape;375;p12"/>
          <p:cNvSpPr/>
          <p:nvPr/>
        </p:nvSpPr>
        <p:spPr>
          <a:xfrm>
            <a:off x="731520" y="3566160"/>
            <a:ext cx="10058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lang="en-US" sz="4400">
                <a:solidFill>
                  <a:srgbClr val="FFFFFF"/>
                </a:solidFill>
                <a:latin typeface="Georgia"/>
                <a:ea typeface="Georgia"/>
                <a:cs typeface="Georgia"/>
                <a:sym typeface="Georgia"/>
              </a:rPr>
              <a:t>SQL Implementation</a:t>
            </a:r>
            <a:endParaRPr sz="4400">
              <a:solidFill>
                <a:schemeClr val="dk1"/>
              </a:solidFill>
              <a:latin typeface="Calibri"/>
              <a:ea typeface="Calibri"/>
              <a:cs typeface="Calibri"/>
              <a:sym typeface="Calibri"/>
            </a:endParaRPr>
          </a:p>
        </p:txBody>
      </p:sp>
      <p:sp>
        <p:nvSpPr>
          <p:cNvPr id="376" name="Google Shape;376;p12"/>
          <p:cNvSpPr/>
          <p:nvPr/>
        </p:nvSpPr>
        <p:spPr>
          <a:xfrm>
            <a:off x="731520" y="4343400"/>
            <a:ext cx="10515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i="1" lang="en-US" sz="1800">
                <a:solidFill>
                  <a:srgbClr val="CADCFC"/>
                </a:solidFill>
                <a:latin typeface="Calibri"/>
                <a:ea typeface="Calibri"/>
                <a:cs typeface="Calibri"/>
                <a:sym typeface="Calibri"/>
              </a:rPr>
              <a:t>DDL, queries, transactions — SQL doing real business logic</a:t>
            </a:r>
            <a:endParaRPr sz="1800">
              <a:solidFill>
                <a:schemeClr val="dk1"/>
              </a:solidFill>
              <a:latin typeface="Calibri"/>
              <a:ea typeface="Calibri"/>
              <a:cs typeface="Calibri"/>
              <a:sym typeface="Calibri"/>
            </a:endParaRPr>
          </a:p>
        </p:txBody>
      </p:sp>
      <p:sp>
        <p:nvSpPr>
          <p:cNvPr id="377" name="Google Shape;377;p12"/>
          <p:cNvSpPr/>
          <p:nvPr/>
        </p:nvSpPr>
        <p:spPr>
          <a:xfrm>
            <a:off x="731520" y="59436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lang="en-US" sz="1200">
                <a:solidFill>
                  <a:srgbClr val="CADCFC"/>
                </a:solidFill>
                <a:latin typeface="Calibri"/>
                <a:ea typeface="Calibri"/>
                <a:cs typeface="Calibri"/>
                <a:sym typeface="Calibri"/>
              </a:rPr>
              <a:t>PRESENTED BY  PARVA SHAH</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pic>
        <p:nvPicPr>
          <p:cNvPr descr="preencoded.png" id="383" name="Google Shape;383;p13"/>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384" name="Google Shape;384;p13"/>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Two Engines, One Schema</a:t>
            </a:r>
            <a:endParaRPr sz="2800">
              <a:solidFill>
                <a:schemeClr val="dk1"/>
              </a:solidFill>
              <a:latin typeface="Calibri"/>
              <a:ea typeface="Calibri"/>
              <a:cs typeface="Calibri"/>
              <a:sym typeface="Calibri"/>
            </a:endParaRPr>
          </a:p>
        </p:txBody>
      </p:sp>
      <p:sp>
        <p:nvSpPr>
          <p:cNvPr id="385" name="Google Shape;385;p13"/>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SQLite for live deployment, MySQL for academic implementation</a:t>
            </a:r>
            <a:endParaRPr sz="1300">
              <a:solidFill>
                <a:schemeClr val="dk1"/>
              </a:solidFill>
              <a:latin typeface="Calibri"/>
              <a:ea typeface="Calibri"/>
              <a:cs typeface="Calibri"/>
              <a:sym typeface="Calibri"/>
            </a:endParaRPr>
          </a:p>
        </p:txBody>
      </p:sp>
      <p:sp>
        <p:nvSpPr>
          <p:cNvPr id="386" name="Google Shape;386;p13"/>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3"/>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Parva</a:t>
            </a:r>
            <a:endParaRPr sz="1100">
              <a:solidFill>
                <a:schemeClr val="dk1"/>
              </a:solidFill>
              <a:latin typeface="Calibri"/>
              <a:ea typeface="Calibri"/>
              <a:cs typeface="Calibri"/>
              <a:sym typeface="Calibri"/>
            </a:endParaRPr>
          </a:p>
        </p:txBody>
      </p:sp>
      <p:sp>
        <p:nvSpPr>
          <p:cNvPr id="388" name="Google Shape;388;p13"/>
          <p:cNvSpPr/>
          <p:nvPr/>
        </p:nvSpPr>
        <p:spPr>
          <a:xfrm>
            <a:off x="457200" y="1371600"/>
            <a:ext cx="5532120" cy="12801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3"/>
          <p:cNvSpPr/>
          <p:nvPr/>
        </p:nvSpPr>
        <p:spPr>
          <a:xfrm>
            <a:off x="457200" y="1371600"/>
            <a:ext cx="91440" cy="128016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3"/>
          <p:cNvSpPr/>
          <p:nvPr/>
        </p:nvSpPr>
        <p:spPr>
          <a:xfrm>
            <a:off x="685800" y="146304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SQLite (Production)</a:t>
            </a:r>
            <a:endParaRPr sz="1700">
              <a:solidFill>
                <a:schemeClr val="dk1"/>
              </a:solidFill>
              <a:latin typeface="Calibri"/>
              <a:ea typeface="Calibri"/>
              <a:cs typeface="Calibri"/>
              <a:sym typeface="Calibri"/>
            </a:endParaRPr>
          </a:p>
        </p:txBody>
      </p:sp>
      <p:sp>
        <p:nvSpPr>
          <p:cNvPr id="391" name="Google Shape;391;p13"/>
          <p:cNvSpPr/>
          <p:nvPr/>
        </p:nvSpPr>
        <p:spPr>
          <a:xfrm>
            <a:off x="685800" y="1828800"/>
            <a:ext cx="5212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150"/>
              <a:buFont typeface="Calibri"/>
              <a:buNone/>
            </a:pPr>
            <a:r>
              <a:rPr lang="en-US" sz="1150">
                <a:solidFill>
                  <a:srgbClr val="1A1F36"/>
                </a:solidFill>
                <a:latin typeface="Calibri"/>
                <a:ea typeface="Calibri"/>
                <a:cs typeface="Calibri"/>
                <a:sym typeface="Calibri"/>
              </a:rPr>
              <a:t>•  Embedded engine via Python's sqlite3 library</a:t>
            </a:r>
            <a:endParaRPr sz="115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1150"/>
              <a:buFont typeface="Calibri"/>
              <a:buNone/>
            </a:pPr>
            <a:r>
              <a:rPr lang="en-US" sz="1150">
                <a:solidFill>
                  <a:srgbClr val="1A1F36"/>
                </a:solidFill>
                <a:latin typeface="Calibri"/>
                <a:ea typeface="Calibri"/>
                <a:cs typeface="Calibri"/>
                <a:sym typeface="Calibri"/>
              </a:rPr>
              <a:t>•  Zero-config, ideal for Vercel serverless deployment</a:t>
            </a:r>
            <a:endParaRPr sz="115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1150"/>
              <a:buFont typeface="Calibri"/>
              <a:buNone/>
            </a:pPr>
            <a:r>
              <a:rPr lang="en-US" sz="1150">
                <a:solidFill>
                  <a:srgbClr val="1A1F36"/>
                </a:solidFill>
                <a:latin typeface="Calibri"/>
                <a:ea typeface="Calibri"/>
                <a:cs typeface="Calibri"/>
                <a:sym typeface="Calibri"/>
              </a:rPr>
              <a:t>•  AUTOINCREMENT, REAL/TEXT types, FK enforcement enabled</a:t>
            </a:r>
            <a:endParaRPr sz="1150">
              <a:solidFill>
                <a:schemeClr val="dk1"/>
              </a:solidFill>
              <a:latin typeface="Calibri"/>
              <a:ea typeface="Calibri"/>
              <a:cs typeface="Calibri"/>
              <a:sym typeface="Calibri"/>
            </a:endParaRPr>
          </a:p>
        </p:txBody>
      </p:sp>
      <p:sp>
        <p:nvSpPr>
          <p:cNvPr id="392" name="Google Shape;392;p13"/>
          <p:cNvSpPr/>
          <p:nvPr/>
        </p:nvSpPr>
        <p:spPr>
          <a:xfrm>
            <a:off x="6172200" y="1371600"/>
            <a:ext cx="5532120" cy="12801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3"/>
          <p:cNvSpPr/>
          <p:nvPr/>
        </p:nvSpPr>
        <p:spPr>
          <a:xfrm>
            <a:off x="6172200" y="1371600"/>
            <a:ext cx="91440" cy="1280160"/>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3"/>
          <p:cNvSpPr/>
          <p:nvPr/>
        </p:nvSpPr>
        <p:spPr>
          <a:xfrm>
            <a:off x="6400800" y="146304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1700">
                <a:solidFill>
                  <a:srgbClr val="1E2761"/>
                </a:solidFill>
                <a:latin typeface="Calibri"/>
                <a:ea typeface="Calibri"/>
                <a:cs typeface="Calibri"/>
                <a:sym typeface="Calibri"/>
              </a:rPr>
              <a:t>MySQL (Academic Implementation)</a:t>
            </a:r>
            <a:endParaRPr sz="1700">
              <a:solidFill>
                <a:schemeClr val="dk1"/>
              </a:solidFill>
              <a:latin typeface="Calibri"/>
              <a:ea typeface="Calibri"/>
              <a:cs typeface="Calibri"/>
              <a:sym typeface="Calibri"/>
            </a:endParaRPr>
          </a:p>
        </p:txBody>
      </p:sp>
      <p:sp>
        <p:nvSpPr>
          <p:cNvPr id="395" name="Google Shape;395;p13"/>
          <p:cNvSpPr/>
          <p:nvPr/>
        </p:nvSpPr>
        <p:spPr>
          <a:xfrm>
            <a:off x="6400800" y="1828800"/>
            <a:ext cx="5212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150"/>
              <a:buFont typeface="Calibri"/>
              <a:buNone/>
            </a:pPr>
            <a:r>
              <a:rPr lang="en-US" sz="1150">
                <a:solidFill>
                  <a:srgbClr val="1A1F36"/>
                </a:solidFill>
                <a:latin typeface="Calibri"/>
                <a:ea typeface="Calibri"/>
                <a:cs typeface="Calibri"/>
                <a:sym typeface="Calibri"/>
              </a:rPr>
              <a:t>•  Built and tested in MySQL Workbench for the assignment</a:t>
            </a:r>
            <a:endParaRPr sz="115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1150"/>
              <a:buFont typeface="Calibri"/>
              <a:buNone/>
            </a:pPr>
            <a:r>
              <a:rPr lang="en-US" sz="1150">
                <a:solidFill>
                  <a:srgbClr val="1A1F36"/>
                </a:solidFill>
                <a:latin typeface="Calibri"/>
                <a:ea typeface="Calibri"/>
                <a:cs typeface="Calibri"/>
                <a:sym typeface="Calibri"/>
              </a:rPr>
              <a:t>•  AUTO_INCREMENT, DECIMAL(15,2) for monetary precision</a:t>
            </a:r>
            <a:endParaRPr sz="1150">
              <a:solidFill>
                <a:schemeClr val="dk1"/>
              </a:solidFill>
              <a:latin typeface="Calibri"/>
              <a:ea typeface="Calibri"/>
              <a:cs typeface="Calibri"/>
              <a:sym typeface="Calibri"/>
            </a:endParaRPr>
          </a:p>
          <a:p>
            <a:pPr indent="0" lvl="0" marL="0" marR="0" rtl="0" algn="l">
              <a:spcBef>
                <a:spcPts val="200"/>
              </a:spcBef>
              <a:spcAft>
                <a:spcPts val="0"/>
              </a:spcAft>
              <a:buClr>
                <a:srgbClr val="1A1F36"/>
              </a:buClr>
              <a:buSzPts val="1150"/>
              <a:buFont typeface="Calibri"/>
              <a:buNone/>
            </a:pPr>
            <a:r>
              <a:rPr lang="en-US" sz="1150">
                <a:solidFill>
                  <a:srgbClr val="1A1F36"/>
                </a:solidFill>
                <a:latin typeface="Calibri"/>
                <a:ea typeface="Calibri"/>
                <a:cs typeface="Calibri"/>
                <a:sym typeface="Calibri"/>
              </a:rPr>
              <a:t>•  Demonstrates portability of the relational design</a:t>
            </a:r>
            <a:endParaRPr sz="1150">
              <a:solidFill>
                <a:schemeClr val="dk1"/>
              </a:solidFill>
              <a:latin typeface="Calibri"/>
              <a:ea typeface="Calibri"/>
              <a:cs typeface="Calibri"/>
              <a:sym typeface="Calibri"/>
            </a:endParaRPr>
          </a:p>
        </p:txBody>
      </p:sp>
      <p:sp>
        <p:nvSpPr>
          <p:cNvPr id="396" name="Google Shape;396;p13"/>
          <p:cNvSpPr/>
          <p:nvPr/>
        </p:nvSpPr>
        <p:spPr>
          <a:xfrm>
            <a:off x="457200" y="2834640"/>
            <a:ext cx="11247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DDL — Purchase_Requests Table (MySQL)</a:t>
            </a:r>
            <a:endParaRPr sz="1300">
              <a:solidFill>
                <a:schemeClr val="dk1"/>
              </a:solidFill>
              <a:latin typeface="Calibri"/>
              <a:ea typeface="Calibri"/>
              <a:cs typeface="Calibri"/>
              <a:sym typeface="Calibri"/>
            </a:endParaRPr>
          </a:p>
        </p:txBody>
      </p:sp>
      <p:sp>
        <p:nvSpPr>
          <p:cNvPr id="397" name="Google Shape;397;p13"/>
          <p:cNvSpPr/>
          <p:nvPr/>
        </p:nvSpPr>
        <p:spPr>
          <a:xfrm>
            <a:off x="457200" y="3200400"/>
            <a:ext cx="11247120" cy="3063240"/>
          </a:xfrm>
          <a:prstGeom prst="rect">
            <a:avLst/>
          </a:prstGeom>
          <a:solidFill>
            <a:srgbClr val="0F18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3"/>
          <p:cNvSpPr/>
          <p:nvPr/>
        </p:nvSpPr>
        <p:spPr>
          <a:xfrm>
            <a:off x="457200" y="3200400"/>
            <a:ext cx="91440" cy="3063240"/>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3"/>
          <p:cNvSpPr/>
          <p:nvPr/>
        </p:nvSpPr>
        <p:spPr>
          <a:xfrm>
            <a:off x="777240" y="3337560"/>
            <a:ext cx="10835640" cy="2788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72B6"/>
              </a:buClr>
              <a:buSzPts val="1400"/>
              <a:buFont typeface="Consolas"/>
              <a:buNone/>
            </a:pPr>
            <a:r>
              <a:rPr b="1" lang="en-US" sz="1400">
                <a:solidFill>
                  <a:srgbClr val="F472B6"/>
                </a:solidFill>
                <a:latin typeface="Consolas"/>
                <a:ea typeface="Consolas"/>
                <a:cs typeface="Consolas"/>
                <a:sym typeface="Consolas"/>
              </a:rPr>
              <a:t>CREATE TABLE</a:t>
            </a:r>
            <a:r>
              <a:rPr lang="en-US" sz="1400">
                <a:solidFill>
                  <a:srgbClr val="FFFFFF"/>
                </a:solidFill>
                <a:latin typeface="Consolas"/>
                <a:ea typeface="Consolas"/>
                <a:cs typeface="Consolas"/>
                <a:sym typeface="Consolas"/>
              </a:rPr>
              <a:t> Purchase_Requests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    pr_id </a:t>
            </a:r>
            <a:r>
              <a:rPr lang="en-US" sz="1400">
                <a:solidFill>
                  <a:srgbClr val="60A5FA"/>
                </a:solidFill>
                <a:latin typeface="Consolas"/>
                <a:ea typeface="Consolas"/>
                <a:cs typeface="Consolas"/>
                <a:sym typeface="Consolas"/>
              </a:rPr>
              <a:t>INT AUTO_INCREMENT PRIMARY KEY</a:t>
            </a:r>
            <a:r>
              <a:rPr lang="en-US" sz="1400">
                <a:solidFill>
                  <a:srgbClr val="FFFFFF"/>
                </a:solidFill>
                <a:latin typeface="Consolas"/>
                <a:ea typeface="Consolas"/>
                <a:cs typeface="Consolas"/>
                <a:sym typeface="Consolas"/>
              </a:rPr>
              <a:t>,</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    employee_id </a:t>
            </a:r>
            <a:r>
              <a:rPr lang="en-US" sz="1400">
                <a:solidFill>
                  <a:srgbClr val="60A5FA"/>
                </a:solidFill>
                <a:latin typeface="Consolas"/>
                <a:ea typeface="Consolas"/>
                <a:cs typeface="Consolas"/>
                <a:sym typeface="Consolas"/>
              </a:rPr>
              <a:t>INT</a:t>
            </a:r>
            <a:r>
              <a:rPr lang="en-US" sz="1400">
                <a:solidFill>
                  <a:srgbClr val="FFFFFF"/>
                </a:solidFill>
                <a:latin typeface="Consolas"/>
                <a:ea typeface="Consolas"/>
                <a:cs typeface="Consolas"/>
                <a:sym typeface="Consolas"/>
              </a:rPr>
              <a:t>,   dept_id </a:t>
            </a:r>
            <a:r>
              <a:rPr lang="en-US" sz="1400">
                <a:solidFill>
                  <a:srgbClr val="60A5FA"/>
                </a:solidFill>
                <a:latin typeface="Consolas"/>
                <a:ea typeface="Consolas"/>
                <a:cs typeface="Consolas"/>
                <a:sym typeface="Consolas"/>
              </a:rPr>
              <a:t>INT</a:t>
            </a:r>
            <a:r>
              <a:rPr lang="en-US" sz="1400">
                <a:solidFill>
                  <a:srgbClr val="FFFFFF"/>
                </a:solidFill>
                <a:latin typeface="Consolas"/>
                <a:ea typeface="Consolas"/>
                <a:cs typeface="Consolas"/>
                <a:sym typeface="Consolas"/>
              </a:rPr>
              <a:t>,</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    item_name </a:t>
            </a:r>
            <a:r>
              <a:rPr lang="en-US" sz="1400">
                <a:solidFill>
                  <a:srgbClr val="60A5FA"/>
                </a:solidFill>
                <a:latin typeface="Consolas"/>
                <a:ea typeface="Consolas"/>
                <a:cs typeface="Consolas"/>
                <a:sym typeface="Consolas"/>
              </a:rPr>
              <a:t>VARCHAR(255) NOT NULL</a:t>
            </a:r>
            <a:r>
              <a:rPr lang="en-US" sz="1400">
                <a:solidFill>
                  <a:srgbClr val="FFFFFF"/>
                </a:solidFill>
                <a:latin typeface="Consolas"/>
                <a:ea typeface="Consolas"/>
                <a:cs typeface="Consolas"/>
                <a:sym typeface="Consolas"/>
              </a:rPr>
              <a:t>,   quantity </a:t>
            </a:r>
            <a:r>
              <a:rPr lang="en-US" sz="1400">
                <a:solidFill>
                  <a:srgbClr val="60A5FA"/>
                </a:solidFill>
                <a:latin typeface="Consolas"/>
                <a:ea typeface="Consolas"/>
                <a:cs typeface="Consolas"/>
                <a:sym typeface="Consolas"/>
              </a:rPr>
              <a:t>INT NOT NULL</a:t>
            </a:r>
            <a:r>
              <a:rPr lang="en-US" sz="1400">
                <a:solidFill>
                  <a:srgbClr val="FFFFFF"/>
                </a:solidFill>
                <a:latin typeface="Consolas"/>
                <a:ea typeface="Consolas"/>
                <a:cs typeface="Consolas"/>
                <a:sym typeface="Consolas"/>
              </a:rPr>
              <a:t>,</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    estimated_cost </a:t>
            </a:r>
            <a:r>
              <a:rPr lang="en-US" sz="1400">
                <a:solidFill>
                  <a:srgbClr val="60A5FA"/>
                </a:solidFill>
                <a:latin typeface="Consolas"/>
                <a:ea typeface="Consolas"/>
                <a:cs typeface="Consolas"/>
                <a:sym typeface="Consolas"/>
              </a:rPr>
              <a:t>DECIMAL(15, 2)</a:t>
            </a:r>
            <a:r>
              <a:rPr lang="en-US" sz="1400">
                <a:solidFill>
                  <a:srgbClr val="FFFFFF"/>
                </a:solidFill>
                <a:latin typeface="Consolas"/>
                <a:ea typeface="Consolas"/>
                <a:cs typeface="Consolas"/>
                <a:sym typeface="Consolas"/>
              </a:rPr>
              <a:t>,</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    status </a:t>
            </a:r>
            <a:r>
              <a:rPr lang="en-US" sz="1400">
                <a:solidFill>
                  <a:srgbClr val="60A5FA"/>
                </a:solidFill>
                <a:latin typeface="Consolas"/>
                <a:ea typeface="Consolas"/>
                <a:cs typeface="Consolas"/>
                <a:sym typeface="Consolas"/>
              </a:rPr>
              <a:t>VARCHAR(50) DEFAULT </a:t>
            </a:r>
            <a:r>
              <a:rPr lang="en-US" sz="1400">
                <a:solidFill>
                  <a:srgbClr val="FBBF24"/>
                </a:solidFill>
                <a:latin typeface="Consolas"/>
                <a:ea typeface="Consolas"/>
                <a:cs typeface="Consolas"/>
                <a:sym typeface="Consolas"/>
              </a:rPr>
              <a:t>'PENDING'</a:t>
            </a:r>
            <a:r>
              <a:rPr lang="en-US" sz="1400">
                <a:solidFill>
                  <a:srgbClr val="FFFFFF"/>
                </a:solidFill>
                <a:latin typeface="Consolas"/>
                <a:ea typeface="Consolas"/>
                <a:cs typeface="Consolas"/>
                <a:sym typeface="Consolas"/>
              </a:rPr>
              <a:t>,</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    created_at </a:t>
            </a:r>
            <a:r>
              <a:rPr lang="en-US" sz="1400">
                <a:solidFill>
                  <a:srgbClr val="60A5FA"/>
                </a:solidFill>
                <a:latin typeface="Consolas"/>
                <a:ea typeface="Consolas"/>
                <a:cs typeface="Consolas"/>
                <a:sym typeface="Consolas"/>
              </a:rPr>
              <a:t>TIMESTAMP DEFAULT CURRENT_TIMESTAMP</a:t>
            </a:r>
            <a:r>
              <a:rPr lang="en-US" sz="1400">
                <a:solidFill>
                  <a:srgbClr val="FFFFFF"/>
                </a:solidFill>
                <a:latin typeface="Consolas"/>
                <a:ea typeface="Consolas"/>
                <a:cs typeface="Consolas"/>
                <a:sym typeface="Consolas"/>
              </a:rPr>
              <a:t>,</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    </a:t>
            </a:r>
            <a:r>
              <a:rPr b="1" lang="en-US" sz="1400">
                <a:solidFill>
                  <a:srgbClr val="F472B6"/>
                </a:solidFill>
                <a:latin typeface="Consolas"/>
                <a:ea typeface="Consolas"/>
                <a:cs typeface="Consolas"/>
                <a:sym typeface="Consolas"/>
              </a:rPr>
              <a:t>FOREIGN KEY</a:t>
            </a:r>
            <a:r>
              <a:rPr lang="en-US" sz="1400">
                <a:solidFill>
                  <a:srgbClr val="FFFFFF"/>
                </a:solidFill>
                <a:latin typeface="Consolas"/>
                <a:ea typeface="Consolas"/>
                <a:cs typeface="Consolas"/>
                <a:sym typeface="Consolas"/>
              </a:rPr>
              <a:t> (employee_id) </a:t>
            </a:r>
            <a:r>
              <a:rPr b="1" lang="en-US" sz="1400">
                <a:solidFill>
                  <a:srgbClr val="F472B6"/>
                </a:solidFill>
                <a:latin typeface="Consolas"/>
                <a:ea typeface="Consolas"/>
                <a:cs typeface="Consolas"/>
                <a:sym typeface="Consolas"/>
              </a:rPr>
              <a:t>REFERENCES</a:t>
            </a:r>
            <a:r>
              <a:rPr lang="en-US" sz="1400">
                <a:solidFill>
                  <a:srgbClr val="FFFFFF"/>
                </a:solidFill>
                <a:latin typeface="Consolas"/>
                <a:ea typeface="Consolas"/>
                <a:cs typeface="Consolas"/>
                <a:sym typeface="Consolas"/>
              </a:rPr>
              <a:t> Users(user_id),</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    </a:t>
            </a:r>
            <a:r>
              <a:rPr b="1" lang="en-US" sz="1400">
                <a:solidFill>
                  <a:srgbClr val="F472B6"/>
                </a:solidFill>
                <a:latin typeface="Consolas"/>
                <a:ea typeface="Consolas"/>
                <a:cs typeface="Consolas"/>
                <a:sym typeface="Consolas"/>
              </a:rPr>
              <a:t>FOREIGN KEY</a:t>
            </a:r>
            <a:r>
              <a:rPr lang="en-US" sz="1400">
                <a:solidFill>
                  <a:srgbClr val="FFFFFF"/>
                </a:solidFill>
                <a:latin typeface="Consolas"/>
                <a:ea typeface="Consolas"/>
                <a:cs typeface="Consolas"/>
                <a:sym typeface="Consolas"/>
              </a:rPr>
              <a:t> (dept_id) </a:t>
            </a:r>
            <a:r>
              <a:rPr b="1" lang="en-US" sz="1400">
                <a:solidFill>
                  <a:srgbClr val="F472B6"/>
                </a:solidFill>
                <a:latin typeface="Consolas"/>
                <a:ea typeface="Consolas"/>
                <a:cs typeface="Consolas"/>
                <a:sym typeface="Consolas"/>
              </a:rPr>
              <a:t>REFERENCES</a:t>
            </a:r>
            <a:r>
              <a:rPr lang="en-US" sz="1400">
                <a:solidFill>
                  <a:srgbClr val="FFFFFF"/>
                </a:solidFill>
                <a:latin typeface="Consolas"/>
                <a:ea typeface="Consolas"/>
                <a:cs typeface="Consolas"/>
                <a:sym typeface="Consolas"/>
              </a:rPr>
              <a:t> Departments(dept_id)</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onsolas"/>
              <a:buNone/>
            </a:pPr>
            <a:r>
              <a:rPr lang="en-US" sz="1400">
                <a:solidFill>
                  <a:srgbClr val="FFFFFF"/>
                </a:solidFill>
                <a:latin typeface="Consolas"/>
                <a:ea typeface="Consolas"/>
                <a:cs typeface="Consolas"/>
                <a:sym typeface="Consolas"/>
              </a:rPr>
              <a:t>);</a:t>
            </a:r>
            <a:endParaRPr sz="1400">
              <a:solidFill>
                <a:schemeClr val="dk1"/>
              </a:solidFill>
              <a:latin typeface="Calibri"/>
              <a:ea typeface="Calibri"/>
              <a:cs typeface="Calibri"/>
              <a:sym typeface="Calibri"/>
            </a:endParaRPr>
          </a:p>
        </p:txBody>
      </p:sp>
      <p:sp>
        <p:nvSpPr>
          <p:cNvPr id="400" name="Google Shape;400;p13"/>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03  SQL Implementation</a:t>
            </a:r>
            <a:endParaRPr sz="900">
              <a:solidFill>
                <a:schemeClr val="dk1"/>
              </a:solidFill>
              <a:latin typeface="Calibri"/>
              <a:ea typeface="Calibri"/>
              <a:cs typeface="Calibri"/>
              <a:sym typeface="Calibri"/>
            </a:endParaRPr>
          </a:p>
        </p:txBody>
      </p:sp>
      <p:sp>
        <p:nvSpPr>
          <p:cNvPr id="401" name="Google Shape;401;p13"/>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11</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pic>
        <p:nvPicPr>
          <p:cNvPr descr="preencoded.png" id="407" name="Google Shape;407;p14"/>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408" name="Google Shape;408;p14"/>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Three Tiers of SQL Queries</a:t>
            </a:r>
            <a:endParaRPr sz="2800">
              <a:solidFill>
                <a:schemeClr val="dk1"/>
              </a:solidFill>
              <a:latin typeface="Calibri"/>
              <a:ea typeface="Calibri"/>
              <a:cs typeface="Calibri"/>
              <a:sym typeface="Calibri"/>
            </a:endParaRPr>
          </a:p>
        </p:txBody>
      </p:sp>
      <p:sp>
        <p:nvSpPr>
          <p:cNvPr id="409" name="Google Shape;409;p14"/>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From simple lookups to multi-table aggregations and CTEs</a:t>
            </a:r>
            <a:endParaRPr sz="1300">
              <a:solidFill>
                <a:schemeClr val="dk1"/>
              </a:solidFill>
              <a:latin typeface="Calibri"/>
              <a:ea typeface="Calibri"/>
              <a:cs typeface="Calibri"/>
              <a:sym typeface="Calibri"/>
            </a:endParaRPr>
          </a:p>
        </p:txBody>
      </p:sp>
      <p:sp>
        <p:nvSpPr>
          <p:cNvPr id="410" name="Google Shape;410;p14"/>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4"/>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Parva</a:t>
            </a:r>
            <a:endParaRPr sz="1100">
              <a:solidFill>
                <a:schemeClr val="dk1"/>
              </a:solidFill>
              <a:latin typeface="Calibri"/>
              <a:ea typeface="Calibri"/>
              <a:cs typeface="Calibri"/>
              <a:sym typeface="Calibri"/>
            </a:endParaRPr>
          </a:p>
        </p:txBody>
      </p:sp>
      <p:sp>
        <p:nvSpPr>
          <p:cNvPr id="412" name="Google Shape;412;p14"/>
          <p:cNvSpPr/>
          <p:nvPr/>
        </p:nvSpPr>
        <p:spPr>
          <a:xfrm>
            <a:off x="457200" y="1371600"/>
            <a:ext cx="3703320" cy="4846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4"/>
          <p:cNvSpPr/>
          <p:nvPr/>
        </p:nvSpPr>
        <p:spPr>
          <a:xfrm>
            <a:off x="457200" y="1371600"/>
            <a:ext cx="3703320" cy="502920"/>
          </a:xfrm>
          <a:prstGeom prst="rect">
            <a:avLst/>
          </a:prstGeom>
          <a:solidFill>
            <a:srgbClr val="CADC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4"/>
          <p:cNvSpPr/>
          <p:nvPr/>
        </p:nvSpPr>
        <p:spPr>
          <a:xfrm>
            <a:off x="640080" y="137160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BASIC</a:t>
            </a:r>
            <a:endParaRPr sz="1300">
              <a:solidFill>
                <a:schemeClr val="dk1"/>
              </a:solidFill>
              <a:latin typeface="Calibri"/>
              <a:ea typeface="Calibri"/>
              <a:cs typeface="Calibri"/>
              <a:sym typeface="Calibri"/>
            </a:endParaRPr>
          </a:p>
        </p:txBody>
      </p:sp>
      <p:sp>
        <p:nvSpPr>
          <p:cNvPr id="415" name="Google Shape;415;p14"/>
          <p:cNvSpPr/>
          <p:nvPr/>
        </p:nvSpPr>
        <p:spPr>
          <a:xfrm>
            <a:off x="2286000" y="1371600"/>
            <a:ext cx="17830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6 queries</a:t>
            </a:r>
            <a:endParaRPr sz="1100">
              <a:solidFill>
                <a:schemeClr val="dk1"/>
              </a:solidFill>
              <a:latin typeface="Calibri"/>
              <a:ea typeface="Calibri"/>
              <a:cs typeface="Calibri"/>
              <a:sym typeface="Calibri"/>
            </a:endParaRPr>
          </a:p>
        </p:txBody>
      </p:sp>
      <p:sp>
        <p:nvSpPr>
          <p:cNvPr id="416" name="Google Shape;416;p14"/>
          <p:cNvSpPr/>
          <p:nvPr/>
        </p:nvSpPr>
        <p:spPr>
          <a:xfrm>
            <a:off x="640080" y="2011680"/>
            <a:ext cx="3383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INSERT, SELECT, UPDATE</a:t>
            </a:r>
            <a:endParaRPr sz="1300">
              <a:solidFill>
                <a:schemeClr val="dk1"/>
              </a:solidFill>
              <a:latin typeface="Calibri"/>
              <a:ea typeface="Calibri"/>
              <a:cs typeface="Calibri"/>
              <a:sym typeface="Calibri"/>
            </a:endParaRPr>
          </a:p>
        </p:txBody>
      </p:sp>
      <p:sp>
        <p:nvSpPr>
          <p:cNvPr id="417" name="Google Shape;417;p14"/>
          <p:cNvSpPr/>
          <p:nvPr/>
        </p:nvSpPr>
        <p:spPr>
          <a:xfrm>
            <a:off x="640080" y="2377440"/>
            <a:ext cx="338328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Loading user profiles</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Fetching pending requests</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Listing top-rated vendors</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Reading audit log entries</a:t>
            </a:r>
            <a:endParaRPr sz="1150">
              <a:solidFill>
                <a:schemeClr val="dk1"/>
              </a:solidFill>
              <a:latin typeface="Calibri"/>
              <a:ea typeface="Calibri"/>
              <a:cs typeface="Calibri"/>
              <a:sym typeface="Calibri"/>
            </a:endParaRPr>
          </a:p>
        </p:txBody>
      </p:sp>
      <p:sp>
        <p:nvSpPr>
          <p:cNvPr id="418" name="Google Shape;418;p14"/>
          <p:cNvSpPr/>
          <p:nvPr/>
        </p:nvSpPr>
        <p:spPr>
          <a:xfrm>
            <a:off x="640080" y="4023360"/>
            <a:ext cx="3337560" cy="2057400"/>
          </a:xfrm>
          <a:prstGeom prst="rect">
            <a:avLst/>
          </a:prstGeom>
          <a:solidFill>
            <a:srgbClr val="0F18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4"/>
          <p:cNvSpPr/>
          <p:nvPr/>
        </p:nvSpPr>
        <p:spPr>
          <a:xfrm>
            <a:off x="777240" y="4114800"/>
            <a:ext cx="3108960" cy="1874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72B6"/>
              </a:buClr>
              <a:buSzPts val="1100"/>
              <a:buFont typeface="Consolas"/>
              <a:buNone/>
            </a:pPr>
            <a:r>
              <a:rPr lang="en-US" sz="1100">
                <a:solidFill>
                  <a:srgbClr val="F472B6"/>
                </a:solidFill>
                <a:latin typeface="Consolas"/>
                <a:ea typeface="Consolas"/>
                <a:cs typeface="Consolas"/>
                <a:sym typeface="Consolas"/>
              </a:rPr>
              <a:t>SELECT</a:t>
            </a:r>
            <a:r>
              <a:rPr lang="en-US" sz="1100">
                <a:solidFill>
                  <a:srgbClr val="FFFFFF"/>
                </a:solidFill>
                <a:latin typeface="Consolas"/>
                <a:ea typeface="Consolas"/>
                <a:cs typeface="Consolas"/>
                <a:sym typeface="Consolas"/>
              </a:rPr>
              <a:t> u.name, r.role_name</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FROM</a:t>
            </a:r>
            <a:r>
              <a:rPr lang="en-US" sz="1100">
                <a:solidFill>
                  <a:srgbClr val="FFFFFF"/>
                </a:solidFill>
                <a:latin typeface="Consolas"/>
                <a:ea typeface="Consolas"/>
                <a:cs typeface="Consolas"/>
                <a:sym typeface="Consolas"/>
              </a:rPr>
              <a:t> Users u</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JOIN</a:t>
            </a:r>
            <a:r>
              <a:rPr lang="en-US" sz="1100">
                <a:solidFill>
                  <a:srgbClr val="FFFFFF"/>
                </a:solidFill>
                <a:latin typeface="Consolas"/>
                <a:ea typeface="Consolas"/>
                <a:cs typeface="Consolas"/>
                <a:sym typeface="Consolas"/>
              </a:rPr>
              <a:t> Roles r </a:t>
            </a:r>
            <a:r>
              <a:rPr lang="en-US" sz="1100">
                <a:solidFill>
                  <a:srgbClr val="F472B6"/>
                </a:solidFill>
                <a:latin typeface="Consolas"/>
                <a:ea typeface="Consolas"/>
                <a:cs typeface="Consolas"/>
                <a:sym typeface="Consolas"/>
              </a:rPr>
              <a:t>ON</a:t>
            </a:r>
            <a:br>
              <a:rPr lang="en-US" sz="1100">
                <a:solidFill>
                  <a:srgbClr val="FFFFFF"/>
                </a:solidFill>
                <a:latin typeface="Consolas"/>
                <a:ea typeface="Consolas"/>
                <a:cs typeface="Consolas"/>
                <a:sym typeface="Consolas"/>
              </a:rPr>
            </a:br>
            <a:r>
              <a:rPr lang="en-US" sz="1100">
                <a:solidFill>
                  <a:srgbClr val="FFFFFF"/>
                </a:solidFill>
                <a:latin typeface="Consolas"/>
                <a:ea typeface="Consolas"/>
                <a:cs typeface="Consolas"/>
                <a:sym typeface="Consolas"/>
              </a:rPr>
              <a:t>  u.role_id = r.role_id</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WHERE</a:t>
            </a:r>
            <a:r>
              <a:rPr lang="en-US" sz="1100">
                <a:solidFill>
                  <a:srgbClr val="FFFFFF"/>
                </a:solidFill>
                <a:latin typeface="Consolas"/>
                <a:ea typeface="Consolas"/>
                <a:cs typeface="Consolas"/>
                <a:sym typeface="Consolas"/>
              </a:rPr>
              <a:t> u.is_active = </a:t>
            </a:r>
            <a:r>
              <a:rPr lang="en-US" sz="1100">
                <a:solidFill>
                  <a:srgbClr val="60A5FA"/>
                </a:solidFill>
                <a:latin typeface="Consolas"/>
                <a:ea typeface="Consolas"/>
                <a:cs typeface="Consolas"/>
                <a:sym typeface="Consolas"/>
              </a:rPr>
              <a:t>TRUE</a:t>
            </a:r>
            <a:r>
              <a:rPr lang="en-US" sz="1100">
                <a:solidFill>
                  <a:srgbClr val="FFFFFF"/>
                </a:solidFill>
                <a:latin typeface="Consolas"/>
                <a:ea typeface="Consolas"/>
                <a:cs typeface="Consolas"/>
                <a:sym typeface="Consolas"/>
              </a:rPr>
              <a:t>;</a:t>
            </a:r>
            <a:endParaRPr sz="1100">
              <a:solidFill>
                <a:schemeClr val="dk1"/>
              </a:solidFill>
              <a:latin typeface="Calibri"/>
              <a:ea typeface="Calibri"/>
              <a:cs typeface="Calibri"/>
              <a:sym typeface="Calibri"/>
            </a:endParaRPr>
          </a:p>
        </p:txBody>
      </p:sp>
      <p:sp>
        <p:nvSpPr>
          <p:cNvPr id="420" name="Google Shape;420;p14"/>
          <p:cNvSpPr/>
          <p:nvPr/>
        </p:nvSpPr>
        <p:spPr>
          <a:xfrm>
            <a:off x="4297680" y="1371600"/>
            <a:ext cx="3703320" cy="4846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4"/>
          <p:cNvSpPr/>
          <p:nvPr/>
        </p:nvSpPr>
        <p:spPr>
          <a:xfrm>
            <a:off x="4297680" y="1371600"/>
            <a:ext cx="3703320" cy="502920"/>
          </a:xfrm>
          <a:prstGeom prst="rect">
            <a:avLst/>
          </a:prstGeom>
          <a:solidFill>
            <a:srgbClr val="2A3C7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4"/>
          <p:cNvSpPr/>
          <p:nvPr/>
        </p:nvSpPr>
        <p:spPr>
          <a:xfrm>
            <a:off x="4480560" y="137160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INTERMEDIATE</a:t>
            </a:r>
            <a:endParaRPr sz="1300">
              <a:solidFill>
                <a:schemeClr val="dk1"/>
              </a:solidFill>
              <a:latin typeface="Calibri"/>
              <a:ea typeface="Calibri"/>
              <a:cs typeface="Calibri"/>
              <a:sym typeface="Calibri"/>
            </a:endParaRPr>
          </a:p>
        </p:txBody>
      </p:sp>
      <p:sp>
        <p:nvSpPr>
          <p:cNvPr id="423" name="Google Shape;423;p14"/>
          <p:cNvSpPr/>
          <p:nvPr/>
        </p:nvSpPr>
        <p:spPr>
          <a:xfrm>
            <a:off x="6583680" y="1371600"/>
            <a:ext cx="13258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100"/>
              <a:buFont typeface="Calibri"/>
              <a:buNone/>
            </a:pPr>
            <a:r>
              <a:rPr i="1" lang="en-US" sz="1100">
                <a:solidFill>
                  <a:srgbClr val="CADCFC"/>
                </a:solidFill>
                <a:latin typeface="Calibri"/>
                <a:ea typeface="Calibri"/>
                <a:cs typeface="Calibri"/>
                <a:sym typeface="Calibri"/>
              </a:rPr>
              <a:t>4 queries</a:t>
            </a:r>
            <a:endParaRPr sz="1100">
              <a:solidFill>
                <a:schemeClr val="dk1"/>
              </a:solidFill>
              <a:latin typeface="Calibri"/>
              <a:ea typeface="Calibri"/>
              <a:cs typeface="Calibri"/>
              <a:sym typeface="Calibri"/>
            </a:endParaRPr>
          </a:p>
        </p:txBody>
      </p:sp>
      <p:sp>
        <p:nvSpPr>
          <p:cNvPr id="424" name="Google Shape;424;p14"/>
          <p:cNvSpPr/>
          <p:nvPr/>
        </p:nvSpPr>
        <p:spPr>
          <a:xfrm>
            <a:off x="4480560" y="201168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Joins, GROUP BY, HAVING, Subqueries</a:t>
            </a:r>
            <a:endParaRPr sz="1300">
              <a:solidFill>
                <a:schemeClr val="dk1"/>
              </a:solidFill>
              <a:latin typeface="Calibri"/>
              <a:ea typeface="Calibri"/>
              <a:cs typeface="Calibri"/>
              <a:sym typeface="Calibri"/>
            </a:endParaRPr>
          </a:p>
        </p:txBody>
      </p:sp>
      <p:sp>
        <p:nvSpPr>
          <p:cNvPr id="425" name="Google Shape;425;p14"/>
          <p:cNvSpPr/>
          <p:nvPr/>
        </p:nvSpPr>
        <p:spPr>
          <a:xfrm>
            <a:off x="4480560" y="2377440"/>
            <a:ext cx="342900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Pending cost per department</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Departments over 80% budget</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Above-average request finder</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Top vendors by invoice volume</a:t>
            </a:r>
            <a:endParaRPr sz="1150">
              <a:solidFill>
                <a:schemeClr val="dk1"/>
              </a:solidFill>
              <a:latin typeface="Calibri"/>
              <a:ea typeface="Calibri"/>
              <a:cs typeface="Calibri"/>
              <a:sym typeface="Calibri"/>
            </a:endParaRPr>
          </a:p>
        </p:txBody>
      </p:sp>
      <p:sp>
        <p:nvSpPr>
          <p:cNvPr id="426" name="Google Shape;426;p14"/>
          <p:cNvSpPr/>
          <p:nvPr/>
        </p:nvSpPr>
        <p:spPr>
          <a:xfrm>
            <a:off x="4480560" y="4023360"/>
            <a:ext cx="3337560" cy="2057400"/>
          </a:xfrm>
          <a:prstGeom prst="rect">
            <a:avLst/>
          </a:prstGeom>
          <a:solidFill>
            <a:srgbClr val="0F18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4"/>
          <p:cNvSpPr/>
          <p:nvPr/>
        </p:nvSpPr>
        <p:spPr>
          <a:xfrm>
            <a:off x="4617720" y="4114800"/>
            <a:ext cx="3108960" cy="1874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72B6"/>
              </a:buClr>
              <a:buSzPts val="1100"/>
              <a:buFont typeface="Consolas"/>
              <a:buNone/>
            </a:pPr>
            <a:r>
              <a:rPr lang="en-US" sz="1100">
                <a:solidFill>
                  <a:srgbClr val="F472B6"/>
                </a:solidFill>
                <a:latin typeface="Consolas"/>
                <a:ea typeface="Consolas"/>
                <a:cs typeface="Consolas"/>
                <a:sym typeface="Consolas"/>
              </a:rPr>
              <a:t>SELECT</a:t>
            </a:r>
            <a:r>
              <a:rPr lang="en-US" sz="1100">
                <a:solidFill>
                  <a:srgbClr val="FFFFFF"/>
                </a:solidFill>
                <a:latin typeface="Consolas"/>
                <a:ea typeface="Consolas"/>
                <a:cs typeface="Consolas"/>
                <a:sym typeface="Consolas"/>
              </a:rPr>
              <a:t> dept_name,</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onsolas"/>
              <a:buNone/>
            </a:pPr>
            <a:r>
              <a:rPr lang="en-US" sz="1100">
                <a:solidFill>
                  <a:srgbClr val="FFFFFF"/>
                </a:solidFill>
                <a:latin typeface="Consolas"/>
                <a:ea typeface="Consolas"/>
                <a:cs typeface="Consolas"/>
                <a:sym typeface="Consolas"/>
              </a:rPr>
              <a:t>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FBBF24"/>
              </a:buClr>
              <a:buSzPts val="1100"/>
              <a:buFont typeface="Consolas"/>
              <a:buNone/>
            </a:pPr>
            <a:r>
              <a:rPr lang="en-US" sz="1100">
                <a:solidFill>
                  <a:srgbClr val="FBBF24"/>
                </a:solidFill>
                <a:latin typeface="Consolas"/>
                <a:ea typeface="Consolas"/>
                <a:cs typeface="Consolas"/>
                <a:sym typeface="Consolas"/>
              </a:rPr>
              <a:t>SUM</a:t>
            </a:r>
            <a:r>
              <a:rPr lang="en-US" sz="1100">
                <a:solidFill>
                  <a:srgbClr val="FFFFFF"/>
                </a:solidFill>
                <a:latin typeface="Consolas"/>
                <a:ea typeface="Consolas"/>
                <a:cs typeface="Consolas"/>
                <a:sym typeface="Consolas"/>
              </a:rPr>
              <a:t>(estimated_cost)</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FROM</a:t>
            </a:r>
            <a:r>
              <a:rPr lang="en-US" sz="1100">
                <a:solidFill>
                  <a:srgbClr val="FFFFFF"/>
                </a:solidFill>
                <a:latin typeface="Consolas"/>
                <a:ea typeface="Consolas"/>
                <a:cs typeface="Consolas"/>
                <a:sym typeface="Consolas"/>
              </a:rPr>
              <a:t> Departments d</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JOIN</a:t>
            </a:r>
            <a:r>
              <a:rPr lang="en-US" sz="1100">
                <a:solidFill>
                  <a:srgbClr val="FFFFFF"/>
                </a:solidFill>
                <a:latin typeface="Consolas"/>
                <a:ea typeface="Consolas"/>
                <a:cs typeface="Consolas"/>
                <a:sym typeface="Consolas"/>
              </a:rPr>
              <a:t> Purchase_Requests pr</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onsolas"/>
              <a:buNone/>
            </a:pPr>
            <a:r>
              <a:rPr lang="en-US" sz="1100">
                <a:solidFill>
                  <a:srgbClr val="FFFFFF"/>
                </a:solidFill>
                <a:latin typeface="Consolas"/>
                <a:ea typeface="Consolas"/>
                <a:cs typeface="Consolas"/>
                <a:sym typeface="Consolas"/>
              </a:rPr>
              <a:t>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F472B6"/>
              </a:buClr>
              <a:buSzPts val="1100"/>
              <a:buFont typeface="Consolas"/>
              <a:buNone/>
            </a:pPr>
            <a:r>
              <a:rPr lang="en-US" sz="1100">
                <a:solidFill>
                  <a:srgbClr val="F472B6"/>
                </a:solidFill>
                <a:latin typeface="Consolas"/>
                <a:ea typeface="Consolas"/>
                <a:cs typeface="Consolas"/>
                <a:sym typeface="Consolas"/>
              </a:rPr>
              <a:t>ON</a:t>
            </a:r>
            <a:r>
              <a:rPr lang="en-US" sz="1100">
                <a:solidFill>
                  <a:srgbClr val="FFFFFF"/>
                </a:solidFill>
                <a:latin typeface="Consolas"/>
                <a:ea typeface="Consolas"/>
                <a:cs typeface="Consolas"/>
                <a:sym typeface="Consolas"/>
              </a:rPr>
              <a:t> d.dept_id = pr.dept_id</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GROUP BY</a:t>
            </a:r>
            <a:r>
              <a:rPr lang="en-US" sz="1100">
                <a:solidFill>
                  <a:srgbClr val="FFFFFF"/>
                </a:solidFill>
                <a:latin typeface="Consolas"/>
                <a:ea typeface="Consolas"/>
                <a:cs typeface="Consolas"/>
                <a:sym typeface="Consolas"/>
              </a:rPr>
              <a:t> dept_name;</a:t>
            </a:r>
            <a:endParaRPr sz="1100">
              <a:solidFill>
                <a:schemeClr val="dk1"/>
              </a:solidFill>
              <a:latin typeface="Calibri"/>
              <a:ea typeface="Calibri"/>
              <a:cs typeface="Calibri"/>
              <a:sym typeface="Calibri"/>
            </a:endParaRPr>
          </a:p>
        </p:txBody>
      </p:sp>
      <p:sp>
        <p:nvSpPr>
          <p:cNvPr id="428" name="Google Shape;428;p14"/>
          <p:cNvSpPr/>
          <p:nvPr/>
        </p:nvSpPr>
        <p:spPr>
          <a:xfrm>
            <a:off x="8138160" y="1371600"/>
            <a:ext cx="3566160" cy="4846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4"/>
          <p:cNvSpPr/>
          <p:nvPr/>
        </p:nvSpPr>
        <p:spPr>
          <a:xfrm>
            <a:off x="8138160" y="1371600"/>
            <a:ext cx="3566160" cy="5029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4"/>
          <p:cNvSpPr/>
          <p:nvPr/>
        </p:nvSpPr>
        <p:spPr>
          <a:xfrm>
            <a:off x="8321040" y="1371600"/>
            <a:ext cx="1828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300"/>
              <a:buFont typeface="Calibri"/>
              <a:buNone/>
            </a:pPr>
            <a:r>
              <a:rPr b="1" lang="en-US" sz="1300">
                <a:solidFill>
                  <a:srgbClr val="D4AF37"/>
                </a:solidFill>
                <a:latin typeface="Calibri"/>
                <a:ea typeface="Calibri"/>
                <a:cs typeface="Calibri"/>
                <a:sym typeface="Calibri"/>
              </a:rPr>
              <a:t>ADVANCED</a:t>
            </a:r>
            <a:endParaRPr sz="1300">
              <a:solidFill>
                <a:schemeClr val="dk1"/>
              </a:solidFill>
              <a:latin typeface="Calibri"/>
              <a:ea typeface="Calibri"/>
              <a:cs typeface="Calibri"/>
              <a:sym typeface="Calibri"/>
            </a:endParaRPr>
          </a:p>
        </p:txBody>
      </p:sp>
      <p:sp>
        <p:nvSpPr>
          <p:cNvPr id="431" name="Google Shape;431;p14"/>
          <p:cNvSpPr/>
          <p:nvPr/>
        </p:nvSpPr>
        <p:spPr>
          <a:xfrm>
            <a:off x="10149840" y="1371600"/>
            <a:ext cx="141732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100"/>
              <a:buFont typeface="Calibri"/>
              <a:buNone/>
            </a:pPr>
            <a:r>
              <a:rPr i="1" lang="en-US" sz="1100">
                <a:solidFill>
                  <a:srgbClr val="CADCFC"/>
                </a:solidFill>
                <a:latin typeface="Calibri"/>
                <a:ea typeface="Calibri"/>
                <a:cs typeface="Calibri"/>
                <a:sym typeface="Calibri"/>
              </a:rPr>
              <a:t>2 queries</a:t>
            </a:r>
            <a:endParaRPr sz="1100">
              <a:solidFill>
                <a:schemeClr val="dk1"/>
              </a:solidFill>
              <a:latin typeface="Calibri"/>
              <a:ea typeface="Calibri"/>
              <a:cs typeface="Calibri"/>
              <a:sym typeface="Calibri"/>
            </a:endParaRPr>
          </a:p>
        </p:txBody>
      </p:sp>
      <p:sp>
        <p:nvSpPr>
          <p:cNvPr id="432" name="Google Shape;432;p14"/>
          <p:cNvSpPr/>
          <p:nvPr/>
        </p:nvSpPr>
        <p:spPr>
          <a:xfrm>
            <a:off x="8321040" y="2011680"/>
            <a:ext cx="3291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CTEs, Multi-Join, COALESCE</a:t>
            </a:r>
            <a:endParaRPr sz="1300">
              <a:solidFill>
                <a:schemeClr val="dk1"/>
              </a:solidFill>
              <a:latin typeface="Calibri"/>
              <a:ea typeface="Calibri"/>
              <a:cs typeface="Calibri"/>
              <a:sym typeface="Calibri"/>
            </a:endParaRPr>
          </a:p>
        </p:txBody>
      </p:sp>
      <p:sp>
        <p:nvSpPr>
          <p:cNvPr id="433" name="Google Shape;433;p14"/>
          <p:cNvSpPr/>
          <p:nvPr/>
        </p:nvSpPr>
        <p:spPr>
          <a:xfrm>
            <a:off x="8321040" y="2377440"/>
            <a:ext cx="329184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Vendor reconciliation report</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Outstanding balance calculation</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PR lifecycle tracing via CTE</a:t>
            </a:r>
            <a:endParaRPr sz="1150">
              <a:solidFill>
                <a:schemeClr val="dk1"/>
              </a:solidFill>
              <a:latin typeface="Calibri"/>
              <a:ea typeface="Calibri"/>
              <a:cs typeface="Calibri"/>
              <a:sym typeface="Calibri"/>
            </a:endParaRPr>
          </a:p>
          <a:p>
            <a:pPr indent="-342900" lvl="0" marL="342900" marR="0" rtl="0" algn="l">
              <a:spcBef>
                <a:spcPts val="400"/>
              </a:spcBef>
              <a:spcAft>
                <a:spcPts val="0"/>
              </a:spcAft>
              <a:buClr>
                <a:srgbClr val="1A1F36"/>
              </a:buClr>
              <a:buSzPts val="1150"/>
              <a:buFont typeface="Calibri"/>
              <a:buChar char="•"/>
            </a:pPr>
            <a:r>
              <a:rPr lang="en-US" sz="1150">
                <a:solidFill>
                  <a:srgbClr val="1A1F36"/>
                </a:solidFill>
                <a:latin typeface="Calibri"/>
                <a:ea typeface="Calibri"/>
                <a:cs typeface="Calibri"/>
                <a:sym typeface="Calibri"/>
              </a:rPr>
              <a:t>Budget % consumed per request</a:t>
            </a:r>
            <a:endParaRPr sz="1150">
              <a:solidFill>
                <a:schemeClr val="dk1"/>
              </a:solidFill>
              <a:latin typeface="Calibri"/>
              <a:ea typeface="Calibri"/>
              <a:cs typeface="Calibri"/>
              <a:sym typeface="Calibri"/>
            </a:endParaRPr>
          </a:p>
        </p:txBody>
      </p:sp>
      <p:sp>
        <p:nvSpPr>
          <p:cNvPr id="434" name="Google Shape;434;p14"/>
          <p:cNvSpPr/>
          <p:nvPr/>
        </p:nvSpPr>
        <p:spPr>
          <a:xfrm>
            <a:off x="8321040" y="4023360"/>
            <a:ext cx="3200400" cy="2057400"/>
          </a:xfrm>
          <a:prstGeom prst="rect">
            <a:avLst/>
          </a:prstGeom>
          <a:solidFill>
            <a:srgbClr val="0F18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4"/>
          <p:cNvSpPr/>
          <p:nvPr/>
        </p:nvSpPr>
        <p:spPr>
          <a:xfrm>
            <a:off x="8458200" y="4114800"/>
            <a:ext cx="2971800" cy="1874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72B6"/>
              </a:buClr>
              <a:buSzPts val="1050"/>
              <a:buFont typeface="Consolas"/>
              <a:buNone/>
            </a:pPr>
            <a:r>
              <a:rPr lang="en-US" sz="1050">
                <a:solidFill>
                  <a:srgbClr val="F472B6"/>
                </a:solidFill>
                <a:latin typeface="Consolas"/>
                <a:ea typeface="Consolas"/>
                <a:cs typeface="Consolas"/>
                <a:sym typeface="Consolas"/>
              </a:rPr>
              <a:t>WITH</a:t>
            </a:r>
            <a:r>
              <a:rPr lang="en-US" sz="1050">
                <a:solidFill>
                  <a:srgbClr val="FFFFFF"/>
                </a:solidFill>
                <a:latin typeface="Consolas"/>
                <a:ea typeface="Consolas"/>
                <a:cs typeface="Consolas"/>
                <a:sym typeface="Consolas"/>
              </a:rPr>
              <a:t> Request_CTE </a:t>
            </a:r>
            <a:r>
              <a:rPr lang="en-US" sz="1050">
                <a:solidFill>
                  <a:srgbClr val="F472B6"/>
                </a:solidFill>
                <a:latin typeface="Consolas"/>
                <a:ea typeface="Consolas"/>
                <a:cs typeface="Consolas"/>
                <a:sym typeface="Consolas"/>
              </a:rPr>
              <a:t>AS</a:t>
            </a:r>
            <a:r>
              <a:rPr lang="en-US" sz="1050">
                <a:solidFill>
                  <a:srgbClr val="FFFFFF"/>
                </a:solidFill>
                <a:latin typeface="Consolas"/>
                <a:ea typeface="Consolas"/>
                <a:cs typeface="Consolas"/>
                <a:sym typeface="Consolas"/>
              </a:rPr>
              <a:t>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onsolas"/>
              <a:buNone/>
            </a:pPr>
            <a:r>
              <a:rPr lang="en-US" sz="1050">
                <a:solidFill>
                  <a:srgbClr val="FFFFFF"/>
                </a:solidFill>
                <a:latin typeface="Consolas"/>
                <a:ea typeface="Consolas"/>
                <a:cs typeface="Consolas"/>
                <a:sym typeface="Consolas"/>
              </a:rPr>
              <a:t>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F472B6"/>
              </a:buClr>
              <a:buSzPts val="1050"/>
              <a:buFont typeface="Consolas"/>
              <a:buNone/>
            </a:pPr>
            <a:r>
              <a:rPr lang="en-US" sz="1050">
                <a:solidFill>
                  <a:srgbClr val="F472B6"/>
                </a:solidFill>
                <a:latin typeface="Consolas"/>
                <a:ea typeface="Consolas"/>
                <a:cs typeface="Consolas"/>
                <a:sym typeface="Consolas"/>
              </a:rPr>
              <a:t>SELECT</a:t>
            </a:r>
            <a:r>
              <a:rPr lang="en-US" sz="1050">
                <a:solidFill>
                  <a:srgbClr val="FFFFFF"/>
                </a:solidFill>
                <a:latin typeface="Consolas"/>
                <a:ea typeface="Consolas"/>
                <a:cs typeface="Consolas"/>
                <a:sym typeface="Consolas"/>
              </a:rPr>
              <a:t> pr.pr_id, ...</a:t>
            </a:r>
            <a:br>
              <a:rPr lang="en-US" sz="1050">
                <a:solidFill>
                  <a:srgbClr val="FFFFFF"/>
                </a:solidFill>
                <a:latin typeface="Consolas"/>
                <a:ea typeface="Consolas"/>
                <a:cs typeface="Consolas"/>
                <a:sym typeface="Consolas"/>
              </a:rPr>
            </a:br>
            <a:r>
              <a:rPr lang="en-US" sz="1050">
                <a:solidFill>
                  <a:srgbClr val="FFFFFF"/>
                </a:solidFill>
                <a:latin typeface="Consolas"/>
                <a:ea typeface="Consolas"/>
                <a:cs typeface="Consolas"/>
                <a:sym typeface="Consolas"/>
              </a:rPr>
              <a:t>)</a:t>
            </a:r>
            <a:br>
              <a:rPr lang="en-US" sz="1050">
                <a:solidFill>
                  <a:srgbClr val="FFFFFF"/>
                </a:solidFill>
                <a:latin typeface="Consolas"/>
                <a:ea typeface="Consolas"/>
                <a:cs typeface="Consolas"/>
                <a:sym typeface="Consolas"/>
              </a:rPr>
            </a:br>
            <a:r>
              <a:rPr lang="en-US" sz="1050">
                <a:solidFill>
                  <a:srgbClr val="F472B6"/>
                </a:solidFill>
                <a:latin typeface="Consolas"/>
                <a:ea typeface="Consolas"/>
                <a:cs typeface="Consolas"/>
                <a:sym typeface="Consolas"/>
              </a:rPr>
              <a:t>SELECT</a:t>
            </a:r>
            <a:r>
              <a:rPr lang="en-US" sz="1050">
                <a:solidFill>
                  <a:srgbClr val="FFFFFF"/>
                </a:solidFill>
                <a:latin typeface="Consolas"/>
                <a:ea typeface="Consolas"/>
                <a:cs typeface="Consolas"/>
                <a:sym typeface="Consolas"/>
              </a:rPr>
              <a:t> r.item_name, po.po_id,</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onsolas"/>
              <a:buNone/>
            </a:pPr>
            <a:r>
              <a:rPr lang="en-US" sz="1050">
                <a:solidFill>
                  <a:srgbClr val="FFFFFF"/>
                </a:solidFill>
                <a:latin typeface="Consolas"/>
                <a:ea typeface="Consolas"/>
                <a:cs typeface="Consolas"/>
                <a:sym typeface="Consolas"/>
              </a:rPr>
              <a:t>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FBBF24"/>
              </a:buClr>
              <a:buSzPts val="1050"/>
              <a:buFont typeface="Consolas"/>
              <a:buNone/>
            </a:pPr>
            <a:r>
              <a:rPr lang="en-US" sz="1050">
                <a:solidFill>
                  <a:srgbClr val="FBBF24"/>
                </a:solidFill>
                <a:latin typeface="Consolas"/>
                <a:ea typeface="Consolas"/>
                <a:cs typeface="Consolas"/>
                <a:sym typeface="Consolas"/>
              </a:rPr>
              <a:t>ROUND</a:t>
            </a:r>
            <a:r>
              <a:rPr lang="en-US" sz="1050">
                <a:solidFill>
                  <a:srgbClr val="FFFFFF"/>
                </a:solidFill>
                <a:latin typeface="Consolas"/>
                <a:ea typeface="Consolas"/>
                <a:cs typeface="Consolas"/>
                <a:sym typeface="Consolas"/>
              </a:rPr>
              <a:t>((po.total_amount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onsolas"/>
              <a:buNone/>
            </a:pPr>
            <a:r>
              <a:rPr lang="en-US" sz="1050">
                <a:solidFill>
                  <a:srgbClr val="FFFFFF"/>
                </a:solidFill>
                <a:latin typeface="Consolas"/>
                <a:ea typeface="Consolas"/>
                <a:cs typeface="Consolas"/>
                <a:sym typeface="Consolas"/>
              </a:rPr>
              <a:t>   r.budget) *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60A5FA"/>
              </a:buClr>
              <a:buSzPts val="1050"/>
              <a:buFont typeface="Consolas"/>
              <a:buNone/>
            </a:pPr>
            <a:r>
              <a:rPr lang="en-US" sz="1050">
                <a:solidFill>
                  <a:srgbClr val="60A5FA"/>
                </a:solidFill>
                <a:latin typeface="Consolas"/>
                <a:ea typeface="Consolas"/>
                <a:cs typeface="Consolas"/>
                <a:sym typeface="Consolas"/>
              </a:rPr>
              <a:t>100</a:t>
            </a:r>
            <a:r>
              <a:rPr lang="en-US" sz="1050">
                <a:solidFill>
                  <a:srgbClr val="FFFFFF"/>
                </a:solidFill>
                <a:latin typeface="Consolas"/>
                <a:ea typeface="Consolas"/>
                <a:cs typeface="Consolas"/>
                <a:sym typeface="Consolas"/>
              </a:rPr>
              <a:t>, </a:t>
            </a:r>
            <a:r>
              <a:rPr lang="en-US" sz="1050">
                <a:solidFill>
                  <a:srgbClr val="60A5FA"/>
                </a:solidFill>
                <a:latin typeface="Consolas"/>
                <a:ea typeface="Consolas"/>
                <a:cs typeface="Consolas"/>
                <a:sym typeface="Consolas"/>
              </a:rPr>
              <a:t>2</a:t>
            </a:r>
            <a:r>
              <a:rPr lang="en-US" sz="1050">
                <a:solidFill>
                  <a:srgbClr val="FFFFFF"/>
                </a:solidFill>
                <a:latin typeface="Consolas"/>
                <a:ea typeface="Consolas"/>
                <a:cs typeface="Consolas"/>
                <a:sym typeface="Consolas"/>
              </a:rPr>
              <a:t>);</a:t>
            </a:r>
            <a:endParaRPr sz="1050">
              <a:solidFill>
                <a:schemeClr val="dk1"/>
              </a:solidFill>
              <a:latin typeface="Calibri"/>
              <a:ea typeface="Calibri"/>
              <a:cs typeface="Calibri"/>
              <a:sym typeface="Calibri"/>
            </a:endParaRPr>
          </a:p>
        </p:txBody>
      </p:sp>
      <p:sp>
        <p:nvSpPr>
          <p:cNvPr id="436" name="Google Shape;436;p14"/>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03  SQL Implementation</a:t>
            </a:r>
            <a:endParaRPr sz="900">
              <a:solidFill>
                <a:schemeClr val="dk1"/>
              </a:solidFill>
              <a:latin typeface="Calibri"/>
              <a:ea typeface="Calibri"/>
              <a:cs typeface="Calibri"/>
              <a:sym typeface="Calibri"/>
            </a:endParaRPr>
          </a:p>
        </p:txBody>
      </p:sp>
      <p:sp>
        <p:nvSpPr>
          <p:cNvPr id="437" name="Google Shape;437;p14"/>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12</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pic>
        <p:nvPicPr>
          <p:cNvPr descr="preencoded.png" id="443" name="Google Shape;443;p15"/>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444" name="Google Shape;444;p15"/>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Showcase: Cascading State Transaction</a:t>
            </a:r>
            <a:endParaRPr sz="2800">
              <a:solidFill>
                <a:schemeClr val="dk1"/>
              </a:solidFill>
              <a:latin typeface="Calibri"/>
              <a:ea typeface="Calibri"/>
              <a:cs typeface="Calibri"/>
              <a:sym typeface="Calibri"/>
            </a:endParaRPr>
          </a:p>
        </p:txBody>
      </p:sp>
      <p:sp>
        <p:nvSpPr>
          <p:cNvPr id="445" name="Google Shape;445;p15"/>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Marking an invoice PAID synchronously updates 5 tables</a:t>
            </a:r>
            <a:endParaRPr sz="1300">
              <a:solidFill>
                <a:schemeClr val="dk1"/>
              </a:solidFill>
              <a:latin typeface="Calibri"/>
              <a:ea typeface="Calibri"/>
              <a:cs typeface="Calibri"/>
              <a:sym typeface="Calibri"/>
            </a:endParaRPr>
          </a:p>
        </p:txBody>
      </p:sp>
      <p:sp>
        <p:nvSpPr>
          <p:cNvPr id="446" name="Google Shape;446;p15"/>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15"/>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Parva</a:t>
            </a:r>
            <a:endParaRPr sz="1100">
              <a:solidFill>
                <a:schemeClr val="dk1"/>
              </a:solidFill>
              <a:latin typeface="Calibri"/>
              <a:ea typeface="Calibri"/>
              <a:cs typeface="Calibri"/>
              <a:sym typeface="Calibri"/>
            </a:endParaRPr>
          </a:p>
        </p:txBody>
      </p:sp>
      <p:sp>
        <p:nvSpPr>
          <p:cNvPr id="448" name="Google Shape;448;p15"/>
          <p:cNvSpPr/>
          <p:nvPr/>
        </p:nvSpPr>
        <p:spPr>
          <a:xfrm>
            <a:off x="457200" y="1325880"/>
            <a:ext cx="11247120" cy="640080"/>
          </a:xfrm>
          <a:prstGeom prst="rect">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49" name="Google Shape;449;p15"/>
          <p:cNvPicPr preferRelativeResize="0"/>
          <p:nvPr/>
        </p:nvPicPr>
        <p:blipFill rotWithShape="1">
          <a:blip r:embed="rId4">
            <a:alphaModFix/>
          </a:blip>
          <a:srcRect b="0" l="0" r="0" t="0"/>
          <a:stretch/>
        </p:blipFill>
        <p:spPr>
          <a:xfrm>
            <a:off x="640080" y="1463040"/>
            <a:ext cx="365760" cy="365760"/>
          </a:xfrm>
          <a:prstGeom prst="rect">
            <a:avLst/>
          </a:prstGeom>
          <a:noFill/>
          <a:ln>
            <a:noFill/>
          </a:ln>
        </p:spPr>
      </p:pic>
      <p:sp>
        <p:nvSpPr>
          <p:cNvPr id="450" name="Google Shape;450;p15"/>
          <p:cNvSpPr/>
          <p:nvPr/>
        </p:nvSpPr>
        <p:spPr>
          <a:xfrm>
            <a:off x="1097280" y="1325880"/>
            <a:ext cx="10881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F36"/>
              </a:buClr>
              <a:buSzPts val="1250"/>
              <a:buFont typeface="Calibri"/>
              <a:buNone/>
            </a:pPr>
            <a:r>
              <a:rPr i="1" lang="en-US" sz="1250">
                <a:solidFill>
                  <a:srgbClr val="1A1F36"/>
                </a:solidFill>
                <a:latin typeface="Calibri"/>
                <a:ea typeface="Calibri"/>
                <a:cs typeface="Calibri"/>
                <a:sym typeface="Calibri"/>
              </a:rPr>
              <a:t>When Finance clicks 'Mark Paid', a single transaction propagates the PAID status backwards through the entire workflow chain — and logs every step.</a:t>
            </a:r>
            <a:endParaRPr sz="1250">
              <a:solidFill>
                <a:schemeClr val="dk1"/>
              </a:solidFill>
              <a:latin typeface="Calibri"/>
              <a:ea typeface="Calibri"/>
              <a:cs typeface="Calibri"/>
              <a:sym typeface="Calibri"/>
            </a:endParaRPr>
          </a:p>
        </p:txBody>
      </p:sp>
      <p:sp>
        <p:nvSpPr>
          <p:cNvPr id="451" name="Google Shape;451;p15"/>
          <p:cNvSpPr/>
          <p:nvPr/>
        </p:nvSpPr>
        <p:spPr>
          <a:xfrm>
            <a:off x="457200" y="2148840"/>
            <a:ext cx="5029200" cy="713232"/>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5"/>
          <p:cNvSpPr/>
          <p:nvPr/>
        </p:nvSpPr>
        <p:spPr>
          <a:xfrm>
            <a:off x="594360" y="2267712"/>
            <a:ext cx="502920" cy="50292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15"/>
          <p:cNvSpPr/>
          <p:nvPr/>
        </p:nvSpPr>
        <p:spPr>
          <a:xfrm>
            <a:off x="594360" y="226771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800"/>
              <a:buFont typeface="Georgia"/>
              <a:buNone/>
            </a:pPr>
            <a:r>
              <a:rPr b="1" lang="en-US" sz="1800">
                <a:solidFill>
                  <a:srgbClr val="D4AF37"/>
                </a:solidFill>
                <a:latin typeface="Georgia"/>
                <a:ea typeface="Georgia"/>
                <a:cs typeface="Georgia"/>
                <a:sym typeface="Georgia"/>
              </a:rPr>
              <a:t>1</a:t>
            </a:r>
            <a:endParaRPr sz="1800">
              <a:solidFill>
                <a:schemeClr val="dk1"/>
              </a:solidFill>
              <a:latin typeface="Calibri"/>
              <a:ea typeface="Calibri"/>
              <a:cs typeface="Calibri"/>
              <a:sym typeface="Calibri"/>
            </a:endParaRPr>
          </a:p>
        </p:txBody>
      </p:sp>
      <p:sp>
        <p:nvSpPr>
          <p:cNvPr id="454" name="Google Shape;454;p15"/>
          <p:cNvSpPr/>
          <p:nvPr/>
        </p:nvSpPr>
        <p:spPr>
          <a:xfrm>
            <a:off x="1234440" y="2221992"/>
            <a:ext cx="4160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onsolas"/>
              <a:buNone/>
            </a:pPr>
            <a:r>
              <a:rPr b="1" lang="en-US" sz="1300">
                <a:solidFill>
                  <a:srgbClr val="1E2761"/>
                </a:solidFill>
                <a:latin typeface="Consolas"/>
                <a:ea typeface="Consolas"/>
                <a:cs typeface="Consolas"/>
                <a:sym typeface="Consolas"/>
              </a:rPr>
              <a:t>UPDATE Invoices</a:t>
            </a:r>
            <a:endParaRPr sz="1300">
              <a:solidFill>
                <a:schemeClr val="dk1"/>
              </a:solidFill>
              <a:latin typeface="Calibri"/>
              <a:ea typeface="Calibri"/>
              <a:cs typeface="Calibri"/>
              <a:sym typeface="Calibri"/>
            </a:endParaRPr>
          </a:p>
        </p:txBody>
      </p:sp>
      <p:sp>
        <p:nvSpPr>
          <p:cNvPr id="455" name="Google Shape;455;p15"/>
          <p:cNvSpPr/>
          <p:nvPr/>
        </p:nvSpPr>
        <p:spPr>
          <a:xfrm>
            <a:off x="1234440" y="2514600"/>
            <a:ext cx="4160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status = 'PAID'</a:t>
            </a:r>
            <a:endParaRPr sz="1100">
              <a:solidFill>
                <a:schemeClr val="dk1"/>
              </a:solidFill>
              <a:latin typeface="Calibri"/>
              <a:ea typeface="Calibri"/>
              <a:cs typeface="Calibri"/>
              <a:sym typeface="Calibri"/>
            </a:endParaRPr>
          </a:p>
        </p:txBody>
      </p:sp>
      <p:sp>
        <p:nvSpPr>
          <p:cNvPr id="456" name="Google Shape;456;p15"/>
          <p:cNvSpPr/>
          <p:nvPr/>
        </p:nvSpPr>
        <p:spPr>
          <a:xfrm>
            <a:off x="457200" y="2980944"/>
            <a:ext cx="5029200" cy="713232"/>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5"/>
          <p:cNvSpPr/>
          <p:nvPr/>
        </p:nvSpPr>
        <p:spPr>
          <a:xfrm>
            <a:off x="594360" y="3099816"/>
            <a:ext cx="502920" cy="50292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5"/>
          <p:cNvSpPr/>
          <p:nvPr/>
        </p:nvSpPr>
        <p:spPr>
          <a:xfrm>
            <a:off x="594360" y="309981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800"/>
              <a:buFont typeface="Georgia"/>
              <a:buNone/>
            </a:pPr>
            <a:r>
              <a:rPr b="1" lang="en-US" sz="1800">
                <a:solidFill>
                  <a:srgbClr val="D4AF37"/>
                </a:solidFill>
                <a:latin typeface="Georgia"/>
                <a:ea typeface="Georgia"/>
                <a:cs typeface="Georgia"/>
                <a:sym typeface="Georgia"/>
              </a:rPr>
              <a:t>2</a:t>
            </a:r>
            <a:endParaRPr sz="1800">
              <a:solidFill>
                <a:schemeClr val="dk1"/>
              </a:solidFill>
              <a:latin typeface="Calibri"/>
              <a:ea typeface="Calibri"/>
              <a:cs typeface="Calibri"/>
              <a:sym typeface="Calibri"/>
            </a:endParaRPr>
          </a:p>
        </p:txBody>
      </p:sp>
      <p:sp>
        <p:nvSpPr>
          <p:cNvPr id="459" name="Google Shape;459;p15"/>
          <p:cNvSpPr/>
          <p:nvPr/>
        </p:nvSpPr>
        <p:spPr>
          <a:xfrm>
            <a:off x="1234440" y="3054096"/>
            <a:ext cx="4160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onsolas"/>
              <a:buNone/>
            </a:pPr>
            <a:r>
              <a:rPr b="1" lang="en-US" sz="1300">
                <a:solidFill>
                  <a:srgbClr val="1E2761"/>
                </a:solidFill>
                <a:latin typeface="Consolas"/>
                <a:ea typeface="Consolas"/>
                <a:cs typeface="Consolas"/>
                <a:sym typeface="Consolas"/>
              </a:rPr>
              <a:t>UPDATE Purchase_Orders</a:t>
            </a:r>
            <a:endParaRPr sz="1300">
              <a:solidFill>
                <a:schemeClr val="dk1"/>
              </a:solidFill>
              <a:latin typeface="Calibri"/>
              <a:ea typeface="Calibri"/>
              <a:cs typeface="Calibri"/>
              <a:sym typeface="Calibri"/>
            </a:endParaRPr>
          </a:p>
        </p:txBody>
      </p:sp>
      <p:sp>
        <p:nvSpPr>
          <p:cNvPr id="460" name="Google Shape;460;p15"/>
          <p:cNvSpPr/>
          <p:nvPr/>
        </p:nvSpPr>
        <p:spPr>
          <a:xfrm>
            <a:off x="1234440" y="3346704"/>
            <a:ext cx="4160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cascade PAID upstream</a:t>
            </a:r>
            <a:endParaRPr sz="1100">
              <a:solidFill>
                <a:schemeClr val="dk1"/>
              </a:solidFill>
              <a:latin typeface="Calibri"/>
              <a:ea typeface="Calibri"/>
              <a:cs typeface="Calibri"/>
              <a:sym typeface="Calibri"/>
            </a:endParaRPr>
          </a:p>
        </p:txBody>
      </p:sp>
      <p:sp>
        <p:nvSpPr>
          <p:cNvPr id="461" name="Google Shape;461;p15"/>
          <p:cNvSpPr/>
          <p:nvPr/>
        </p:nvSpPr>
        <p:spPr>
          <a:xfrm>
            <a:off x="457200" y="3813048"/>
            <a:ext cx="5029200" cy="713232"/>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15"/>
          <p:cNvSpPr/>
          <p:nvPr/>
        </p:nvSpPr>
        <p:spPr>
          <a:xfrm>
            <a:off x="594360" y="3931920"/>
            <a:ext cx="502920" cy="50292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5"/>
          <p:cNvSpPr/>
          <p:nvPr/>
        </p:nvSpPr>
        <p:spPr>
          <a:xfrm>
            <a:off x="594360" y="39319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800"/>
              <a:buFont typeface="Georgia"/>
              <a:buNone/>
            </a:pPr>
            <a:r>
              <a:rPr b="1" lang="en-US" sz="1800">
                <a:solidFill>
                  <a:srgbClr val="D4AF37"/>
                </a:solidFill>
                <a:latin typeface="Georgia"/>
                <a:ea typeface="Georgia"/>
                <a:cs typeface="Georgia"/>
                <a:sym typeface="Georgia"/>
              </a:rPr>
              <a:t>3</a:t>
            </a:r>
            <a:endParaRPr sz="1800">
              <a:solidFill>
                <a:schemeClr val="dk1"/>
              </a:solidFill>
              <a:latin typeface="Calibri"/>
              <a:ea typeface="Calibri"/>
              <a:cs typeface="Calibri"/>
              <a:sym typeface="Calibri"/>
            </a:endParaRPr>
          </a:p>
        </p:txBody>
      </p:sp>
      <p:sp>
        <p:nvSpPr>
          <p:cNvPr id="464" name="Google Shape;464;p15"/>
          <p:cNvSpPr/>
          <p:nvPr/>
        </p:nvSpPr>
        <p:spPr>
          <a:xfrm>
            <a:off x="1234440" y="3886200"/>
            <a:ext cx="4160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onsolas"/>
              <a:buNone/>
            </a:pPr>
            <a:r>
              <a:rPr b="1" lang="en-US" sz="1300">
                <a:solidFill>
                  <a:srgbClr val="1E2761"/>
                </a:solidFill>
                <a:latin typeface="Consolas"/>
                <a:ea typeface="Consolas"/>
                <a:cs typeface="Consolas"/>
                <a:sym typeface="Consolas"/>
              </a:rPr>
              <a:t>UPDATE Purchase_Requests</a:t>
            </a:r>
            <a:endParaRPr sz="1300">
              <a:solidFill>
                <a:schemeClr val="dk1"/>
              </a:solidFill>
              <a:latin typeface="Calibri"/>
              <a:ea typeface="Calibri"/>
              <a:cs typeface="Calibri"/>
              <a:sym typeface="Calibri"/>
            </a:endParaRPr>
          </a:p>
        </p:txBody>
      </p:sp>
      <p:sp>
        <p:nvSpPr>
          <p:cNvPr id="465" name="Google Shape;465;p15"/>
          <p:cNvSpPr/>
          <p:nvPr/>
        </p:nvSpPr>
        <p:spPr>
          <a:xfrm>
            <a:off x="1234440" y="4178808"/>
            <a:ext cx="4160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cascade PAID to origin</a:t>
            </a:r>
            <a:endParaRPr sz="1100">
              <a:solidFill>
                <a:schemeClr val="dk1"/>
              </a:solidFill>
              <a:latin typeface="Calibri"/>
              <a:ea typeface="Calibri"/>
              <a:cs typeface="Calibri"/>
              <a:sym typeface="Calibri"/>
            </a:endParaRPr>
          </a:p>
        </p:txBody>
      </p:sp>
      <p:sp>
        <p:nvSpPr>
          <p:cNvPr id="466" name="Google Shape;466;p15"/>
          <p:cNvSpPr/>
          <p:nvPr/>
        </p:nvSpPr>
        <p:spPr>
          <a:xfrm>
            <a:off x="457200" y="4645152"/>
            <a:ext cx="5029200" cy="713232"/>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5"/>
          <p:cNvSpPr/>
          <p:nvPr/>
        </p:nvSpPr>
        <p:spPr>
          <a:xfrm>
            <a:off x="594360" y="4764024"/>
            <a:ext cx="502920" cy="50292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5"/>
          <p:cNvSpPr/>
          <p:nvPr/>
        </p:nvSpPr>
        <p:spPr>
          <a:xfrm>
            <a:off x="594360" y="476402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800"/>
              <a:buFont typeface="Georgia"/>
              <a:buNone/>
            </a:pPr>
            <a:r>
              <a:rPr b="1" lang="en-US" sz="1800">
                <a:solidFill>
                  <a:srgbClr val="D4AF37"/>
                </a:solidFill>
                <a:latin typeface="Georgia"/>
                <a:ea typeface="Georgia"/>
                <a:cs typeface="Georgia"/>
                <a:sym typeface="Georgia"/>
              </a:rPr>
              <a:t>4</a:t>
            </a:r>
            <a:endParaRPr sz="1800">
              <a:solidFill>
                <a:schemeClr val="dk1"/>
              </a:solidFill>
              <a:latin typeface="Calibri"/>
              <a:ea typeface="Calibri"/>
              <a:cs typeface="Calibri"/>
              <a:sym typeface="Calibri"/>
            </a:endParaRPr>
          </a:p>
        </p:txBody>
      </p:sp>
      <p:sp>
        <p:nvSpPr>
          <p:cNvPr id="469" name="Google Shape;469;p15"/>
          <p:cNvSpPr/>
          <p:nvPr/>
        </p:nvSpPr>
        <p:spPr>
          <a:xfrm>
            <a:off x="1234440" y="4718304"/>
            <a:ext cx="4160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onsolas"/>
              <a:buNone/>
            </a:pPr>
            <a:r>
              <a:rPr b="1" lang="en-US" sz="1300">
                <a:solidFill>
                  <a:srgbClr val="1E2761"/>
                </a:solidFill>
                <a:latin typeface="Consolas"/>
                <a:ea typeface="Consolas"/>
                <a:cs typeface="Consolas"/>
                <a:sym typeface="Consolas"/>
              </a:rPr>
              <a:t>INSERT PR_Status_History</a:t>
            </a:r>
            <a:endParaRPr sz="1300">
              <a:solidFill>
                <a:schemeClr val="dk1"/>
              </a:solidFill>
              <a:latin typeface="Calibri"/>
              <a:ea typeface="Calibri"/>
              <a:cs typeface="Calibri"/>
              <a:sym typeface="Calibri"/>
            </a:endParaRPr>
          </a:p>
        </p:txBody>
      </p:sp>
      <p:sp>
        <p:nvSpPr>
          <p:cNvPr id="470" name="Google Shape;470;p15"/>
          <p:cNvSpPr/>
          <p:nvPr/>
        </p:nvSpPr>
        <p:spPr>
          <a:xfrm>
            <a:off x="1234440" y="5010912"/>
            <a:ext cx="4160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log INVOICED → PAID</a:t>
            </a:r>
            <a:endParaRPr sz="1100">
              <a:solidFill>
                <a:schemeClr val="dk1"/>
              </a:solidFill>
              <a:latin typeface="Calibri"/>
              <a:ea typeface="Calibri"/>
              <a:cs typeface="Calibri"/>
              <a:sym typeface="Calibri"/>
            </a:endParaRPr>
          </a:p>
        </p:txBody>
      </p:sp>
      <p:sp>
        <p:nvSpPr>
          <p:cNvPr id="471" name="Google Shape;471;p15"/>
          <p:cNvSpPr/>
          <p:nvPr/>
        </p:nvSpPr>
        <p:spPr>
          <a:xfrm>
            <a:off x="457200" y="5477256"/>
            <a:ext cx="5029200" cy="713232"/>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5"/>
          <p:cNvSpPr/>
          <p:nvPr/>
        </p:nvSpPr>
        <p:spPr>
          <a:xfrm>
            <a:off x="594360" y="5596128"/>
            <a:ext cx="502920" cy="50292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15"/>
          <p:cNvSpPr/>
          <p:nvPr/>
        </p:nvSpPr>
        <p:spPr>
          <a:xfrm>
            <a:off x="594360" y="559612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800"/>
              <a:buFont typeface="Georgia"/>
              <a:buNone/>
            </a:pPr>
            <a:r>
              <a:rPr b="1" lang="en-US" sz="1800">
                <a:solidFill>
                  <a:srgbClr val="D4AF37"/>
                </a:solidFill>
                <a:latin typeface="Georgia"/>
                <a:ea typeface="Georgia"/>
                <a:cs typeface="Georgia"/>
                <a:sym typeface="Georgia"/>
              </a:rPr>
              <a:t>5</a:t>
            </a:r>
            <a:endParaRPr sz="1800">
              <a:solidFill>
                <a:schemeClr val="dk1"/>
              </a:solidFill>
              <a:latin typeface="Calibri"/>
              <a:ea typeface="Calibri"/>
              <a:cs typeface="Calibri"/>
              <a:sym typeface="Calibri"/>
            </a:endParaRPr>
          </a:p>
        </p:txBody>
      </p:sp>
      <p:sp>
        <p:nvSpPr>
          <p:cNvPr id="474" name="Google Shape;474;p15"/>
          <p:cNvSpPr/>
          <p:nvPr/>
        </p:nvSpPr>
        <p:spPr>
          <a:xfrm>
            <a:off x="1234440" y="5550408"/>
            <a:ext cx="4160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onsolas"/>
              <a:buNone/>
            </a:pPr>
            <a:r>
              <a:rPr b="1" lang="en-US" sz="1300">
                <a:solidFill>
                  <a:srgbClr val="1E2761"/>
                </a:solidFill>
                <a:latin typeface="Consolas"/>
                <a:ea typeface="Consolas"/>
                <a:cs typeface="Consolas"/>
                <a:sym typeface="Consolas"/>
              </a:rPr>
              <a:t>INSERT Payments</a:t>
            </a:r>
            <a:endParaRPr sz="1300">
              <a:solidFill>
                <a:schemeClr val="dk1"/>
              </a:solidFill>
              <a:latin typeface="Calibri"/>
              <a:ea typeface="Calibri"/>
              <a:cs typeface="Calibri"/>
              <a:sym typeface="Calibri"/>
            </a:endParaRPr>
          </a:p>
        </p:txBody>
      </p:sp>
      <p:sp>
        <p:nvSpPr>
          <p:cNvPr id="475" name="Google Shape;475;p15"/>
          <p:cNvSpPr/>
          <p:nvPr/>
        </p:nvSpPr>
        <p:spPr>
          <a:xfrm>
            <a:off x="1234440" y="5843016"/>
            <a:ext cx="4160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i="1" lang="en-US" sz="1100">
                <a:solidFill>
                  <a:srgbClr val="475569"/>
                </a:solidFill>
                <a:latin typeface="Calibri"/>
                <a:ea typeface="Calibri"/>
                <a:cs typeface="Calibri"/>
                <a:sym typeface="Calibri"/>
              </a:rPr>
              <a:t>record formal transaction</a:t>
            </a:r>
            <a:endParaRPr sz="1100">
              <a:solidFill>
                <a:schemeClr val="dk1"/>
              </a:solidFill>
              <a:latin typeface="Calibri"/>
              <a:ea typeface="Calibri"/>
              <a:cs typeface="Calibri"/>
              <a:sym typeface="Calibri"/>
            </a:endParaRPr>
          </a:p>
        </p:txBody>
      </p:sp>
      <p:sp>
        <p:nvSpPr>
          <p:cNvPr id="476" name="Google Shape;476;p15"/>
          <p:cNvSpPr/>
          <p:nvPr/>
        </p:nvSpPr>
        <p:spPr>
          <a:xfrm>
            <a:off x="5852160" y="2148840"/>
            <a:ext cx="5852160" cy="4041648"/>
          </a:xfrm>
          <a:prstGeom prst="rect">
            <a:avLst/>
          </a:prstGeom>
          <a:solidFill>
            <a:srgbClr val="0F18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5"/>
          <p:cNvSpPr/>
          <p:nvPr/>
        </p:nvSpPr>
        <p:spPr>
          <a:xfrm>
            <a:off x="5852160" y="2148840"/>
            <a:ext cx="91440" cy="4041648"/>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5"/>
          <p:cNvSpPr/>
          <p:nvPr/>
        </p:nvSpPr>
        <p:spPr>
          <a:xfrm>
            <a:off x="6035040" y="2240280"/>
            <a:ext cx="5577840" cy="3520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100"/>
              <a:buFont typeface="Consolas"/>
              <a:buNone/>
            </a:pPr>
            <a:r>
              <a:rPr i="1" lang="en-US" sz="1100">
                <a:solidFill>
                  <a:srgbClr val="94A3B8"/>
                </a:solidFill>
                <a:latin typeface="Consolas"/>
                <a:ea typeface="Consolas"/>
                <a:cs typeface="Consolas"/>
                <a:sym typeface="Consolas"/>
              </a:rPr>
              <a:t>-- 1. Update invoice</a:t>
            </a:r>
            <a:br>
              <a:rPr i="1" lang="en-US" sz="1100">
                <a:solidFill>
                  <a:srgbClr val="94A3B8"/>
                </a:solidFill>
                <a:latin typeface="Consolas"/>
                <a:ea typeface="Consolas"/>
                <a:cs typeface="Consolas"/>
                <a:sym typeface="Consolas"/>
              </a:rPr>
            </a:br>
            <a:r>
              <a:rPr lang="en-US" sz="1100">
                <a:solidFill>
                  <a:srgbClr val="F472B6"/>
                </a:solidFill>
                <a:latin typeface="Consolas"/>
                <a:ea typeface="Consolas"/>
                <a:cs typeface="Consolas"/>
                <a:sym typeface="Consolas"/>
              </a:rPr>
              <a:t>UPDATE</a:t>
            </a:r>
            <a:r>
              <a:rPr lang="en-US" sz="1100">
                <a:solidFill>
                  <a:srgbClr val="FFFFFF"/>
                </a:solidFill>
                <a:latin typeface="Consolas"/>
                <a:ea typeface="Consolas"/>
                <a:cs typeface="Consolas"/>
                <a:sym typeface="Consolas"/>
              </a:rPr>
              <a:t> Invoices </a:t>
            </a:r>
            <a:r>
              <a:rPr lang="en-US" sz="1100">
                <a:solidFill>
                  <a:srgbClr val="F472B6"/>
                </a:solidFill>
                <a:latin typeface="Consolas"/>
                <a:ea typeface="Consolas"/>
                <a:cs typeface="Consolas"/>
                <a:sym typeface="Consolas"/>
              </a:rPr>
              <a:t>SET</a:t>
            </a:r>
            <a:r>
              <a:rPr lang="en-US" sz="1100">
                <a:solidFill>
                  <a:srgbClr val="FFFFFF"/>
                </a:solidFill>
                <a:latin typeface="Consolas"/>
                <a:ea typeface="Consolas"/>
                <a:cs typeface="Consolas"/>
                <a:sym typeface="Consolas"/>
              </a:rPr>
              <a:t> status=</a:t>
            </a:r>
            <a:r>
              <a:rPr lang="en-US" sz="1100">
                <a:solidFill>
                  <a:srgbClr val="FBBF24"/>
                </a:solidFill>
                <a:latin typeface="Consolas"/>
                <a:ea typeface="Consolas"/>
                <a:cs typeface="Consolas"/>
                <a:sym typeface="Consolas"/>
              </a:rPr>
              <a:t>'PAID'</a:t>
            </a:r>
            <a:r>
              <a:rPr i="1" lang="en-US" sz="1100">
                <a:solidFill>
                  <a:srgbClr val="94A3B8"/>
                </a:solidFill>
                <a:latin typeface="Consolas"/>
                <a:ea typeface="Consolas"/>
                <a:cs typeface="Consolas"/>
                <a:sym typeface="Consolas"/>
              </a:rPr>
              <a:t>;</a:t>
            </a:r>
            <a:br>
              <a:rPr i="1" lang="en-US" sz="1100">
                <a:solidFill>
                  <a:srgbClr val="94A3B8"/>
                </a:solidFill>
                <a:latin typeface="Consolas"/>
                <a:ea typeface="Consolas"/>
                <a:cs typeface="Consolas"/>
                <a:sym typeface="Consolas"/>
              </a:rPr>
            </a:br>
            <a:br>
              <a:rPr i="1" lang="en-US" sz="1100">
                <a:solidFill>
                  <a:srgbClr val="94A3B8"/>
                </a:solidFill>
                <a:latin typeface="Consolas"/>
                <a:ea typeface="Consolas"/>
                <a:cs typeface="Consolas"/>
                <a:sym typeface="Consolas"/>
              </a:rPr>
            </a:br>
            <a:r>
              <a:rPr i="1" lang="en-US" sz="1100">
                <a:solidFill>
                  <a:srgbClr val="94A3B8"/>
                </a:solidFill>
                <a:latin typeface="Consolas"/>
                <a:ea typeface="Consolas"/>
                <a:cs typeface="Consolas"/>
                <a:sym typeface="Consolas"/>
              </a:rPr>
              <a:t>-- 2 &amp; 3. Cascade upstream</a:t>
            </a:r>
            <a:br>
              <a:rPr i="1" lang="en-US" sz="1100">
                <a:solidFill>
                  <a:srgbClr val="94A3B8"/>
                </a:solidFill>
                <a:latin typeface="Consolas"/>
                <a:ea typeface="Consolas"/>
                <a:cs typeface="Consolas"/>
                <a:sym typeface="Consolas"/>
              </a:rPr>
            </a:br>
            <a:r>
              <a:rPr lang="en-US" sz="1100">
                <a:solidFill>
                  <a:srgbClr val="F472B6"/>
                </a:solidFill>
                <a:latin typeface="Consolas"/>
                <a:ea typeface="Consolas"/>
                <a:cs typeface="Consolas"/>
                <a:sym typeface="Consolas"/>
              </a:rPr>
              <a:t>UPDATE</a:t>
            </a:r>
            <a:r>
              <a:rPr lang="en-US" sz="1100">
                <a:solidFill>
                  <a:srgbClr val="FFFFFF"/>
                </a:solidFill>
                <a:latin typeface="Consolas"/>
                <a:ea typeface="Consolas"/>
                <a:cs typeface="Consolas"/>
                <a:sym typeface="Consolas"/>
              </a:rPr>
              <a:t> Purchase_Orders </a:t>
            </a:r>
            <a:r>
              <a:rPr lang="en-US" sz="1100">
                <a:solidFill>
                  <a:srgbClr val="F472B6"/>
                </a:solidFill>
                <a:latin typeface="Consolas"/>
                <a:ea typeface="Consolas"/>
                <a:cs typeface="Consolas"/>
                <a:sym typeface="Consolas"/>
              </a:rPr>
              <a:t>SET</a:t>
            </a:r>
            <a:r>
              <a:rPr lang="en-US" sz="1100">
                <a:solidFill>
                  <a:srgbClr val="FFFFFF"/>
                </a:solidFill>
                <a:latin typeface="Consolas"/>
                <a:ea typeface="Consolas"/>
                <a:cs typeface="Consolas"/>
                <a:sym typeface="Consolas"/>
              </a:rPr>
              <a:t> status=</a:t>
            </a:r>
            <a:r>
              <a:rPr lang="en-US" sz="1100">
                <a:solidFill>
                  <a:srgbClr val="FBBF24"/>
                </a:solidFill>
                <a:latin typeface="Consolas"/>
                <a:ea typeface="Consolas"/>
                <a:cs typeface="Consolas"/>
                <a:sym typeface="Consolas"/>
              </a:rPr>
              <a:t>'PAID'</a:t>
            </a:r>
            <a:r>
              <a:rPr lang="en-US" sz="1100">
                <a:solidFill>
                  <a:srgbClr val="FFFFFF"/>
                </a:solidFill>
                <a:latin typeface="Consolas"/>
                <a:ea typeface="Consolas"/>
                <a:cs typeface="Consolas"/>
                <a:sym typeface="Consolas"/>
              </a:rPr>
              <a:t>;</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UPDATE</a:t>
            </a:r>
            <a:r>
              <a:rPr lang="en-US" sz="1100">
                <a:solidFill>
                  <a:srgbClr val="FFFFFF"/>
                </a:solidFill>
                <a:latin typeface="Consolas"/>
                <a:ea typeface="Consolas"/>
                <a:cs typeface="Consolas"/>
                <a:sym typeface="Consolas"/>
              </a:rPr>
              <a:t> Purchase_Requests </a:t>
            </a:r>
            <a:r>
              <a:rPr lang="en-US" sz="1100">
                <a:solidFill>
                  <a:srgbClr val="F472B6"/>
                </a:solidFill>
                <a:latin typeface="Consolas"/>
                <a:ea typeface="Consolas"/>
                <a:cs typeface="Consolas"/>
                <a:sym typeface="Consolas"/>
              </a:rPr>
              <a:t>SET</a:t>
            </a:r>
            <a:r>
              <a:rPr lang="en-US" sz="1100">
                <a:solidFill>
                  <a:srgbClr val="FFFFFF"/>
                </a:solidFill>
                <a:latin typeface="Consolas"/>
                <a:ea typeface="Consolas"/>
                <a:cs typeface="Consolas"/>
                <a:sym typeface="Consolas"/>
              </a:rPr>
              <a:t> status=</a:t>
            </a:r>
            <a:r>
              <a:rPr lang="en-US" sz="1100">
                <a:solidFill>
                  <a:srgbClr val="FBBF24"/>
                </a:solidFill>
                <a:latin typeface="Consolas"/>
                <a:ea typeface="Consolas"/>
                <a:cs typeface="Consolas"/>
                <a:sym typeface="Consolas"/>
              </a:rPr>
              <a:t>'PAID'</a:t>
            </a:r>
            <a:r>
              <a:rPr i="1" lang="en-US" sz="1100">
                <a:solidFill>
                  <a:srgbClr val="94A3B8"/>
                </a:solidFill>
                <a:latin typeface="Consolas"/>
                <a:ea typeface="Consolas"/>
                <a:cs typeface="Consolas"/>
                <a:sym typeface="Consolas"/>
              </a:rPr>
              <a:t>;</a:t>
            </a:r>
            <a:br>
              <a:rPr i="1" lang="en-US" sz="1100">
                <a:solidFill>
                  <a:srgbClr val="94A3B8"/>
                </a:solidFill>
                <a:latin typeface="Consolas"/>
                <a:ea typeface="Consolas"/>
                <a:cs typeface="Consolas"/>
                <a:sym typeface="Consolas"/>
              </a:rPr>
            </a:br>
            <a:br>
              <a:rPr i="1" lang="en-US" sz="1100">
                <a:solidFill>
                  <a:srgbClr val="94A3B8"/>
                </a:solidFill>
                <a:latin typeface="Consolas"/>
                <a:ea typeface="Consolas"/>
                <a:cs typeface="Consolas"/>
                <a:sym typeface="Consolas"/>
              </a:rPr>
            </a:br>
            <a:r>
              <a:rPr i="1" lang="en-US" sz="1100">
                <a:solidFill>
                  <a:srgbClr val="94A3B8"/>
                </a:solidFill>
                <a:latin typeface="Consolas"/>
                <a:ea typeface="Consolas"/>
                <a:cs typeface="Consolas"/>
                <a:sym typeface="Consolas"/>
              </a:rPr>
              <a:t>-- 4. History audit</a:t>
            </a:r>
            <a:br>
              <a:rPr i="1" lang="en-US" sz="1100">
                <a:solidFill>
                  <a:srgbClr val="94A3B8"/>
                </a:solidFill>
                <a:latin typeface="Consolas"/>
                <a:ea typeface="Consolas"/>
                <a:cs typeface="Consolas"/>
                <a:sym typeface="Consolas"/>
              </a:rPr>
            </a:br>
            <a:r>
              <a:rPr lang="en-US" sz="1100">
                <a:solidFill>
                  <a:srgbClr val="F472B6"/>
                </a:solidFill>
                <a:latin typeface="Consolas"/>
                <a:ea typeface="Consolas"/>
                <a:cs typeface="Consolas"/>
                <a:sym typeface="Consolas"/>
              </a:rPr>
              <a:t>INSERT INTO</a:t>
            </a:r>
            <a:r>
              <a:rPr lang="en-US" sz="1100">
                <a:solidFill>
                  <a:srgbClr val="FFFFFF"/>
                </a:solidFill>
                <a:latin typeface="Consolas"/>
                <a:ea typeface="Consolas"/>
                <a:cs typeface="Consolas"/>
                <a:sym typeface="Consolas"/>
              </a:rPr>
              <a:t> PR_Status_History</a:t>
            </a:r>
            <a:br>
              <a:rPr lang="en-US" sz="1100">
                <a:solidFill>
                  <a:srgbClr val="FFFFFF"/>
                </a:solidFill>
                <a:latin typeface="Consolas"/>
                <a:ea typeface="Consolas"/>
                <a:cs typeface="Consolas"/>
                <a:sym typeface="Consolas"/>
              </a:rPr>
            </a:br>
            <a:r>
              <a:rPr lang="en-US" sz="1100">
                <a:solidFill>
                  <a:srgbClr val="FFFFFF"/>
                </a:solidFill>
                <a:latin typeface="Consolas"/>
                <a:ea typeface="Consolas"/>
                <a:cs typeface="Consolas"/>
                <a:sym typeface="Consolas"/>
              </a:rPr>
              <a:t>  (pr_id, old_status, new_status, changed_by)</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VALUES</a:t>
            </a:r>
            <a:r>
              <a:rPr lang="en-US" sz="1100">
                <a:solidFill>
                  <a:srgbClr val="FFFFFF"/>
                </a:solidFill>
                <a:latin typeface="Consolas"/>
                <a:ea typeface="Consolas"/>
                <a:cs typeface="Consolas"/>
                <a:sym typeface="Consolas"/>
              </a:rPr>
              <a:t> (?, </a:t>
            </a:r>
            <a:r>
              <a:rPr lang="en-US" sz="1100">
                <a:solidFill>
                  <a:srgbClr val="FBBF24"/>
                </a:solidFill>
                <a:latin typeface="Consolas"/>
                <a:ea typeface="Consolas"/>
                <a:cs typeface="Consolas"/>
                <a:sym typeface="Consolas"/>
              </a:rPr>
              <a:t>'INVOICED'</a:t>
            </a:r>
            <a:r>
              <a:rPr lang="en-US" sz="1100">
                <a:solidFill>
                  <a:srgbClr val="FFFFFF"/>
                </a:solidFill>
                <a:latin typeface="Consolas"/>
                <a:ea typeface="Consolas"/>
                <a:cs typeface="Consolas"/>
                <a:sym typeface="Consolas"/>
              </a:rPr>
              <a:t>, </a:t>
            </a:r>
            <a:r>
              <a:rPr lang="en-US" sz="1100">
                <a:solidFill>
                  <a:srgbClr val="FBBF24"/>
                </a:solidFill>
                <a:latin typeface="Consolas"/>
                <a:ea typeface="Consolas"/>
                <a:cs typeface="Consolas"/>
                <a:sym typeface="Consolas"/>
              </a:rPr>
              <a:t>'PAID'</a:t>
            </a:r>
            <a:r>
              <a:rPr lang="en-US" sz="1100">
                <a:solidFill>
                  <a:srgbClr val="FFFFFF"/>
                </a:solidFill>
                <a:latin typeface="Consolas"/>
                <a:ea typeface="Consolas"/>
                <a:cs typeface="Consolas"/>
                <a:sym typeface="Consolas"/>
              </a:rPr>
              <a:t>, ?);</a:t>
            </a:r>
            <a:br>
              <a:rPr lang="en-US" sz="1100">
                <a:solidFill>
                  <a:srgbClr val="FFFFFF"/>
                </a:solidFill>
                <a:latin typeface="Consolas"/>
                <a:ea typeface="Consolas"/>
                <a:cs typeface="Consolas"/>
                <a:sym typeface="Consolas"/>
              </a:rPr>
            </a:br>
            <a:br>
              <a:rPr lang="en-US" sz="1100">
                <a:solidFill>
                  <a:srgbClr val="FFFFFF"/>
                </a:solidFill>
                <a:latin typeface="Consolas"/>
                <a:ea typeface="Consolas"/>
                <a:cs typeface="Consolas"/>
                <a:sym typeface="Consolas"/>
              </a:rPr>
            </a:br>
            <a:r>
              <a:rPr lang="en-US" sz="1100">
                <a:solidFill>
                  <a:srgbClr val="FFFFFF"/>
                </a:solidFill>
                <a:latin typeface="Consolas"/>
                <a:ea typeface="Consolas"/>
                <a:cs typeface="Consolas"/>
                <a:sym typeface="Consolas"/>
              </a:rPr>
              <a:t>-- 5. Record the payment</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INSERT INTO</a:t>
            </a:r>
            <a:r>
              <a:rPr lang="en-US" sz="1100">
                <a:solidFill>
                  <a:srgbClr val="FFFFFF"/>
                </a:solidFill>
                <a:latin typeface="Consolas"/>
                <a:ea typeface="Consolas"/>
                <a:cs typeface="Consolas"/>
                <a:sym typeface="Consolas"/>
              </a:rPr>
              <a:t> Payments (...) </a:t>
            </a:r>
            <a:r>
              <a:rPr lang="en-US" sz="1100">
                <a:solidFill>
                  <a:srgbClr val="F472B6"/>
                </a:solidFill>
                <a:latin typeface="Consolas"/>
                <a:ea typeface="Consolas"/>
                <a:cs typeface="Consolas"/>
                <a:sym typeface="Consolas"/>
              </a:rPr>
              <a:t>VALUES</a:t>
            </a:r>
            <a:r>
              <a:rPr lang="en-US" sz="1100">
                <a:solidFill>
                  <a:srgbClr val="FFFFFF"/>
                </a:solidFill>
                <a:latin typeface="Consolas"/>
                <a:ea typeface="Consolas"/>
                <a:cs typeface="Consolas"/>
                <a:sym typeface="Consolas"/>
              </a:rPr>
              <a:t> (...);</a:t>
            </a:r>
            <a:endParaRPr sz="1100">
              <a:solidFill>
                <a:schemeClr val="dk1"/>
              </a:solidFill>
              <a:latin typeface="Calibri"/>
              <a:ea typeface="Calibri"/>
              <a:cs typeface="Calibri"/>
              <a:sym typeface="Calibri"/>
            </a:endParaRPr>
          </a:p>
        </p:txBody>
      </p:sp>
      <p:sp>
        <p:nvSpPr>
          <p:cNvPr id="479" name="Google Shape;479;p15"/>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03  SQL Implementation</a:t>
            </a:r>
            <a:endParaRPr sz="900">
              <a:solidFill>
                <a:schemeClr val="dk1"/>
              </a:solidFill>
              <a:latin typeface="Calibri"/>
              <a:ea typeface="Calibri"/>
              <a:cs typeface="Calibri"/>
              <a:sym typeface="Calibri"/>
            </a:endParaRPr>
          </a:p>
        </p:txBody>
      </p:sp>
      <p:sp>
        <p:nvSpPr>
          <p:cNvPr id="480" name="Google Shape;480;p15"/>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13</a:t>
            </a:r>
            <a:endParaRPr sz="9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85" name="Shape 485"/>
        <p:cNvGrpSpPr/>
        <p:nvPr/>
      </p:nvGrpSpPr>
      <p:grpSpPr>
        <a:xfrm>
          <a:off x="0" y="0"/>
          <a:ext cx="0" cy="0"/>
          <a:chOff x="0" y="0"/>
          <a:chExt cx="0" cy="0"/>
        </a:xfrm>
      </p:grpSpPr>
      <p:sp>
        <p:nvSpPr>
          <p:cNvPr id="486" name="Google Shape;486;p16"/>
          <p:cNvSpPr/>
          <p:nvPr/>
        </p:nvSpPr>
        <p:spPr>
          <a:xfrm>
            <a:off x="731520" y="2011680"/>
            <a:ext cx="274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11000"/>
              <a:buFont typeface="Georgia"/>
              <a:buNone/>
            </a:pPr>
            <a:r>
              <a:rPr b="1" lang="en-US" sz="11000">
                <a:solidFill>
                  <a:srgbClr val="D4AF37"/>
                </a:solidFill>
                <a:latin typeface="Georgia"/>
                <a:ea typeface="Georgia"/>
                <a:cs typeface="Georgia"/>
                <a:sym typeface="Georgia"/>
              </a:rPr>
              <a:t>04</a:t>
            </a:r>
            <a:endParaRPr sz="11000">
              <a:solidFill>
                <a:schemeClr val="dk1"/>
              </a:solidFill>
              <a:latin typeface="Calibri"/>
              <a:ea typeface="Calibri"/>
              <a:cs typeface="Calibri"/>
              <a:sym typeface="Calibri"/>
            </a:endParaRPr>
          </a:p>
        </p:txBody>
      </p:sp>
      <p:sp>
        <p:nvSpPr>
          <p:cNvPr id="487" name="Google Shape;487;p16"/>
          <p:cNvSpPr/>
          <p:nvPr/>
        </p:nvSpPr>
        <p:spPr>
          <a:xfrm>
            <a:off x="731520" y="3566160"/>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lang="en-US" sz="4400">
                <a:solidFill>
                  <a:srgbClr val="FFFFFF"/>
                </a:solidFill>
                <a:latin typeface="Georgia"/>
                <a:ea typeface="Georgia"/>
                <a:cs typeface="Georgia"/>
                <a:sym typeface="Georgia"/>
              </a:rPr>
              <a:t>Frontend &amp; Workflow Demo</a:t>
            </a:r>
            <a:endParaRPr sz="4400">
              <a:solidFill>
                <a:schemeClr val="dk1"/>
              </a:solidFill>
              <a:latin typeface="Calibri"/>
              <a:ea typeface="Calibri"/>
              <a:cs typeface="Calibri"/>
              <a:sym typeface="Calibri"/>
            </a:endParaRPr>
          </a:p>
        </p:txBody>
      </p:sp>
      <p:sp>
        <p:nvSpPr>
          <p:cNvPr id="488" name="Google Shape;488;p16"/>
          <p:cNvSpPr/>
          <p:nvPr/>
        </p:nvSpPr>
        <p:spPr>
          <a:xfrm>
            <a:off x="731520" y="4343400"/>
            <a:ext cx="10972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i="1" lang="en-US" sz="1800">
                <a:solidFill>
                  <a:srgbClr val="CADCFC"/>
                </a:solidFill>
                <a:latin typeface="Calibri"/>
                <a:ea typeface="Calibri"/>
                <a:cs typeface="Calibri"/>
                <a:sym typeface="Calibri"/>
              </a:rPr>
              <a:t>From SQL row to rendered dashboard — and a live walkthrough</a:t>
            </a:r>
            <a:endParaRPr sz="1800">
              <a:solidFill>
                <a:schemeClr val="dk1"/>
              </a:solidFill>
              <a:latin typeface="Calibri"/>
              <a:ea typeface="Calibri"/>
              <a:cs typeface="Calibri"/>
              <a:sym typeface="Calibri"/>
            </a:endParaRPr>
          </a:p>
        </p:txBody>
      </p:sp>
      <p:sp>
        <p:nvSpPr>
          <p:cNvPr id="489" name="Google Shape;489;p16"/>
          <p:cNvSpPr/>
          <p:nvPr/>
        </p:nvSpPr>
        <p:spPr>
          <a:xfrm>
            <a:off x="731520" y="59436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200">
                <a:solidFill>
                  <a:srgbClr val="CADCFC"/>
                </a:solidFill>
                <a:latin typeface="Calibri"/>
                <a:ea typeface="Calibri"/>
                <a:cs typeface="Calibri"/>
                <a:sym typeface="Calibri"/>
              </a:rPr>
              <a:t>PRESENTED BY NISARG SHAH</a:t>
            </a:r>
            <a:endParaRPr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pic>
        <p:nvPicPr>
          <p:cNvPr descr="preencoded.png" id="495" name="Google Shape;495;p17"/>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496" name="Google Shape;496;p17"/>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Technology Stack</a:t>
            </a:r>
            <a:endParaRPr sz="2800">
              <a:solidFill>
                <a:schemeClr val="dk1"/>
              </a:solidFill>
              <a:latin typeface="Calibri"/>
              <a:ea typeface="Calibri"/>
              <a:cs typeface="Calibri"/>
              <a:sym typeface="Calibri"/>
            </a:endParaRPr>
          </a:p>
        </p:txBody>
      </p:sp>
      <p:sp>
        <p:nvSpPr>
          <p:cNvPr id="497" name="Google Shape;497;p17"/>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Lightweight, modern, deployed end-to-end</a:t>
            </a:r>
            <a:endParaRPr sz="1300">
              <a:solidFill>
                <a:schemeClr val="dk1"/>
              </a:solidFill>
              <a:latin typeface="Calibri"/>
              <a:ea typeface="Calibri"/>
              <a:cs typeface="Calibri"/>
              <a:sym typeface="Calibri"/>
            </a:endParaRPr>
          </a:p>
        </p:txBody>
      </p:sp>
      <p:sp>
        <p:nvSpPr>
          <p:cNvPr id="498" name="Google Shape;498;p17"/>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7"/>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Nisarg</a:t>
            </a:r>
            <a:endParaRPr sz="1100">
              <a:solidFill>
                <a:schemeClr val="dk1"/>
              </a:solidFill>
              <a:latin typeface="Calibri"/>
              <a:ea typeface="Calibri"/>
              <a:cs typeface="Calibri"/>
              <a:sym typeface="Calibri"/>
            </a:endParaRPr>
          </a:p>
        </p:txBody>
      </p:sp>
      <p:sp>
        <p:nvSpPr>
          <p:cNvPr id="500" name="Google Shape;500;p17"/>
          <p:cNvSpPr/>
          <p:nvPr/>
        </p:nvSpPr>
        <p:spPr>
          <a:xfrm>
            <a:off x="457200" y="1371600"/>
            <a:ext cx="3703320" cy="4846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17"/>
          <p:cNvSpPr/>
          <p:nvPr/>
        </p:nvSpPr>
        <p:spPr>
          <a:xfrm>
            <a:off x="457200" y="1371600"/>
            <a:ext cx="3703320" cy="6858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17"/>
          <p:cNvSpPr/>
          <p:nvPr/>
        </p:nvSpPr>
        <p:spPr>
          <a:xfrm>
            <a:off x="457200" y="1417320"/>
            <a:ext cx="3703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400"/>
              <a:buFont typeface="Calibri"/>
              <a:buNone/>
            </a:pPr>
            <a:r>
              <a:rPr b="1" lang="en-US" sz="1400">
                <a:solidFill>
                  <a:srgbClr val="D4AF37"/>
                </a:solidFill>
                <a:latin typeface="Calibri"/>
                <a:ea typeface="Calibri"/>
                <a:cs typeface="Calibri"/>
                <a:sym typeface="Calibri"/>
              </a:rPr>
              <a:t>FRONTEND</a:t>
            </a:r>
            <a:endParaRPr sz="1400">
              <a:solidFill>
                <a:schemeClr val="dk1"/>
              </a:solidFill>
              <a:latin typeface="Calibri"/>
              <a:ea typeface="Calibri"/>
              <a:cs typeface="Calibri"/>
              <a:sym typeface="Calibri"/>
            </a:endParaRPr>
          </a:p>
        </p:txBody>
      </p:sp>
      <p:sp>
        <p:nvSpPr>
          <p:cNvPr id="503" name="Google Shape;503;p17"/>
          <p:cNvSpPr/>
          <p:nvPr/>
        </p:nvSpPr>
        <p:spPr>
          <a:xfrm>
            <a:off x="457200" y="1755648"/>
            <a:ext cx="3703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i="1" lang="en-US" sz="1100">
                <a:solidFill>
                  <a:srgbClr val="CADCFC"/>
                </a:solidFill>
                <a:latin typeface="Calibri"/>
                <a:ea typeface="Calibri"/>
                <a:cs typeface="Calibri"/>
                <a:sym typeface="Calibri"/>
              </a:rPr>
              <a:t>Presentation Layer</a:t>
            </a:r>
            <a:endParaRPr sz="1100">
              <a:solidFill>
                <a:schemeClr val="dk1"/>
              </a:solidFill>
              <a:latin typeface="Calibri"/>
              <a:ea typeface="Calibri"/>
              <a:cs typeface="Calibri"/>
              <a:sym typeface="Calibri"/>
            </a:endParaRPr>
          </a:p>
        </p:txBody>
      </p:sp>
      <p:sp>
        <p:nvSpPr>
          <p:cNvPr id="504" name="Google Shape;504;p17"/>
          <p:cNvSpPr/>
          <p:nvPr/>
        </p:nvSpPr>
        <p:spPr>
          <a:xfrm>
            <a:off x="685800" y="237744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05" name="Google Shape;505;p17"/>
          <p:cNvPicPr preferRelativeResize="0"/>
          <p:nvPr/>
        </p:nvPicPr>
        <p:blipFill rotWithShape="1">
          <a:blip r:embed="rId4">
            <a:alphaModFix/>
          </a:blip>
          <a:srcRect b="0" l="0" r="0" t="0"/>
          <a:stretch/>
        </p:blipFill>
        <p:spPr>
          <a:xfrm>
            <a:off x="777240" y="2468880"/>
            <a:ext cx="320040" cy="320040"/>
          </a:xfrm>
          <a:prstGeom prst="rect">
            <a:avLst/>
          </a:prstGeom>
          <a:noFill/>
          <a:ln>
            <a:noFill/>
          </a:ln>
        </p:spPr>
      </p:pic>
      <p:sp>
        <p:nvSpPr>
          <p:cNvPr id="506" name="Google Shape;506;p17"/>
          <p:cNvSpPr/>
          <p:nvPr/>
        </p:nvSpPr>
        <p:spPr>
          <a:xfrm>
            <a:off x="1325880" y="23317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Bootstrap 5.3</a:t>
            </a:r>
            <a:endParaRPr sz="1300">
              <a:solidFill>
                <a:schemeClr val="dk1"/>
              </a:solidFill>
              <a:latin typeface="Calibri"/>
              <a:ea typeface="Calibri"/>
              <a:cs typeface="Calibri"/>
              <a:sym typeface="Calibri"/>
            </a:endParaRPr>
          </a:p>
        </p:txBody>
      </p:sp>
      <p:sp>
        <p:nvSpPr>
          <p:cNvPr id="507" name="Google Shape;507;p17"/>
          <p:cNvSpPr/>
          <p:nvPr/>
        </p:nvSpPr>
        <p:spPr>
          <a:xfrm>
            <a:off x="1325880" y="262432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Responsive grid &amp; components</a:t>
            </a:r>
            <a:endParaRPr sz="1050">
              <a:solidFill>
                <a:schemeClr val="dk1"/>
              </a:solidFill>
              <a:latin typeface="Calibri"/>
              <a:ea typeface="Calibri"/>
              <a:cs typeface="Calibri"/>
              <a:sym typeface="Calibri"/>
            </a:endParaRPr>
          </a:p>
        </p:txBody>
      </p:sp>
      <p:sp>
        <p:nvSpPr>
          <p:cNvPr id="508" name="Google Shape;508;p17"/>
          <p:cNvSpPr/>
          <p:nvPr/>
        </p:nvSpPr>
        <p:spPr>
          <a:xfrm>
            <a:off x="685800" y="333756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09" name="Google Shape;509;p17"/>
          <p:cNvPicPr preferRelativeResize="0"/>
          <p:nvPr/>
        </p:nvPicPr>
        <p:blipFill rotWithShape="1">
          <a:blip r:embed="rId5">
            <a:alphaModFix/>
          </a:blip>
          <a:srcRect b="0" l="0" r="0" t="0"/>
          <a:stretch/>
        </p:blipFill>
        <p:spPr>
          <a:xfrm>
            <a:off x="777240" y="3429000"/>
            <a:ext cx="320040" cy="320040"/>
          </a:xfrm>
          <a:prstGeom prst="rect">
            <a:avLst/>
          </a:prstGeom>
          <a:noFill/>
          <a:ln>
            <a:noFill/>
          </a:ln>
        </p:spPr>
      </p:pic>
      <p:sp>
        <p:nvSpPr>
          <p:cNvPr id="510" name="Google Shape;510;p17"/>
          <p:cNvSpPr/>
          <p:nvPr/>
        </p:nvSpPr>
        <p:spPr>
          <a:xfrm>
            <a:off x="1325880" y="32918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Custom CSS3</a:t>
            </a:r>
            <a:endParaRPr sz="1300">
              <a:solidFill>
                <a:schemeClr val="dk1"/>
              </a:solidFill>
              <a:latin typeface="Calibri"/>
              <a:ea typeface="Calibri"/>
              <a:cs typeface="Calibri"/>
              <a:sym typeface="Calibri"/>
            </a:endParaRPr>
          </a:p>
        </p:txBody>
      </p:sp>
      <p:sp>
        <p:nvSpPr>
          <p:cNvPr id="511" name="Google Shape;511;p17"/>
          <p:cNvSpPr/>
          <p:nvPr/>
        </p:nvSpPr>
        <p:spPr>
          <a:xfrm>
            <a:off x="1325880" y="358444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Dark glassmorphism theme</a:t>
            </a:r>
            <a:endParaRPr sz="1050">
              <a:solidFill>
                <a:schemeClr val="dk1"/>
              </a:solidFill>
              <a:latin typeface="Calibri"/>
              <a:ea typeface="Calibri"/>
              <a:cs typeface="Calibri"/>
              <a:sym typeface="Calibri"/>
            </a:endParaRPr>
          </a:p>
        </p:txBody>
      </p:sp>
      <p:sp>
        <p:nvSpPr>
          <p:cNvPr id="512" name="Google Shape;512;p17"/>
          <p:cNvSpPr/>
          <p:nvPr/>
        </p:nvSpPr>
        <p:spPr>
          <a:xfrm>
            <a:off x="685800" y="429768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13" name="Google Shape;513;p17"/>
          <p:cNvPicPr preferRelativeResize="0"/>
          <p:nvPr/>
        </p:nvPicPr>
        <p:blipFill rotWithShape="1">
          <a:blip r:embed="rId6">
            <a:alphaModFix/>
          </a:blip>
          <a:srcRect b="0" l="0" r="0" t="0"/>
          <a:stretch/>
        </p:blipFill>
        <p:spPr>
          <a:xfrm>
            <a:off x="777240" y="4389120"/>
            <a:ext cx="320040" cy="320040"/>
          </a:xfrm>
          <a:prstGeom prst="rect">
            <a:avLst/>
          </a:prstGeom>
          <a:noFill/>
          <a:ln>
            <a:noFill/>
          </a:ln>
        </p:spPr>
      </p:pic>
      <p:sp>
        <p:nvSpPr>
          <p:cNvPr id="514" name="Google Shape;514;p17"/>
          <p:cNvSpPr/>
          <p:nvPr/>
        </p:nvSpPr>
        <p:spPr>
          <a:xfrm>
            <a:off x="1325880" y="42519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Chart.js</a:t>
            </a:r>
            <a:endParaRPr sz="1300">
              <a:solidFill>
                <a:schemeClr val="dk1"/>
              </a:solidFill>
              <a:latin typeface="Calibri"/>
              <a:ea typeface="Calibri"/>
              <a:cs typeface="Calibri"/>
              <a:sym typeface="Calibri"/>
            </a:endParaRPr>
          </a:p>
        </p:txBody>
      </p:sp>
      <p:sp>
        <p:nvSpPr>
          <p:cNvPr id="515" name="Google Shape;515;p17"/>
          <p:cNvSpPr/>
          <p:nvPr/>
        </p:nvSpPr>
        <p:spPr>
          <a:xfrm>
            <a:off x="1325880" y="454456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KPI doughnut &amp; pie charts</a:t>
            </a:r>
            <a:endParaRPr sz="1050">
              <a:solidFill>
                <a:schemeClr val="dk1"/>
              </a:solidFill>
              <a:latin typeface="Calibri"/>
              <a:ea typeface="Calibri"/>
              <a:cs typeface="Calibri"/>
              <a:sym typeface="Calibri"/>
            </a:endParaRPr>
          </a:p>
        </p:txBody>
      </p:sp>
      <p:sp>
        <p:nvSpPr>
          <p:cNvPr id="516" name="Google Shape;516;p17"/>
          <p:cNvSpPr/>
          <p:nvPr/>
        </p:nvSpPr>
        <p:spPr>
          <a:xfrm>
            <a:off x="685800" y="525780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17" name="Google Shape;517;p17"/>
          <p:cNvPicPr preferRelativeResize="0"/>
          <p:nvPr/>
        </p:nvPicPr>
        <p:blipFill rotWithShape="1">
          <a:blip r:embed="rId5">
            <a:alphaModFix/>
          </a:blip>
          <a:srcRect b="0" l="0" r="0" t="0"/>
          <a:stretch/>
        </p:blipFill>
        <p:spPr>
          <a:xfrm>
            <a:off x="777240" y="5349240"/>
            <a:ext cx="320040" cy="320040"/>
          </a:xfrm>
          <a:prstGeom prst="rect">
            <a:avLst/>
          </a:prstGeom>
          <a:noFill/>
          <a:ln>
            <a:noFill/>
          </a:ln>
        </p:spPr>
      </p:pic>
      <p:sp>
        <p:nvSpPr>
          <p:cNvPr id="518" name="Google Shape;518;p17"/>
          <p:cNvSpPr/>
          <p:nvPr/>
        </p:nvSpPr>
        <p:spPr>
          <a:xfrm>
            <a:off x="1325880" y="52120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Jinja2</a:t>
            </a:r>
            <a:endParaRPr sz="1300">
              <a:solidFill>
                <a:schemeClr val="dk1"/>
              </a:solidFill>
              <a:latin typeface="Calibri"/>
              <a:ea typeface="Calibri"/>
              <a:cs typeface="Calibri"/>
              <a:sym typeface="Calibri"/>
            </a:endParaRPr>
          </a:p>
        </p:txBody>
      </p:sp>
      <p:sp>
        <p:nvSpPr>
          <p:cNvPr id="519" name="Google Shape;519;p17"/>
          <p:cNvSpPr/>
          <p:nvPr/>
        </p:nvSpPr>
        <p:spPr>
          <a:xfrm>
            <a:off x="1325880" y="550468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Server-side templating</a:t>
            </a:r>
            <a:endParaRPr sz="1050">
              <a:solidFill>
                <a:schemeClr val="dk1"/>
              </a:solidFill>
              <a:latin typeface="Calibri"/>
              <a:ea typeface="Calibri"/>
              <a:cs typeface="Calibri"/>
              <a:sym typeface="Calibri"/>
            </a:endParaRPr>
          </a:p>
        </p:txBody>
      </p:sp>
      <p:sp>
        <p:nvSpPr>
          <p:cNvPr id="520" name="Google Shape;520;p17"/>
          <p:cNvSpPr/>
          <p:nvPr/>
        </p:nvSpPr>
        <p:spPr>
          <a:xfrm>
            <a:off x="4325112" y="1371600"/>
            <a:ext cx="3703320" cy="4846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17"/>
          <p:cNvSpPr/>
          <p:nvPr/>
        </p:nvSpPr>
        <p:spPr>
          <a:xfrm>
            <a:off x="4325112" y="1371600"/>
            <a:ext cx="3703320" cy="6858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17"/>
          <p:cNvSpPr/>
          <p:nvPr/>
        </p:nvSpPr>
        <p:spPr>
          <a:xfrm>
            <a:off x="4325112" y="1417320"/>
            <a:ext cx="3703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400"/>
              <a:buFont typeface="Calibri"/>
              <a:buNone/>
            </a:pPr>
            <a:r>
              <a:rPr b="1" lang="en-US" sz="1400">
                <a:solidFill>
                  <a:srgbClr val="D4AF37"/>
                </a:solidFill>
                <a:latin typeface="Calibri"/>
                <a:ea typeface="Calibri"/>
                <a:cs typeface="Calibri"/>
                <a:sym typeface="Calibri"/>
              </a:rPr>
              <a:t>BACKEND</a:t>
            </a:r>
            <a:endParaRPr sz="1400">
              <a:solidFill>
                <a:schemeClr val="dk1"/>
              </a:solidFill>
              <a:latin typeface="Calibri"/>
              <a:ea typeface="Calibri"/>
              <a:cs typeface="Calibri"/>
              <a:sym typeface="Calibri"/>
            </a:endParaRPr>
          </a:p>
        </p:txBody>
      </p:sp>
      <p:sp>
        <p:nvSpPr>
          <p:cNvPr id="523" name="Google Shape;523;p17"/>
          <p:cNvSpPr/>
          <p:nvPr/>
        </p:nvSpPr>
        <p:spPr>
          <a:xfrm>
            <a:off x="4325112" y="1755648"/>
            <a:ext cx="3703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i="1" lang="en-US" sz="1100">
                <a:solidFill>
                  <a:srgbClr val="CADCFC"/>
                </a:solidFill>
                <a:latin typeface="Calibri"/>
                <a:ea typeface="Calibri"/>
                <a:cs typeface="Calibri"/>
                <a:sym typeface="Calibri"/>
              </a:rPr>
              <a:t>Application Layer</a:t>
            </a:r>
            <a:endParaRPr sz="1100">
              <a:solidFill>
                <a:schemeClr val="dk1"/>
              </a:solidFill>
              <a:latin typeface="Calibri"/>
              <a:ea typeface="Calibri"/>
              <a:cs typeface="Calibri"/>
              <a:sym typeface="Calibri"/>
            </a:endParaRPr>
          </a:p>
        </p:txBody>
      </p:sp>
      <p:sp>
        <p:nvSpPr>
          <p:cNvPr id="524" name="Google Shape;524;p17"/>
          <p:cNvSpPr/>
          <p:nvPr/>
        </p:nvSpPr>
        <p:spPr>
          <a:xfrm>
            <a:off x="4553712" y="237744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25" name="Google Shape;525;p17"/>
          <p:cNvPicPr preferRelativeResize="0"/>
          <p:nvPr/>
        </p:nvPicPr>
        <p:blipFill rotWithShape="1">
          <a:blip r:embed="rId7">
            <a:alphaModFix/>
          </a:blip>
          <a:srcRect b="0" l="0" r="0" t="0"/>
          <a:stretch/>
        </p:blipFill>
        <p:spPr>
          <a:xfrm>
            <a:off x="4645152" y="2468880"/>
            <a:ext cx="320040" cy="320040"/>
          </a:xfrm>
          <a:prstGeom prst="rect">
            <a:avLst/>
          </a:prstGeom>
          <a:noFill/>
          <a:ln>
            <a:noFill/>
          </a:ln>
        </p:spPr>
      </p:pic>
      <p:sp>
        <p:nvSpPr>
          <p:cNvPr id="526" name="Google Shape;526;p17"/>
          <p:cNvSpPr/>
          <p:nvPr/>
        </p:nvSpPr>
        <p:spPr>
          <a:xfrm>
            <a:off x="5193792" y="23317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Python 3</a:t>
            </a:r>
            <a:endParaRPr sz="1300">
              <a:solidFill>
                <a:schemeClr val="dk1"/>
              </a:solidFill>
              <a:latin typeface="Calibri"/>
              <a:ea typeface="Calibri"/>
              <a:cs typeface="Calibri"/>
              <a:sym typeface="Calibri"/>
            </a:endParaRPr>
          </a:p>
        </p:txBody>
      </p:sp>
      <p:sp>
        <p:nvSpPr>
          <p:cNvPr id="527" name="Google Shape;527;p17"/>
          <p:cNvSpPr/>
          <p:nvPr/>
        </p:nvSpPr>
        <p:spPr>
          <a:xfrm>
            <a:off x="5193792" y="262432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Application runtime</a:t>
            </a:r>
            <a:endParaRPr sz="1050">
              <a:solidFill>
                <a:schemeClr val="dk1"/>
              </a:solidFill>
              <a:latin typeface="Calibri"/>
              <a:ea typeface="Calibri"/>
              <a:cs typeface="Calibri"/>
              <a:sym typeface="Calibri"/>
            </a:endParaRPr>
          </a:p>
        </p:txBody>
      </p:sp>
      <p:sp>
        <p:nvSpPr>
          <p:cNvPr id="528" name="Google Shape;528;p17"/>
          <p:cNvSpPr/>
          <p:nvPr/>
        </p:nvSpPr>
        <p:spPr>
          <a:xfrm>
            <a:off x="4553712" y="333756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29" name="Google Shape;529;p17"/>
          <p:cNvPicPr preferRelativeResize="0"/>
          <p:nvPr/>
        </p:nvPicPr>
        <p:blipFill rotWithShape="1">
          <a:blip r:embed="rId8">
            <a:alphaModFix/>
          </a:blip>
          <a:srcRect b="0" l="0" r="0" t="0"/>
          <a:stretch/>
        </p:blipFill>
        <p:spPr>
          <a:xfrm>
            <a:off x="4645152" y="3429000"/>
            <a:ext cx="320040" cy="320040"/>
          </a:xfrm>
          <a:prstGeom prst="rect">
            <a:avLst/>
          </a:prstGeom>
          <a:noFill/>
          <a:ln>
            <a:noFill/>
          </a:ln>
        </p:spPr>
      </p:pic>
      <p:sp>
        <p:nvSpPr>
          <p:cNvPr id="530" name="Google Shape;530;p17"/>
          <p:cNvSpPr/>
          <p:nvPr/>
        </p:nvSpPr>
        <p:spPr>
          <a:xfrm>
            <a:off x="5193792" y="32918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Flask</a:t>
            </a:r>
            <a:endParaRPr sz="1300">
              <a:solidFill>
                <a:schemeClr val="dk1"/>
              </a:solidFill>
              <a:latin typeface="Calibri"/>
              <a:ea typeface="Calibri"/>
              <a:cs typeface="Calibri"/>
              <a:sym typeface="Calibri"/>
            </a:endParaRPr>
          </a:p>
        </p:txBody>
      </p:sp>
      <p:sp>
        <p:nvSpPr>
          <p:cNvPr id="531" name="Google Shape;531;p17"/>
          <p:cNvSpPr/>
          <p:nvPr/>
        </p:nvSpPr>
        <p:spPr>
          <a:xfrm>
            <a:off x="5193792" y="358444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Routing &amp; request handling</a:t>
            </a:r>
            <a:endParaRPr sz="1050">
              <a:solidFill>
                <a:schemeClr val="dk1"/>
              </a:solidFill>
              <a:latin typeface="Calibri"/>
              <a:ea typeface="Calibri"/>
              <a:cs typeface="Calibri"/>
              <a:sym typeface="Calibri"/>
            </a:endParaRPr>
          </a:p>
        </p:txBody>
      </p:sp>
      <p:sp>
        <p:nvSpPr>
          <p:cNvPr id="532" name="Google Shape;532;p17"/>
          <p:cNvSpPr/>
          <p:nvPr/>
        </p:nvSpPr>
        <p:spPr>
          <a:xfrm>
            <a:off x="4553712" y="429768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33" name="Google Shape;533;p17"/>
          <p:cNvPicPr preferRelativeResize="0"/>
          <p:nvPr/>
        </p:nvPicPr>
        <p:blipFill rotWithShape="1">
          <a:blip r:embed="rId9">
            <a:alphaModFix/>
          </a:blip>
          <a:srcRect b="0" l="0" r="0" t="0"/>
          <a:stretch/>
        </p:blipFill>
        <p:spPr>
          <a:xfrm>
            <a:off x="4645152" y="4389120"/>
            <a:ext cx="320040" cy="320040"/>
          </a:xfrm>
          <a:prstGeom prst="rect">
            <a:avLst/>
          </a:prstGeom>
          <a:noFill/>
          <a:ln>
            <a:noFill/>
          </a:ln>
        </p:spPr>
      </p:pic>
      <p:sp>
        <p:nvSpPr>
          <p:cNvPr id="534" name="Google Shape;534;p17"/>
          <p:cNvSpPr/>
          <p:nvPr/>
        </p:nvSpPr>
        <p:spPr>
          <a:xfrm>
            <a:off x="5193792" y="42519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Firebase Auth</a:t>
            </a:r>
            <a:endParaRPr sz="1300">
              <a:solidFill>
                <a:schemeClr val="dk1"/>
              </a:solidFill>
              <a:latin typeface="Calibri"/>
              <a:ea typeface="Calibri"/>
              <a:cs typeface="Calibri"/>
              <a:sym typeface="Calibri"/>
            </a:endParaRPr>
          </a:p>
        </p:txBody>
      </p:sp>
      <p:sp>
        <p:nvSpPr>
          <p:cNvPr id="535" name="Google Shape;535;p17"/>
          <p:cNvSpPr/>
          <p:nvPr/>
        </p:nvSpPr>
        <p:spPr>
          <a:xfrm>
            <a:off x="5193792" y="454456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Secure login (SSO/OAuth)</a:t>
            </a:r>
            <a:endParaRPr sz="1050">
              <a:solidFill>
                <a:schemeClr val="dk1"/>
              </a:solidFill>
              <a:latin typeface="Calibri"/>
              <a:ea typeface="Calibri"/>
              <a:cs typeface="Calibri"/>
              <a:sym typeface="Calibri"/>
            </a:endParaRPr>
          </a:p>
        </p:txBody>
      </p:sp>
      <p:sp>
        <p:nvSpPr>
          <p:cNvPr id="536" name="Google Shape;536;p17"/>
          <p:cNvSpPr/>
          <p:nvPr/>
        </p:nvSpPr>
        <p:spPr>
          <a:xfrm>
            <a:off x="4553712" y="525780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37" name="Google Shape;537;p17"/>
          <p:cNvPicPr preferRelativeResize="0"/>
          <p:nvPr/>
        </p:nvPicPr>
        <p:blipFill rotWithShape="1">
          <a:blip r:embed="rId10">
            <a:alphaModFix/>
          </a:blip>
          <a:srcRect b="0" l="0" r="0" t="0"/>
          <a:stretch/>
        </p:blipFill>
        <p:spPr>
          <a:xfrm>
            <a:off x="4645152" y="5349240"/>
            <a:ext cx="320040" cy="320040"/>
          </a:xfrm>
          <a:prstGeom prst="rect">
            <a:avLst/>
          </a:prstGeom>
          <a:noFill/>
          <a:ln>
            <a:noFill/>
          </a:ln>
        </p:spPr>
      </p:pic>
      <p:sp>
        <p:nvSpPr>
          <p:cNvPr id="538" name="Google Shape;538;p17"/>
          <p:cNvSpPr/>
          <p:nvPr/>
        </p:nvSpPr>
        <p:spPr>
          <a:xfrm>
            <a:off x="5193792" y="52120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@login_required</a:t>
            </a:r>
            <a:endParaRPr sz="1300">
              <a:solidFill>
                <a:schemeClr val="dk1"/>
              </a:solidFill>
              <a:latin typeface="Calibri"/>
              <a:ea typeface="Calibri"/>
              <a:cs typeface="Calibri"/>
              <a:sym typeface="Calibri"/>
            </a:endParaRPr>
          </a:p>
        </p:txBody>
      </p:sp>
      <p:sp>
        <p:nvSpPr>
          <p:cNvPr id="539" name="Google Shape;539;p17"/>
          <p:cNvSpPr/>
          <p:nvPr/>
        </p:nvSpPr>
        <p:spPr>
          <a:xfrm>
            <a:off x="5193792" y="550468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Decorator-based access control</a:t>
            </a:r>
            <a:endParaRPr sz="1050">
              <a:solidFill>
                <a:schemeClr val="dk1"/>
              </a:solidFill>
              <a:latin typeface="Calibri"/>
              <a:ea typeface="Calibri"/>
              <a:cs typeface="Calibri"/>
              <a:sym typeface="Calibri"/>
            </a:endParaRPr>
          </a:p>
        </p:txBody>
      </p:sp>
      <p:sp>
        <p:nvSpPr>
          <p:cNvPr id="540" name="Google Shape;540;p17"/>
          <p:cNvSpPr/>
          <p:nvPr/>
        </p:nvSpPr>
        <p:spPr>
          <a:xfrm>
            <a:off x="8193024" y="1371600"/>
            <a:ext cx="3703320" cy="4846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17"/>
          <p:cNvSpPr/>
          <p:nvPr/>
        </p:nvSpPr>
        <p:spPr>
          <a:xfrm>
            <a:off x="8193024" y="1371600"/>
            <a:ext cx="3703320" cy="6858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7"/>
          <p:cNvSpPr/>
          <p:nvPr/>
        </p:nvSpPr>
        <p:spPr>
          <a:xfrm>
            <a:off x="8193024" y="1417320"/>
            <a:ext cx="3703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F37"/>
              </a:buClr>
              <a:buSzPts val="1400"/>
              <a:buFont typeface="Calibri"/>
              <a:buNone/>
            </a:pPr>
            <a:r>
              <a:rPr b="1" lang="en-US" sz="1400">
                <a:solidFill>
                  <a:srgbClr val="D4AF37"/>
                </a:solidFill>
                <a:latin typeface="Calibri"/>
                <a:ea typeface="Calibri"/>
                <a:cs typeface="Calibri"/>
                <a:sym typeface="Calibri"/>
              </a:rPr>
              <a:t>DATA &amp; DEPLOY</a:t>
            </a:r>
            <a:endParaRPr sz="1400">
              <a:solidFill>
                <a:schemeClr val="dk1"/>
              </a:solidFill>
              <a:latin typeface="Calibri"/>
              <a:ea typeface="Calibri"/>
              <a:cs typeface="Calibri"/>
              <a:sym typeface="Calibri"/>
            </a:endParaRPr>
          </a:p>
        </p:txBody>
      </p:sp>
      <p:sp>
        <p:nvSpPr>
          <p:cNvPr id="543" name="Google Shape;543;p17"/>
          <p:cNvSpPr/>
          <p:nvPr/>
        </p:nvSpPr>
        <p:spPr>
          <a:xfrm>
            <a:off x="8193024" y="1755648"/>
            <a:ext cx="3703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i="1" lang="en-US" sz="1100">
                <a:solidFill>
                  <a:srgbClr val="CADCFC"/>
                </a:solidFill>
                <a:latin typeface="Calibri"/>
                <a:ea typeface="Calibri"/>
                <a:cs typeface="Calibri"/>
                <a:sym typeface="Calibri"/>
              </a:rPr>
              <a:t>Persistence + Hosting</a:t>
            </a:r>
            <a:endParaRPr sz="1100">
              <a:solidFill>
                <a:schemeClr val="dk1"/>
              </a:solidFill>
              <a:latin typeface="Calibri"/>
              <a:ea typeface="Calibri"/>
              <a:cs typeface="Calibri"/>
              <a:sym typeface="Calibri"/>
            </a:endParaRPr>
          </a:p>
        </p:txBody>
      </p:sp>
      <p:sp>
        <p:nvSpPr>
          <p:cNvPr id="544" name="Google Shape;544;p17"/>
          <p:cNvSpPr/>
          <p:nvPr/>
        </p:nvSpPr>
        <p:spPr>
          <a:xfrm>
            <a:off x="8421624" y="237744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45" name="Google Shape;545;p17"/>
          <p:cNvPicPr preferRelativeResize="0"/>
          <p:nvPr/>
        </p:nvPicPr>
        <p:blipFill rotWithShape="1">
          <a:blip r:embed="rId11">
            <a:alphaModFix/>
          </a:blip>
          <a:srcRect b="0" l="0" r="0" t="0"/>
          <a:stretch/>
        </p:blipFill>
        <p:spPr>
          <a:xfrm>
            <a:off x="8513064" y="2468880"/>
            <a:ext cx="320040" cy="320040"/>
          </a:xfrm>
          <a:prstGeom prst="rect">
            <a:avLst/>
          </a:prstGeom>
          <a:noFill/>
          <a:ln>
            <a:noFill/>
          </a:ln>
        </p:spPr>
      </p:pic>
      <p:sp>
        <p:nvSpPr>
          <p:cNvPr id="546" name="Google Shape;546;p17"/>
          <p:cNvSpPr/>
          <p:nvPr/>
        </p:nvSpPr>
        <p:spPr>
          <a:xfrm>
            <a:off x="9061704" y="23317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SQLite (prod)</a:t>
            </a:r>
            <a:endParaRPr sz="1300">
              <a:solidFill>
                <a:schemeClr val="dk1"/>
              </a:solidFill>
              <a:latin typeface="Calibri"/>
              <a:ea typeface="Calibri"/>
              <a:cs typeface="Calibri"/>
              <a:sym typeface="Calibri"/>
            </a:endParaRPr>
          </a:p>
        </p:txBody>
      </p:sp>
      <p:sp>
        <p:nvSpPr>
          <p:cNvPr id="547" name="Google Shape;547;p17"/>
          <p:cNvSpPr/>
          <p:nvPr/>
        </p:nvSpPr>
        <p:spPr>
          <a:xfrm>
            <a:off x="9061704" y="262432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Embedded relational DB</a:t>
            </a:r>
            <a:endParaRPr sz="1050">
              <a:solidFill>
                <a:schemeClr val="dk1"/>
              </a:solidFill>
              <a:latin typeface="Calibri"/>
              <a:ea typeface="Calibri"/>
              <a:cs typeface="Calibri"/>
              <a:sym typeface="Calibri"/>
            </a:endParaRPr>
          </a:p>
        </p:txBody>
      </p:sp>
      <p:sp>
        <p:nvSpPr>
          <p:cNvPr id="548" name="Google Shape;548;p17"/>
          <p:cNvSpPr/>
          <p:nvPr/>
        </p:nvSpPr>
        <p:spPr>
          <a:xfrm>
            <a:off x="8421624" y="333756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49" name="Google Shape;549;p17"/>
          <p:cNvPicPr preferRelativeResize="0"/>
          <p:nvPr/>
        </p:nvPicPr>
        <p:blipFill rotWithShape="1">
          <a:blip r:embed="rId11">
            <a:alphaModFix/>
          </a:blip>
          <a:srcRect b="0" l="0" r="0" t="0"/>
          <a:stretch/>
        </p:blipFill>
        <p:spPr>
          <a:xfrm>
            <a:off x="8513064" y="3429000"/>
            <a:ext cx="320040" cy="320040"/>
          </a:xfrm>
          <a:prstGeom prst="rect">
            <a:avLst/>
          </a:prstGeom>
          <a:noFill/>
          <a:ln>
            <a:noFill/>
          </a:ln>
        </p:spPr>
      </p:pic>
      <p:sp>
        <p:nvSpPr>
          <p:cNvPr id="550" name="Google Shape;550;p17"/>
          <p:cNvSpPr/>
          <p:nvPr/>
        </p:nvSpPr>
        <p:spPr>
          <a:xfrm>
            <a:off x="9061704" y="32918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MySQL (academic)</a:t>
            </a:r>
            <a:endParaRPr sz="1300">
              <a:solidFill>
                <a:schemeClr val="dk1"/>
              </a:solidFill>
              <a:latin typeface="Calibri"/>
              <a:ea typeface="Calibri"/>
              <a:cs typeface="Calibri"/>
              <a:sym typeface="Calibri"/>
            </a:endParaRPr>
          </a:p>
        </p:txBody>
      </p:sp>
      <p:sp>
        <p:nvSpPr>
          <p:cNvPr id="551" name="Google Shape;551;p17"/>
          <p:cNvSpPr/>
          <p:nvPr/>
        </p:nvSpPr>
        <p:spPr>
          <a:xfrm>
            <a:off x="9061704" y="358444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Workbench schema build</a:t>
            </a:r>
            <a:endParaRPr sz="1050">
              <a:solidFill>
                <a:schemeClr val="dk1"/>
              </a:solidFill>
              <a:latin typeface="Calibri"/>
              <a:ea typeface="Calibri"/>
              <a:cs typeface="Calibri"/>
              <a:sym typeface="Calibri"/>
            </a:endParaRPr>
          </a:p>
        </p:txBody>
      </p:sp>
      <p:sp>
        <p:nvSpPr>
          <p:cNvPr id="552" name="Google Shape;552;p17"/>
          <p:cNvSpPr/>
          <p:nvPr/>
        </p:nvSpPr>
        <p:spPr>
          <a:xfrm>
            <a:off x="8421624" y="429768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53" name="Google Shape;553;p17"/>
          <p:cNvPicPr preferRelativeResize="0"/>
          <p:nvPr/>
        </p:nvPicPr>
        <p:blipFill rotWithShape="1">
          <a:blip r:embed="rId12">
            <a:alphaModFix/>
          </a:blip>
          <a:srcRect b="0" l="0" r="0" t="0"/>
          <a:stretch/>
        </p:blipFill>
        <p:spPr>
          <a:xfrm>
            <a:off x="8513064" y="4389120"/>
            <a:ext cx="320040" cy="320040"/>
          </a:xfrm>
          <a:prstGeom prst="rect">
            <a:avLst/>
          </a:prstGeom>
          <a:noFill/>
          <a:ln>
            <a:noFill/>
          </a:ln>
        </p:spPr>
      </p:pic>
      <p:sp>
        <p:nvSpPr>
          <p:cNvPr id="554" name="Google Shape;554;p17"/>
          <p:cNvSpPr/>
          <p:nvPr/>
        </p:nvSpPr>
        <p:spPr>
          <a:xfrm>
            <a:off x="9061704" y="42519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Vercel</a:t>
            </a:r>
            <a:endParaRPr sz="1300">
              <a:solidFill>
                <a:schemeClr val="dk1"/>
              </a:solidFill>
              <a:latin typeface="Calibri"/>
              <a:ea typeface="Calibri"/>
              <a:cs typeface="Calibri"/>
              <a:sym typeface="Calibri"/>
            </a:endParaRPr>
          </a:p>
        </p:txBody>
      </p:sp>
      <p:sp>
        <p:nvSpPr>
          <p:cNvPr id="555" name="Google Shape;555;p17"/>
          <p:cNvSpPr/>
          <p:nvPr/>
        </p:nvSpPr>
        <p:spPr>
          <a:xfrm>
            <a:off x="9061704" y="454456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Serverless Python hosting</a:t>
            </a:r>
            <a:endParaRPr sz="1050">
              <a:solidFill>
                <a:schemeClr val="dk1"/>
              </a:solidFill>
              <a:latin typeface="Calibri"/>
              <a:ea typeface="Calibri"/>
              <a:cs typeface="Calibri"/>
              <a:sym typeface="Calibri"/>
            </a:endParaRPr>
          </a:p>
        </p:txBody>
      </p:sp>
      <p:sp>
        <p:nvSpPr>
          <p:cNvPr id="556" name="Google Shape;556;p17"/>
          <p:cNvSpPr/>
          <p:nvPr/>
        </p:nvSpPr>
        <p:spPr>
          <a:xfrm>
            <a:off x="8421624" y="5257800"/>
            <a:ext cx="502920" cy="50292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57" name="Google Shape;557;p17"/>
          <p:cNvPicPr preferRelativeResize="0"/>
          <p:nvPr/>
        </p:nvPicPr>
        <p:blipFill rotWithShape="1">
          <a:blip r:embed="rId13">
            <a:alphaModFix/>
          </a:blip>
          <a:srcRect b="0" l="0" r="0" t="0"/>
          <a:stretch/>
        </p:blipFill>
        <p:spPr>
          <a:xfrm>
            <a:off x="8513064" y="5349240"/>
            <a:ext cx="320040" cy="320040"/>
          </a:xfrm>
          <a:prstGeom prst="rect">
            <a:avLst/>
          </a:prstGeom>
          <a:noFill/>
          <a:ln>
            <a:noFill/>
          </a:ln>
        </p:spPr>
      </p:pic>
      <p:sp>
        <p:nvSpPr>
          <p:cNvPr id="558" name="Google Shape;558;p17"/>
          <p:cNvSpPr/>
          <p:nvPr/>
        </p:nvSpPr>
        <p:spPr>
          <a:xfrm>
            <a:off x="9061704" y="52120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GitHub CI/CD</a:t>
            </a:r>
            <a:endParaRPr sz="1300">
              <a:solidFill>
                <a:schemeClr val="dk1"/>
              </a:solidFill>
              <a:latin typeface="Calibri"/>
              <a:ea typeface="Calibri"/>
              <a:cs typeface="Calibri"/>
              <a:sym typeface="Calibri"/>
            </a:endParaRPr>
          </a:p>
        </p:txBody>
      </p:sp>
      <p:sp>
        <p:nvSpPr>
          <p:cNvPr id="559" name="Google Shape;559;p17"/>
          <p:cNvSpPr/>
          <p:nvPr/>
        </p:nvSpPr>
        <p:spPr>
          <a:xfrm>
            <a:off x="9061704" y="5504688"/>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Auto-deploy on push to master</a:t>
            </a:r>
            <a:endParaRPr sz="1050">
              <a:solidFill>
                <a:schemeClr val="dk1"/>
              </a:solidFill>
              <a:latin typeface="Calibri"/>
              <a:ea typeface="Calibri"/>
              <a:cs typeface="Calibri"/>
              <a:sym typeface="Calibri"/>
            </a:endParaRPr>
          </a:p>
        </p:txBody>
      </p:sp>
      <p:sp>
        <p:nvSpPr>
          <p:cNvPr id="560" name="Google Shape;560;p17"/>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04  Frontend &amp; Workflow</a:t>
            </a:r>
            <a:endParaRPr sz="900">
              <a:solidFill>
                <a:schemeClr val="dk1"/>
              </a:solidFill>
              <a:latin typeface="Calibri"/>
              <a:ea typeface="Calibri"/>
              <a:cs typeface="Calibri"/>
              <a:sym typeface="Calibri"/>
            </a:endParaRPr>
          </a:p>
        </p:txBody>
      </p:sp>
      <p:sp>
        <p:nvSpPr>
          <p:cNvPr id="561" name="Google Shape;561;p17"/>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15</a:t>
            </a:r>
            <a:endParaRPr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pic>
        <p:nvPicPr>
          <p:cNvPr descr="preencoded.png" id="567" name="Google Shape;567;p18"/>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568" name="Google Shape;568;p18"/>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From SQL Row to Rendered HTML</a:t>
            </a:r>
            <a:endParaRPr sz="2800">
              <a:solidFill>
                <a:schemeClr val="dk1"/>
              </a:solidFill>
              <a:latin typeface="Calibri"/>
              <a:ea typeface="Calibri"/>
              <a:cs typeface="Calibri"/>
              <a:sym typeface="Calibri"/>
            </a:endParaRPr>
          </a:p>
        </p:txBody>
      </p:sp>
      <p:sp>
        <p:nvSpPr>
          <p:cNvPr id="569" name="Google Shape;569;p18"/>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How Flask, sqlite3, and Jinja2 connect the database to the user</a:t>
            </a:r>
            <a:endParaRPr sz="1300">
              <a:solidFill>
                <a:schemeClr val="dk1"/>
              </a:solidFill>
              <a:latin typeface="Calibri"/>
              <a:ea typeface="Calibri"/>
              <a:cs typeface="Calibri"/>
              <a:sym typeface="Calibri"/>
            </a:endParaRPr>
          </a:p>
        </p:txBody>
      </p:sp>
      <p:sp>
        <p:nvSpPr>
          <p:cNvPr id="570" name="Google Shape;570;p18"/>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18"/>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Nisarg</a:t>
            </a:r>
            <a:endParaRPr sz="1100">
              <a:solidFill>
                <a:schemeClr val="dk1"/>
              </a:solidFill>
              <a:latin typeface="Calibri"/>
              <a:ea typeface="Calibri"/>
              <a:cs typeface="Calibri"/>
              <a:sym typeface="Calibri"/>
            </a:endParaRPr>
          </a:p>
        </p:txBody>
      </p:sp>
      <p:sp>
        <p:nvSpPr>
          <p:cNvPr id="572" name="Google Shape;572;p18"/>
          <p:cNvSpPr/>
          <p:nvPr/>
        </p:nvSpPr>
        <p:spPr>
          <a:xfrm>
            <a:off x="320040" y="1371600"/>
            <a:ext cx="2194560" cy="868680"/>
          </a:xfrm>
          <a:prstGeom prst="rect">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18"/>
          <p:cNvSpPr/>
          <p:nvPr/>
        </p:nvSpPr>
        <p:spPr>
          <a:xfrm>
            <a:off x="320040" y="148132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Browser</a:t>
            </a:r>
            <a:endParaRPr sz="1400">
              <a:solidFill>
                <a:schemeClr val="dk1"/>
              </a:solidFill>
              <a:latin typeface="Calibri"/>
              <a:ea typeface="Calibri"/>
              <a:cs typeface="Calibri"/>
              <a:sym typeface="Calibri"/>
            </a:endParaRPr>
          </a:p>
        </p:txBody>
      </p:sp>
      <p:sp>
        <p:nvSpPr>
          <p:cNvPr id="574" name="Google Shape;574;p18"/>
          <p:cNvSpPr/>
          <p:nvPr/>
        </p:nvSpPr>
        <p:spPr>
          <a:xfrm>
            <a:off x="320040" y="184708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onsolas"/>
              <a:buNone/>
            </a:pPr>
            <a:r>
              <a:rPr i="1" lang="en-US" sz="1000">
                <a:solidFill>
                  <a:srgbClr val="1E2761"/>
                </a:solidFill>
                <a:latin typeface="Consolas"/>
                <a:ea typeface="Consolas"/>
                <a:cs typeface="Consolas"/>
                <a:sym typeface="Consolas"/>
              </a:rPr>
              <a:t>User clicks /dashboard</a:t>
            </a:r>
            <a:endParaRPr sz="1000">
              <a:solidFill>
                <a:schemeClr val="dk1"/>
              </a:solidFill>
              <a:latin typeface="Calibri"/>
              <a:ea typeface="Calibri"/>
              <a:cs typeface="Calibri"/>
              <a:sym typeface="Calibri"/>
            </a:endParaRPr>
          </a:p>
        </p:txBody>
      </p:sp>
      <p:pic>
        <p:nvPicPr>
          <p:cNvPr descr="preencoded.png" id="575" name="Google Shape;575;p18"/>
          <p:cNvPicPr preferRelativeResize="0"/>
          <p:nvPr/>
        </p:nvPicPr>
        <p:blipFill rotWithShape="1">
          <a:blip r:embed="rId4">
            <a:alphaModFix/>
          </a:blip>
          <a:srcRect b="0" l="0" r="0" t="0"/>
          <a:stretch/>
        </p:blipFill>
        <p:spPr>
          <a:xfrm>
            <a:off x="2519172" y="1737360"/>
            <a:ext cx="128016" cy="128016"/>
          </a:xfrm>
          <a:prstGeom prst="rect">
            <a:avLst/>
          </a:prstGeom>
          <a:noFill/>
          <a:ln>
            <a:noFill/>
          </a:ln>
        </p:spPr>
      </p:pic>
      <p:sp>
        <p:nvSpPr>
          <p:cNvPr id="576" name="Google Shape;576;p18"/>
          <p:cNvSpPr/>
          <p:nvPr/>
        </p:nvSpPr>
        <p:spPr>
          <a:xfrm>
            <a:off x="2651760" y="1371600"/>
            <a:ext cx="2194560" cy="868680"/>
          </a:xfrm>
          <a:prstGeom prst="rect">
            <a:avLst/>
          </a:prstGeom>
          <a:solidFill>
            <a:srgbClr val="CADC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18"/>
          <p:cNvSpPr/>
          <p:nvPr/>
        </p:nvSpPr>
        <p:spPr>
          <a:xfrm>
            <a:off x="2651760" y="148132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Flask Route</a:t>
            </a:r>
            <a:endParaRPr sz="1400">
              <a:solidFill>
                <a:schemeClr val="dk1"/>
              </a:solidFill>
              <a:latin typeface="Calibri"/>
              <a:ea typeface="Calibri"/>
              <a:cs typeface="Calibri"/>
              <a:sym typeface="Calibri"/>
            </a:endParaRPr>
          </a:p>
        </p:txBody>
      </p:sp>
      <p:sp>
        <p:nvSpPr>
          <p:cNvPr id="578" name="Google Shape;578;p18"/>
          <p:cNvSpPr/>
          <p:nvPr/>
        </p:nvSpPr>
        <p:spPr>
          <a:xfrm>
            <a:off x="2651760" y="184708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onsolas"/>
              <a:buNone/>
            </a:pPr>
            <a:r>
              <a:rPr i="1" lang="en-US" sz="1000">
                <a:solidFill>
                  <a:srgbClr val="1E2761"/>
                </a:solidFill>
                <a:latin typeface="Consolas"/>
                <a:ea typeface="Consolas"/>
                <a:cs typeface="Consolas"/>
                <a:sym typeface="Consolas"/>
              </a:rPr>
              <a:t>@login_required</a:t>
            </a:r>
            <a:endParaRPr sz="1000">
              <a:solidFill>
                <a:schemeClr val="dk1"/>
              </a:solidFill>
              <a:latin typeface="Calibri"/>
              <a:ea typeface="Calibri"/>
              <a:cs typeface="Calibri"/>
              <a:sym typeface="Calibri"/>
            </a:endParaRPr>
          </a:p>
        </p:txBody>
      </p:sp>
      <p:pic>
        <p:nvPicPr>
          <p:cNvPr descr="preencoded.png" id="579" name="Google Shape;579;p18"/>
          <p:cNvPicPr preferRelativeResize="0"/>
          <p:nvPr/>
        </p:nvPicPr>
        <p:blipFill rotWithShape="1">
          <a:blip r:embed="rId4">
            <a:alphaModFix/>
          </a:blip>
          <a:srcRect b="0" l="0" r="0" t="0"/>
          <a:stretch/>
        </p:blipFill>
        <p:spPr>
          <a:xfrm>
            <a:off x="4850892" y="1737360"/>
            <a:ext cx="128016" cy="128016"/>
          </a:xfrm>
          <a:prstGeom prst="rect">
            <a:avLst/>
          </a:prstGeom>
          <a:noFill/>
          <a:ln>
            <a:noFill/>
          </a:ln>
        </p:spPr>
      </p:pic>
      <p:sp>
        <p:nvSpPr>
          <p:cNvPr id="580" name="Google Shape;580;p18"/>
          <p:cNvSpPr/>
          <p:nvPr/>
        </p:nvSpPr>
        <p:spPr>
          <a:xfrm>
            <a:off x="4983480" y="1371600"/>
            <a:ext cx="2194560" cy="868680"/>
          </a:xfrm>
          <a:prstGeom prst="rect">
            <a:avLst/>
          </a:prstGeom>
          <a:solidFill>
            <a:srgbClr val="2A3C7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18"/>
          <p:cNvSpPr/>
          <p:nvPr/>
        </p:nvSpPr>
        <p:spPr>
          <a:xfrm>
            <a:off x="4983480" y="148132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sqlite3</a:t>
            </a:r>
            <a:endParaRPr sz="1400">
              <a:solidFill>
                <a:schemeClr val="dk1"/>
              </a:solidFill>
              <a:latin typeface="Calibri"/>
              <a:ea typeface="Calibri"/>
              <a:cs typeface="Calibri"/>
              <a:sym typeface="Calibri"/>
            </a:endParaRPr>
          </a:p>
        </p:txBody>
      </p:sp>
      <p:sp>
        <p:nvSpPr>
          <p:cNvPr id="582" name="Google Shape;582;p18"/>
          <p:cNvSpPr/>
          <p:nvPr/>
        </p:nvSpPr>
        <p:spPr>
          <a:xfrm>
            <a:off x="4983480" y="184708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onsolas"/>
              <a:buNone/>
            </a:pPr>
            <a:r>
              <a:rPr i="1" lang="en-US" sz="1000">
                <a:solidFill>
                  <a:srgbClr val="FFFFFF"/>
                </a:solidFill>
                <a:latin typeface="Consolas"/>
                <a:ea typeface="Consolas"/>
                <a:cs typeface="Consolas"/>
                <a:sym typeface="Consolas"/>
              </a:rPr>
              <a:t>execute() → Row factory</a:t>
            </a:r>
            <a:endParaRPr sz="1000">
              <a:solidFill>
                <a:schemeClr val="dk1"/>
              </a:solidFill>
              <a:latin typeface="Calibri"/>
              <a:ea typeface="Calibri"/>
              <a:cs typeface="Calibri"/>
              <a:sym typeface="Calibri"/>
            </a:endParaRPr>
          </a:p>
        </p:txBody>
      </p:sp>
      <p:pic>
        <p:nvPicPr>
          <p:cNvPr descr="preencoded.png" id="583" name="Google Shape;583;p18"/>
          <p:cNvPicPr preferRelativeResize="0"/>
          <p:nvPr/>
        </p:nvPicPr>
        <p:blipFill rotWithShape="1">
          <a:blip r:embed="rId4">
            <a:alphaModFix/>
          </a:blip>
          <a:srcRect b="0" l="0" r="0" t="0"/>
          <a:stretch/>
        </p:blipFill>
        <p:spPr>
          <a:xfrm>
            <a:off x="7182612" y="1737360"/>
            <a:ext cx="128016" cy="128016"/>
          </a:xfrm>
          <a:prstGeom prst="rect">
            <a:avLst/>
          </a:prstGeom>
          <a:noFill/>
          <a:ln>
            <a:noFill/>
          </a:ln>
        </p:spPr>
      </p:pic>
      <p:sp>
        <p:nvSpPr>
          <p:cNvPr id="584" name="Google Shape;584;p18"/>
          <p:cNvSpPr/>
          <p:nvPr/>
        </p:nvSpPr>
        <p:spPr>
          <a:xfrm>
            <a:off x="7315200" y="1371600"/>
            <a:ext cx="2194560" cy="86868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18"/>
          <p:cNvSpPr/>
          <p:nvPr/>
        </p:nvSpPr>
        <p:spPr>
          <a:xfrm>
            <a:off x="7315200" y="148132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Jinja Template</a:t>
            </a:r>
            <a:endParaRPr sz="1400">
              <a:solidFill>
                <a:schemeClr val="dk1"/>
              </a:solidFill>
              <a:latin typeface="Calibri"/>
              <a:ea typeface="Calibri"/>
              <a:cs typeface="Calibri"/>
              <a:sym typeface="Calibri"/>
            </a:endParaRPr>
          </a:p>
        </p:txBody>
      </p:sp>
      <p:sp>
        <p:nvSpPr>
          <p:cNvPr id="586" name="Google Shape;586;p18"/>
          <p:cNvSpPr/>
          <p:nvPr/>
        </p:nvSpPr>
        <p:spPr>
          <a:xfrm>
            <a:off x="7315200" y="184708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onsolas"/>
              <a:buNone/>
            </a:pPr>
            <a:r>
              <a:rPr i="1" lang="en-US" sz="1000">
                <a:solidFill>
                  <a:srgbClr val="FFFFFF"/>
                </a:solidFill>
                <a:latin typeface="Consolas"/>
                <a:ea typeface="Consolas"/>
                <a:cs typeface="Consolas"/>
                <a:sym typeface="Consolas"/>
              </a:rPr>
              <a:t>render_template(...)</a:t>
            </a:r>
            <a:endParaRPr sz="1000">
              <a:solidFill>
                <a:schemeClr val="dk1"/>
              </a:solidFill>
              <a:latin typeface="Calibri"/>
              <a:ea typeface="Calibri"/>
              <a:cs typeface="Calibri"/>
              <a:sym typeface="Calibri"/>
            </a:endParaRPr>
          </a:p>
        </p:txBody>
      </p:sp>
      <p:pic>
        <p:nvPicPr>
          <p:cNvPr descr="preencoded.png" id="587" name="Google Shape;587;p18"/>
          <p:cNvPicPr preferRelativeResize="0"/>
          <p:nvPr/>
        </p:nvPicPr>
        <p:blipFill rotWithShape="1">
          <a:blip r:embed="rId4">
            <a:alphaModFix/>
          </a:blip>
          <a:srcRect b="0" l="0" r="0" t="0"/>
          <a:stretch/>
        </p:blipFill>
        <p:spPr>
          <a:xfrm>
            <a:off x="9514332" y="1737360"/>
            <a:ext cx="128016" cy="128016"/>
          </a:xfrm>
          <a:prstGeom prst="rect">
            <a:avLst/>
          </a:prstGeom>
          <a:noFill/>
          <a:ln>
            <a:noFill/>
          </a:ln>
        </p:spPr>
      </p:pic>
      <p:sp>
        <p:nvSpPr>
          <p:cNvPr id="588" name="Google Shape;588;p18"/>
          <p:cNvSpPr/>
          <p:nvPr/>
        </p:nvSpPr>
        <p:spPr>
          <a:xfrm>
            <a:off x="9646920" y="1371600"/>
            <a:ext cx="2194560" cy="868680"/>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18"/>
          <p:cNvSpPr/>
          <p:nvPr/>
        </p:nvSpPr>
        <p:spPr>
          <a:xfrm>
            <a:off x="9646920" y="148132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838"/>
              </a:buClr>
              <a:buSzPts val="1400"/>
              <a:buFont typeface="Calibri"/>
              <a:buNone/>
            </a:pPr>
            <a:r>
              <a:rPr b="1" lang="en-US" sz="1400">
                <a:solidFill>
                  <a:srgbClr val="0F1838"/>
                </a:solidFill>
                <a:latin typeface="Calibri"/>
                <a:ea typeface="Calibri"/>
                <a:cs typeface="Calibri"/>
                <a:sym typeface="Calibri"/>
              </a:rPr>
              <a:t>HTML Response</a:t>
            </a:r>
            <a:endParaRPr sz="1400">
              <a:solidFill>
                <a:schemeClr val="dk1"/>
              </a:solidFill>
              <a:latin typeface="Calibri"/>
              <a:ea typeface="Calibri"/>
              <a:cs typeface="Calibri"/>
              <a:sym typeface="Calibri"/>
            </a:endParaRPr>
          </a:p>
        </p:txBody>
      </p:sp>
      <p:sp>
        <p:nvSpPr>
          <p:cNvPr id="590" name="Google Shape;590;p18"/>
          <p:cNvSpPr/>
          <p:nvPr/>
        </p:nvSpPr>
        <p:spPr>
          <a:xfrm>
            <a:off x="9646920" y="1847088"/>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838"/>
              </a:buClr>
              <a:buSzPts val="1000"/>
              <a:buFont typeface="Consolas"/>
              <a:buNone/>
            </a:pPr>
            <a:r>
              <a:rPr i="1" lang="en-US" sz="1000">
                <a:solidFill>
                  <a:srgbClr val="0F1838"/>
                </a:solidFill>
                <a:latin typeface="Consolas"/>
                <a:ea typeface="Consolas"/>
                <a:cs typeface="Consolas"/>
                <a:sym typeface="Consolas"/>
              </a:rPr>
              <a:t>Rendered dashboard</a:t>
            </a:r>
            <a:endParaRPr sz="1000">
              <a:solidFill>
                <a:schemeClr val="dk1"/>
              </a:solidFill>
              <a:latin typeface="Calibri"/>
              <a:ea typeface="Calibri"/>
              <a:cs typeface="Calibri"/>
              <a:sym typeface="Calibri"/>
            </a:endParaRPr>
          </a:p>
        </p:txBody>
      </p:sp>
      <p:sp>
        <p:nvSpPr>
          <p:cNvPr id="591" name="Google Shape;591;p18"/>
          <p:cNvSpPr/>
          <p:nvPr/>
        </p:nvSpPr>
        <p:spPr>
          <a:xfrm>
            <a:off x="457200" y="2468880"/>
            <a:ext cx="11247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Flask Route — Dashboard Endpoint</a:t>
            </a:r>
            <a:endParaRPr sz="1300">
              <a:solidFill>
                <a:schemeClr val="dk1"/>
              </a:solidFill>
              <a:latin typeface="Calibri"/>
              <a:ea typeface="Calibri"/>
              <a:cs typeface="Calibri"/>
              <a:sym typeface="Calibri"/>
            </a:endParaRPr>
          </a:p>
        </p:txBody>
      </p:sp>
      <p:sp>
        <p:nvSpPr>
          <p:cNvPr id="592" name="Google Shape;592;p18"/>
          <p:cNvSpPr/>
          <p:nvPr/>
        </p:nvSpPr>
        <p:spPr>
          <a:xfrm>
            <a:off x="457200" y="2834640"/>
            <a:ext cx="11247120" cy="3337560"/>
          </a:xfrm>
          <a:prstGeom prst="rect">
            <a:avLst/>
          </a:prstGeom>
          <a:solidFill>
            <a:srgbClr val="0F18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18"/>
          <p:cNvSpPr/>
          <p:nvPr/>
        </p:nvSpPr>
        <p:spPr>
          <a:xfrm>
            <a:off x="457200" y="2834640"/>
            <a:ext cx="91440" cy="3337560"/>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18"/>
          <p:cNvSpPr/>
          <p:nvPr/>
        </p:nvSpPr>
        <p:spPr>
          <a:xfrm>
            <a:off x="777240" y="2971800"/>
            <a:ext cx="1083564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72B6"/>
              </a:buClr>
              <a:buSzPts val="1200"/>
              <a:buFont typeface="Consolas"/>
              <a:buNone/>
            </a:pPr>
            <a:r>
              <a:rPr lang="en-US" sz="1200">
                <a:solidFill>
                  <a:srgbClr val="F472B6"/>
                </a:solidFill>
                <a:latin typeface="Consolas"/>
                <a:ea typeface="Consolas"/>
                <a:cs typeface="Consolas"/>
                <a:sym typeface="Consolas"/>
              </a:rPr>
              <a:t>@app.route(</a:t>
            </a:r>
            <a:r>
              <a:rPr lang="en-US" sz="1200">
                <a:solidFill>
                  <a:srgbClr val="FBBF24"/>
                </a:solidFill>
                <a:latin typeface="Consolas"/>
                <a:ea typeface="Consolas"/>
                <a:cs typeface="Consolas"/>
                <a:sym typeface="Consolas"/>
              </a:rPr>
              <a:t>'/dashboard'</a:t>
            </a:r>
            <a:r>
              <a:rPr lang="en-US" sz="1200">
                <a:solidFill>
                  <a:srgbClr val="FFFFFF"/>
                </a:solidFill>
                <a:latin typeface="Consolas"/>
                <a:ea typeface="Consolas"/>
                <a:cs typeface="Consolas"/>
                <a:sym typeface="Consolas"/>
              </a:rPr>
              <a:t>)</a:t>
            </a:r>
            <a:br>
              <a:rPr lang="en-US" sz="1200">
                <a:solidFill>
                  <a:srgbClr val="FFFFFF"/>
                </a:solidFill>
                <a:latin typeface="Consolas"/>
                <a:ea typeface="Consolas"/>
                <a:cs typeface="Consolas"/>
                <a:sym typeface="Consolas"/>
              </a:rPr>
            </a:br>
            <a:r>
              <a:rPr lang="en-US" sz="1200">
                <a:solidFill>
                  <a:srgbClr val="F472B6"/>
                </a:solidFill>
                <a:latin typeface="Consolas"/>
                <a:ea typeface="Consolas"/>
                <a:cs typeface="Consolas"/>
                <a:sym typeface="Consolas"/>
              </a:rPr>
              <a:t>@login_required</a:t>
            </a:r>
            <a:br>
              <a:rPr lang="en-US" sz="1200">
                <a:solidFill>
                  <a:srgbClr val="F472B6"/>
                </a:solidFill>
                <a:latin typeface="Consolas"/>
                <a:ea typeface="Consolas"/>
                <a:cs typeface="Consolas"/>
                <a:sym typeface="Consolas"/>
              </a:rPr>
            </a:br>
            <a:r>
              <a:rPr lang="en-US" sz="1200">
                <a:solidFill>
                  <a:srgbClr val="F472B6"/>
                </a:solidFill>
                <a:latin typeface="Consolas"/>
                <a:ea typeface="Consolas"/>
                <a:cs typeface="Consolas"/>
                <a:sym typeface="Consolas"/>
              </a:rPr>
              <a:t>def</a:t>
            </a:r>
            <a:r>
              <a:rPr lang="en-US" sz="1200">
                <a:solidFill>
                  <a:srgbClr val="FFFFFF"/>
                </a:solidFill>
                <a:latin typeface="Consolas"/>
                <a:ea typeface="Consolas"/>
                <a:cs typeface="Consolas"/>
                <a:sym typeface="Consolas"/>
              </a:rPr>
              <a:t> dashboard():</a:t>
            </a:r>
            <a:br>
              <a:rPr lang="en-US" sz="1200">
                <a:solidFill>
                  <a:srgbClr val="FFFFFF"/>
                </a:solidFill>
                <a:latin typeface="Consolas"/>
                <a:ea typeface="Consolas"/>
                <a:cs typeface="Consolas"/>
                <a:sym typeface="Consolas"/>
              </a:rPr>
            </a:br>
            <a:r>
              <a:rPr lang="en-US" sz="1200">
                <a:solidFill>
                  <a:srgbClr val="FFFFFF"/>
                </a:solidFill>
                <a:latin typeface="Consolas"/>
                <a:ea typeface="Consolas"/>
                <a:cs typeface="Consolas"/>
                <a:sym typeface="Consolas"/>
              </a:rPr>
              <a:t>    conn = get_db_connection()</a:t>
            </a:r>
            <a:br>
              <a:rPr lang="en-US" sz="1200">
                <a:solidFill>
                  <a:srgbClr val="FFFFFF"/>
                </a:solidFill>
                <a:latin typeface="Consolas"/>
                <a:ea typeface="Consolas"/>
                <a:cs typeface="Consolas"/>
                <a:sym typeface="Consolas"/>
              </a:rPr>
            </a:br>
            <a:r>
              <a:rPr lang="en-US" sz="1200">
                <a:solidFill>
                  <a:srgbClr val="FFFFFF"/>
                </a:solidFill>
                <a:latin typeface="Consolas"/>
                <a:ea typeface="Consolas"/>
                <a:cs typeface="Consolas"/>
                <a:sym typeface="Consolas"/>
              </a:rPr>
              <a:t>    data = {}</a:t>
            </a:r>
            <a:br>
              <a:rPr lang="en-US" sz="1200">
                <a:solidFill>
                  <a:srgbClr val="FFFFFF"/>
                </a:solidFill>
                <a:latin typeface="Consolas"/>
                <a:ea typeface="Consolas"/>
                <a:cs typeface="Consolas"/>
                <a:sym typeface="Consolas"/>
              </a:rPr>
            </a:br>
            <a:br>
              <a:rPr lang="en-US" sz="1200">
                <a:solidFill>
                  <a:srgbClr val="FFFFFF"/>
                </a:solidFill>
                <a:latin typeface="Consolas"/>
                <a:ea typeface="Consolas"/>
                <a:cs typeface="Consolas"/>
                <a:sym typeface="Consolas"/>
              </a:rPr>
            </a:br>
            <a:r>
              <a:rPr lang="en-US" sz="1200">
                <a:solidFill>
                  <a:srgbClr val="F472B6"/>
                </a:solidFill>
                <a:latin typeface="Consolas"/>
                <a:ea typeface="Consolas"/>
                <a:cs typeface="Consolas"/>
                <a:sym typeface="Consolas"/>
              </a:rPr>
              <a:t>    if</a:t>
            </a:r>
            <a:r>
              <a:rPr lang="en-US" sz="1200">
                <a:solidFill>
                  <a:srgbClr val="FFFFFF"/>
                </a:solidFill>
                <a:latin typeface="Consolas"/>
                <a:ea typeface="Consolas"/>
                <a:cs typeface="Consolas"/>
                <a:sym typeface="Consolas"/>
              </a:rPr>
              <a:t> current_user.role_name == </a:t>
            </a:r>
            <a:r>
              <a:rPr lang="en-US" sz="1200">
                <a:solidFill>
                  <a:srgbClr val="FBBF24"/>
                </a:solidFill>
                <a:latin typeface="Consolas"/>
                <a:ea typeface="Consolas"/>
                <a:cs typeface="Consolas"/>
                <a:sym typeface="Consolas"/>
              </a:rPr>
              <a:t>'Employee'</a:t>
            </a:r>
            <a:r>
              <a:rPr lang="en-US" sz="1200">
                <a:solidFill>
                  <a:srgbClr val="FFFFFF"/>
                </a:solidFill>
                <a:latin typeface="Consolas"/>
                <a:ea typeface="Consolas"/>
                <a:cs typeface="Consolas"/>
                <a:sym typeface="Consolas"/>
              </a:rPr>
              <a:t>:</a:t>
            </a:r>
            <a:br>
              <a:rPr lang="en-US" sz="1200">
                <a:solidFill>
                  <a:srgbClr val="FFFFFF"/>
                </a:solidFill>
                <a:latin typeface="Consolas"/>
                <a:ea typeface="Consolas"/>
                <a:cs typeface="Consolas"/>
                <a:sym typeface="Consolas"/>
              </a:rPr>
            </a:br>
            <a:r>
              <a:rPr lang="en-US" sz="1200">
                <a:solidFill>
                  <a:srgbClr val="FFFFFF"/>
                </a:solidFill>
                <a:latin typeface="Consolas"/>
                <a:ea typeface="Consolas"/>
                <a:cs typeface="Consolas"/>
                <a:sym typeface="Consolas"/>
              </a:rPr>
              <a:t>        data[</a:t>
            </a:r>
            <a:r>
              <a:rPr lang="en-US" sz="1200">
                <a:solidFill>
                  <a:srgbClr val="FBBF24"/>
                </a:solidFill>
                <a:latin typeface="Consolas"/>
                <a:ea typeface="Consolas"/>
                <a:cs typeface="Consolas"/>
                <a:sym typeface="Consolas"/>
              </a:rPr>
              <a:t>'requests'</a:t>
            </a:r>
            <a:r>
              <a:rPr lang="en-US" sz="1200">
                <a:solidFill>
                  <a:srgbClr val="FFFFFF"/>
                </a:solidFill>
                <a:latin typeface="Consolas"/>
                <a:ea typeface="Consolas"/>
                <a:cs typeface="Consolas"/>
                <a:sym typeface="Consolas"/>
              </a:rPr>
              <a:t>] = conn.execute(</a:t>
            </a:r>
            <a:br>
              <a:rPr lang="en-US" sz="1200">
                <a:solidFill>
                  <a:srgbClr val="FFFFFF"/>
                </a:solidFill>
                <a:latin typeface="Consolas"/>
                <a:ea typeface="Consolas"/>
                <a:cs typeface="Consolas"/>
                <a:sym typeface="Consolas"/>
              </a:rPr>
            </a:br>
            <a:r>
              <a:rPr lang="en-US" sz="1200">
                <a:solidFill>
                  <a:srgbClr val="FFFFFF"/>
                </a:solidFill>
                <a:latin typeface="Consolas"/>
                <a:ea typeface="Consolas"/>
                <a:cs typeface="Consolas"/>
                <a:sym typeface="Consolas"/>
              </a:rPr>
              <a:t>            </a:t>
            </a:r>
            <a:r>
              <a:rPr lang="en-US" sz="1200">
                <a:solidFill>
                  <a:srgbClr val="FBBF24"/>
                </a:solidFill>
                <a:latin typeface="Consolas"/>
                <a:ea typeface="Consolas"/>
                <a:cs typeface="Consolas"/>
                <a:sym typeface="Consolas"/>
              </a:rPr>
              <a:t>'SELECT * FROM Purchase_Requests WHERE employee_id = ?'</a:t>
            </a:r>
            <a:r>
              <a:rPr lang="en-US" sz="1200">
                <a:solidFill>
                  <a:srgbClr val="FFFFFF"/>
                </a:solidFill>
                <a:latin typeface="Consolas"/>
                <a:ea typeface="Consolas"/>
                <a:cs typeface="Consolas"/>
                <a:sym typeface="Consolas"/>
              </a:rPr>
              <a:t>,</a:t>
            </a:r>
            <a:br>
              <a:rPr lang="en-US" sz="1200">
                <a:solidFill>
                  <a:srgbClr val="FFFFFF"/>
                </a:solidFill>
                <a:latin typeface="Consolas"/>
                <a:ea typeface="Consolas"/>
                <a:cs typeface="Consolas"/>
                <a:sym typeface="Consolas"/>
              </a:rPr>
            </a:br>
            <a:r>
              <a:rPr lang="en-US" sz="1200">
                <a:solidFill>
                  <a:srgbClr val="FFFFFF"/>
                </a:solidFill>
                <a:latin typeface="Consolas"/>
                <a:ea typeface="Consolas"/>
                <a:cs typeface="Consolas"/>
                <a:sym typeface="Consolas"/>
              </a:rPr>
              <a:t>            (current_user.id,)</a:t>
            </a:r>
            <a:br>
              <a:rPr lang="en-US" sz="1200">
                <a:solidFill>
                  <a:srgbClr val="FFFFFF"/>
                </a:solidFill>
                <a:latin typeface="Consolas"/>
                <a:ea typeface="Consolas"/>
                <a:cs typeface="Consolas"/>
                <a:sym typeface="Consolas"/>
              </a:rPr>
            </a:br>
            <a:r>
              <a:rPr lang="en-US" sz="1200">
                <a:solidFill>
                  <a:srgbClr val="FFFFFF"/>
                </a:solidFill>
                <a:latin typeface="Consolas"/>
                <a:ea typeface="Consolas"/>
                <a:cs typeface="Consolas"/>
                <a:sym typeface="Consolas"/>
              </a:rPr>
              <a:t>        ).fetchall()</a:t>
            </a:r>
            <a:br>
              <a:rPr lang="en-US" sz="1200">
                <a:solidFill>
                  <a:srgbClr val="FFFFFF"/>
                </a:solidFill>
                <a:latin typeface="Consolas"/>
                <a:ea typeface="Consolas"/>
                <a:cs typeface="Consolas"/>
                <a:sym typeface="Consolas"/>
              </a:rPr>
            </a:br>
            <a:br>
              <a:rPr lang="en-US" sz="1200">
                <a:solidFill>
                  <a:srgbClr val="FFFFFF"/>
                </a:solidFill>
                <a:latin typeface="Consolas"/>
                <a:ea typeface="Consolas"/>
                <a:cs typeface="Consolas"/>
                <a:sym typeface="Consolas"/>
              </a:rPr>
            </a:br>
            <a:r>
              <a:rPr lang="en-US" sz="1200">
                <a:solidFill>
                  <a:srgbClr val="FFFFFF"/>
                </a:solidFill>
                <a:latin typeface="Consolas"/>
                <a:ea typeface="Consolas"/>
                <a:cs typeface="Consolas"/>
                <a:sym typeface="Consolas"/>
              </a:rPr>
              <a:t>        data[</a:t>
            </a:r>
            <a:r>
              <a:rPr lang="en-US" sz="1200">
                <a:solidFill>
                  <a:srgbClr val="FBBF24"/>
                </a:solidFill>
                <a:latin typeface="Consolas"/>
                <a:ea typeface="Consolas"/>
                <a:cs typeface="Consolas"/>
                <a:sym typeface="Consolas"/>
              </a:rPr>
              <a:t>'kpi_pending'</a:t>
            </a:r>
            <a:r>
              <a:rPr lang="en-US" sz="1200">
                <a:solidFill>
                  <a:srgbClr val="FFFFFF"/>
                </a:solidFill>
                <a:latin typeface="Consolas"/>
                <a:ea typeface="Consolas"/>
                <a:cs typeface="Consolas"/>
                <a:sym typeface="Consolas"/>
              </a:rPr>
              <a:t>] = </a:t>
            </a:r>
            <a:r>
              <a:rPr lang="en-US" sz="1200">
                <a:solidFill>
                  <a:srgbClr val="60A5FA"/>
                </a:solidFill>
                <a:latin typeface="Consolas"/>
                <a:ea typeface="Consolas"/>
                <a:cs typeface="Consolas"/>
                <a:sym typeface="Consolas"/>
              </a:rPr>
              <a:t>len</a:t>
            </a:r>
            <a:r>
              <a:rPr lang="en-US" sz="1200">
                <a:solidFill>
                  <a:srgbClr val="FFFFFF"/>
                </a:solidFill>
                <a:latin typeface="Consolas"/>
                <a:ea typeface="Consolas"/>
                <a:cs typeface="Consolas"/>
                <a:sym typeface="Consolas"/>
              </a:rPr>
              <a:t>([r </a:t>
            </a:r>
            <a:r>
              <a:rPr lang="en-US" sz="1200">
                <a:solidFill>
                  <a:srgbClr val="F472B6"/>
                </a:solidFill>
                <a:latin typeface="Consolas"/>
                <a:ea typeface="Consolas"/>
                <a:cs typeface="Consolas"/>
                <a:sym typeface="Consolas"/>
              </a:rPr>
              <a:t>for</a:t>
            </a:r>
            <a:r>
              <a:rPr lang="en-US" sz="1200">
                <a:solidFill>
                  <a:srgbClr val="FFFFFF"/>
                </a:solidFill>
                <a:latin typeface="Consolas"/>
                <a:ea typeface="Consolas"/>
                <a:cs typeface="Consolas"/>
                <a:sym typeface="Consolas"/>
              </a:rPr>
              <a:t> r </a:t>
            </a:r>
            <a:r>
              <a:rPr lang="en-US" sz="1200">
                <a:solidFill>
                  <a:srgbClr val="F472B6"/>
                </a:solidFill>
                <a:latin typeface="Consolas"/>
                <a:ea typeface="Consolas"/>
                <a:cs typeface="Consolas"/>
                <a:sym typeface="Consolas"/>
              </a:rPr>
              <a:t>in</a:t>
            </a:r>
            <a:r>
              <a:rPr lang="en-US" sz="1200">
                <a:solidFill>
                  <a:srgbClr val="FFFFFF"/>
                </a:solidFill>
                <a:latin typeface="Consolas"/>
                <a:ea typeface="Consolas"/>
                <a:cs typeface="Consolas"/>
                <a:sym typeface="Consolas"/>
              </a:rPr>
              <a:t> data[</a:t>
            </a:r>
            <a:r>
              <a:rPr lang="en-US" sz="1200">
                <a:solidFill>
                  <a:srgbClr val="FBBF24"/>
                </a:solidFill>
                <a:latin typeface="Consolas"/>
                <a:ea typeface="Consolas"/>
                <a:cs typeface="Consolas"/>
                <a:sym typeface="Consolas"/>
              </a:rPr>
              <a:t>'requests'</a:t>
            </a:r>
            <a:r>
              <a:rPr lang="en-US" sz="1200">
                <a:solidFill>
                  <a:srgbClr val="FFFFFF"/>
                </a:solidFill>
                <a:latin typeface="Consolas"/>
                <a:ea typeface="Consolas"/>
                <a:cs typeface="Consolas"/>
                <a:sym typeface="Consolas"/>
              </a:rPr>
              <a:t>] </a:t>
            </a:r>
            <a:r>
              <a:rPr lang="en-US" sz="1200">
                <a:solidFill>
                  <a:srgbClr val="F472B6"/>
                </a:solidFill>
                <a:latin typeface="Consolas"/>
                <a:ea typeface="Consolas"/>
                <a:cs typeface="Consolas"/>
                <a:sym typeface="Consolas"/>
              </a:rPr>
              <a:t>if</a:t>
            </a:r>
            <a:r>
              <a:rPr lang="en-US" sz="1200">
                <a:solidFill>
                  <a:srgbClr val="FFFFFF"/>
                </a:solidFill>
                <a:latin typeface="Consolas"/>
                <a:ea typeface="Consolas"/>
                <a:cs typeface="Consolas"/>
                <a:sym typeface="Consolas"/>
              </a:rPr>
              <a:t> r[</a:t>
            </a:r>
            <a:r>
              <a:rPr lang="en-US" sz="1200">
                <a:solidFill>
                  <a:srgbClr val="FBBF24"/>
                </a:solidFill>
                <a:latin typeface="Consolas"/>
                <a:ea typeface="Consolas"/>
                <a:cs typeface="Consolas"/>
                <a:sym typeface="Consolas"/>
              </a:rPr>
              <a:t>'status'</a:t>
            </a:r>
            <a:r>
              <a:rPr lang="en-US" sz="1200">
                <a:solidFill>
                  <a:srgbClr val="FFFFFF"/>
                </a:solidFill>
                <a:latin typeface="Consolas"/>
                <a:ea typeface="Consolas"/>
                <a:cs typeface="Consolas"/>
                <a:sym typeface="Consolas"/>
              </a:rPr>
              <a:t>] == </a:t>
            </a:r>
            <a:r>
              <a:rPr lang="en-US" sz="1200">
                <a:solidFill>
                  <a:srgbClr val="FBBF24"/>
                </a:solidFill>
                <a:latin typeface="Consolas"/>
                <a:ea typeface="Consolas"/>
                <a:cs typeface="Consolas"/>
                <a:sym typeface="Consolas"/>
              </a:rPr>
              <a:t>'PENDING'</a:t>
            </a:r>
            <a:r>
              <a:rPr lang="en-US" sz="1200">
                <a:solidFill>
                  <a:srgbClr val="FFFFFF"/>
                </a:solidFill>
                <a:latin typeface="Consolas"/>
                <a:ea typeface="Consolas"/>
                <a:cs typeface="Consolas"/>
                <a:sym typeface="Consolas"/>
              </a:rPr>
              <a:t>])</a:t>
            </a:r>
            <a:br>
              <a:rPr lang="en-US" sz="1200">
                <a:solidFill>
                  <a:srgbClr val="FFFFFF"/>
                </a:solidFill>
                <a:latin typeface="Consolas"/>
                <a:ea typeface="Consolas"/>
                <a:cs typeface="Consolas"/>
                <a:sym typeface="Consolas"/>
              </a:rPr>
            </a:br>
            <a:br>
              <a:rPr lang="en-US" sz="1200">
                <a:solidFill>
                  <a:srgbClr val="FFFFFF"/>
                </a:solidFill>
                <a:latin typeface="Consolas"/>
                <a:ea typeface="Consolas"/>
                <a:cs typeface="Consolas"/>
                <a:sym typeface="Consolas"/>
              </a:rPr>
            </a:br>
            <a:r>
              <a:rPr lang="en-US" sz="1200">
                <a:solidFill>
                  <a:srgbClr val="FFFFFF"/>
                </a:solidFill>
                <a:latin typeface="Consolas"/>
                <a:ea typeface="Consolas"/>
                <a:cs typeface="Consolas"/>
                <a:sym typeface="Consolas"/>
              </a:rPr>
              <a:t>    conn.close()</a:t>
            </a:r>
            <a:br>
              <a:rPr lang="en-US" sz="1200">
                <a:solidFill>
                  <a:srgbClr val="FFFFFF"/>
                </a:solidFill>
                <a:latin typeface="Consolas"/>
                <a:ea typeface="Consolas"/>
                <a:cs typeface="Consolas"/>
                <a:sym typeface="Consolas"/>
              </a:rPr>
            </a:br>
            <a:r>
              <a:rPr lang="en-US" sz="1200">
                <a:solidFill>
                  <a:srgbClr val="F472B6"/>
                </a:solidFill>
                <a:latin typeface="Consolas"/>
                <a:ea typeface="Consolas"/>
                <a:cs typeface="Consolas"/>
                <a:sym typeface="Consolas"/>
              </a:rPr>
              <a:t>    return</a:t>
            </a:r>
            <a:r>
              <a:rPr lang="en-US" sz="1200">
                <a:solidFill>
                  <a:srgbClr val="FFFFFF"/>
                </a:solidFill>
                <a:latin typeface="Consolas"/>
                <a:ea typeface="Consolas"/>
                <a:cs typeface="Consolas"/>
                <a:sym typeface="Consolas"/>
              </a:rPr>
              <a:t> render_template(</a:t>
            </a:r>
            <a:r>
              <a:rPr lang="en-US" sz="1200">
                <a:solidFill>
                  <a:srgbClr val="FBBF24"/>
                </a:solidFill>
                <a:latin typeface="Consolas"/>
                <a:ea typeface="Consolas"/>
                <a:cs typeface="Consolas"/>
                <a:sym typeface="Consolas"/>
              </a:rPr>
              <a:t>'dashboard.html'</a:t>
            </a:r>
            <a:r>
              <a:rPr lang="en-US" sz="1200">
                <a:solidFill>
                  <a:srgbClr val="FFFFFF"/>
                </a:solidFill>
                <a:latin typeface="Consolas"/>
                <a:ea typeface="Consolas"/>
                <a:cs typeface="Consolas"/>
                <a:sym typeface="Consolas"/>
              </a:rPr>
              <a:t>, data=data)</a:t>
            </a:r>
            <a:endParaRPr sz="1200">
              <a:solidFill>
                <a:schemeClr val="dk1"/>
              </a:solidFill>
              <a:latin typeface="Calibri"/>
              <a:ea typeface="Calibri"/>
              <a:cs typeface="Calibri"/>
              <a:sym typeface="Calibri"/>
            </a:endParaRPr>
          </a:p>
        </p:txBody>
      </p:sp>
      <p:sp>
        <p:nvSpPr>
          <p:cNvPr id="595" name="Google Shape;595;p18"/>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04  Frontend &amp; Workflow</a:t>
            </a:r>
            <a:endParaRPr sz="900">
              <a:solidFill>
                <a:schemeClr val="dk1"/>
              </a:solidFill>
              <a:latin typeface="Calibri"/>
              <a:ea typeface="Calibri"/>
              <a:cs typeface="Calibri"/>
              <a:sym typeface="Calibri"/>
            </a:endParaRPr>
          </a:p>
        </p:txBody>
      </p:sp>
      <p:sp>
        <p:nvSpPr>
          <p:cNvPr id="596" name="Google Shape;596;p18"/>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16</a:t>
            </a:r>
            <a:endParaRPr sz="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pic>
        <p:nvPicPr>
          <p:cNvPr descr="preencoded.png" id="602" name="Google Shape;602;p19"/>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603" name="Google Shape;603;p19"/>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Live Demo</a:t>
            </a:r>
            <a:endParaRPr sz="2800">
              <a:solidFill>
                <a:schemeClr val="dk1"/>
              </a:solidFill>
              <a:latin typeface="Calibri"/>
              <a:ea typeface="Calibri"/>
              <a:cs typeface="Calibri"/>
              <a:sym typeface="Calibri"/>
            </a:endParaRPr>
          </a:p>
        </p:txBody>
      </p:sp>
      <p:sp>
        <p:nvSpPr>
          <p:cNvPr id="604" name="Google Shape;604;p19"/>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Walkthrough of the deployed application</a:t>
            </a:r>
            <a:endParaRPr sz="1300">
              <a:solidFill>
                <a:schemeClr val="dk1"/>
              </a:solidFill>
              <a:latin typeface="Calibri"/>
              <a:ea typeface="Calibri"/>
              <a:cs typeface="Calibri"/>
              <a:sym typeface="Calibri"/>
            </a:endParaRPr>
          </a:p>
        </p:txBody>
      </p:sp>
      <p:sp>
        <p:nvSpPr>
          <p:cNvPr id="605" name="Google Shape;605;p19"/>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19"/>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Nisarg</a:t>
            </a:r>
            <a:endParaRPr sz="1100">
              <a:solidFill>
                <a:schemeClr val="dk1"/>
              </a:solidFill>
              <a:latin typeface="Calibri"/>
              <a:ea typeface="Calibri"/>
              <a:cs typeface="Calibri"/>
              <a:sym typeface="Calibri"/>
            </a:endParaRPr>
          </a:p>
        </p:txBody>
      </p:sp>
      <p:sp>
        <p:nvSpPr>
          <p:cNvPr id="607" name="Google Shape;607;p19"/>
          <p:cNvSpPr/>
          <p:nvPr/>
        </p:nvSpPr>
        <p:spPr>
          <a:xfrm>
            <a:off x="457200" y="1371600"/>
            <a:ext cx="7680960" cy="4846320"/>
          </a:xfrm>
          <a:prstGeom prst="rect">
            <a:avLst/>
          </a:prstGeom>
          <a:solidFill>
            <a:srgbClr val="F8FAFC"/>
          </a:solidFill>
          <a:ln cap="flat" cmpd="sng" w="19050">
            <a:solidFill>
              <a:srgbClr val="1E2761"/>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19"/>
          <p:cNvSpPr/>
          <p:nvPr/>
        </p:nvSpPr>
        <p:spPr>
          <a:xfrm>
            <a:off x="8321040" y="1371600"/>
            <a:ext cx="3383280" cy="48463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19"/>
          <p:cNvSpPr/>
          <p:nvPr/>
        </p:nvSpPr>
        <p:spPr>
          <a:xfrm>
            <a:off x="8503920" y="150876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300"/>
              <a:buFont typeface="Calibri"/>
              <a:buNone/>
            </a:pPr>
            <a:r>
              <a:rPr b="1" lang="en-US" sz="1300">
                <a:solidFill>
                  <a:srgbClr val="D4AF37"/>
                </a:solidFill>
                <a:latin typeface="Calibri"/>
                <a:ea typeface="Calibri"/>
                <a:cs typeface="Calibri"/>
                <a:sym typeface="Calibri"/>
              </a:rPr>
              <a:t>DEMO SCRIPT</a:t>
            </a:r>
            <a:endParaRPr sz="1300">
              <a:solidFill>
                <a:schemeClr val="dk1"/>
              </a:solidFill>
              <a:latin typeface="Calibri"/>
              <a:ea typeface="Calibri"/>
              <a:cs typeface="Calibri"/>
              <a:sym typeface="Calibri"/>
            </a:endParaRPr>
          </a:p>
        </p:txBody>
      </p:sp>
      <p:sp>
        <p:nvSpPr>
          <p:cNvPr id="610" name="Google Shape;610;p19"/>
          <p:cNvSpPr/>
          <p:nvPr/>
        </p:nvSpPr>
        <p:spPr>
          <a:xfrm>
            <a:off x="8503920" y="1965960"/>
            <a:ext cx="365760" cy="36576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19"/>
          <p:cNvSpPr/>
          <p:nvPr/>
        </p:nvSpPr>
        <p:spPr>
          <a:xfrm>
            <a:off x="8503920" y="19659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838"/>
              </a:buClr>
              <a:buSzPts val="1300"/>
              <a:buFont typeface="Georgia"/>
              <a:buNone/>
            </a:pPr>
            <a:r>
              <a:rPr b="1" lang="en-US" sz="1300">
                <a:solidFill>
                  <a:srgbClr val="0F1838"/>
                </a:solidFill>
                <a:latin typeface="Georgia"/>
                <a:ea typeface="Georgia"/>
                <a:cs typeface="Georgia"/>
                <a:sym typeface="Georgia"/>
              </a:rPr>
              <a:t>1</a:t>
            </a:r>
            <a:endParaRPr sz="1300">
              <a:solidFill>
                <a:schemeClr val="dk1"/>
              </a:solidFill>
              <a:latin typeface="Calibri"/>
              <a:ea typeface="Calibri"/>
              <a:cs typeface="Calibri"/>
              <a:sym typeface="Calibri"/>
            </a:endParaRPr>
          </a:p>
        </p:txBody>
      </p:sp>
      <p:sp>
        <p:nvSpPr>
          <p:cNvPr id="612" name="Google Shape;612;p19"/>
          <p:cNvSpPr/>
          <p:nvPr/>
        </p:nvSpPr>
        <p:spPr>
          <a:xfrm>
            <a:off x="8961120" y="1920240"/>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Login as Employee</a:t>
            </a:r>
            <a:endParaRPr sz="1200">
              <a:solidFill>
                <a:schemeClr val="dk1"/>
              </a:solidFill>
              <a:latin typeface="Calibri"/>
              <a:ea typeface="Calibri"/>
              <a:cs typeface="Calibri"/>
              <a:sym typeface="Calibri"/>
            </a:endParaRPr>
          </a:p>
        </p:txBody>
      </p:sp>
      <p:sp>
        <p:nvSpPr>
          <p:cNvPr id="613" name="Google Shape;613;p19"/>
          <p:cNvSpPr/>
          <p:nvPr/>
        </p:nvSpPr>
        <p:spPr>
          <a:xfrm>
            <a:off x="8961120" y="2167128"/>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i="1" lang="en-US" sz="1000">
                <a:solidFill>
                  <a:srgbClr val="CADCFC"/>
                </a:solidFill>
                <a:latin typeface="Calibri"/>
                <a:ea typeface="Calibri"/>
                <a:cs typeface="Calibri"/>
                <a:sym typeface="Calibri"/>
              </a:rPr>
              <a:t>Submit a request</a:t>
            </a:r>
            <a:endParaRPr sz="1000">
              <a:solidFill>
                <a:schemeClr val="dk1"/>
              </a:solidFill>
              <a:latin typeface="Calibri"/>
              <a:ea typeface="Calibri"/>
              <a:cs typeface="Calibri"/>
              <a:sym typeface="Calibri"/>
            </a:endParaRPr>
          </a:p>
        </p:txBody>
      </p:sp>
      <p:sp>
        <p:nvSpPr>
          <p:cNvPr id="614" name="Google Shape;614;p19"/>
          <p:cNvSpPr/>
          <p:nvPr/>
        </p:nvSpPr>
        <p:spPr>
          <a:xfrm>
            <a:off x="8503920" y="2624328"/>
            <a:ext cx="365760" cy="36576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19"/>
          <p:cNvSpPr/>
          <p:nvPr/>
        </p:nvSpPr>
        <p:spPr>
          <a:xfrm>
            <a:off x="8503920" y="262432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838"/>
              </a:buClr>
              <a:buSzPts val="1300"/>
              <a:buFont typeface="Georgia"/>
              <a:buNone/>
            </a:pPr>
            <a:r>
              <a:rPr b="1" lang="en-US" sz="1300">
                <a:solidFill>
                  <a:srgbClr val="0F1838"/>
                </a:solidFill>
                <a:latin typeface="Georgia"/>
                <a:ea typeface="Georgia"/>
                <a:cs typeface="Georgia"/>
                <a:sym typeface="Georgia"/>
              </a:rPr>
              <a:t>2</a:t>
            </a:r>
            <a:endParaRPr sz="1300">
              <a:solidFill>
                <a:schemeClr val="dk1"/>
              </a:solidFill>
              <a:latin typeface="Calibri"/>
              <a:ea typeface="Calibri"/>
              <a:cs typeface="Calibri"/>
              <a:sym typeface="Calibri"/>
            </a:endParaRPr>
          </a:p>
        </p:txBody>
      </p:sp>
      <p:sp>
        <p:nvSpPr>
          <p:cNvPr id="616" name="Google Shape;616;p19"/>
          <p:cNvSpPr/>
          <p:nvPr/>
        </p:nvSpPr>
        <p:spPr>
          <a:xfrm>
            <a:off x="8961120" y="2578608"/>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Switch to Manager</a:t>
            </a:r>
            <a:endParaRPr sz="1200">
              <a:solidFill>
                <a:schemeClr val="dk1"/>
              </a:solidFill>
              <a:latin typeface="Calibri"/>
              <a:ea typeface="Calibri"/>
              <a:cs typeface="Calibri"/>
              <a:sym typeface="Calibri"/>
            </a:endParaRPr>
          </a:p>
        </p:txBody>
      </p:sp>
      <p:sp>
        <p:nvSpPr>
          <p:cNvPr id="617" name="Google Shape;617;p19"/>
          <p:cNvSpPr/>
          <p:nvPr/>
        </p:nvSpPr>
        <p:spPr>
          <a:xfrm>
            <a:off x="8961120" y="2825496"/>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i="1" lang="en-US" sz="1000">
                <a:solidFill>
                  <a:srgbClr val="CADCFC"/>
                </a:solidFill>
                <a:latin typeface="Calibri"/>
                <a:ea typeface="Calibri"/>
                <a:cs typeface="Calibri"/>
                <a:sym typeface="Calibri"/>
              </a:rPr>
              <a:t>Approve (budget check)</a:t>
            </a:r>
            <a:endParaRPr sz="1000">
              <a:solidFill>
                <a:schemeClr val="dk1"/>
              </a:solidFill>
              <a:latin typeface="Calibri"/>
              <a:ea typeface="Calibri"/>
              <a:cs typeface="Calibri"/>
              <a:sym typeface="Calibri"/>
            </a:endParaRPr>
          </a:p>
        </p:txBody>
      </p:sp>
      <p:sp>
        <p:nvSpPr>
          <p:cNvPr id="618" name="Google Shape;618;p19"/>
          <p:cNvSpPr/>
          <p:nvPr/>
        </p:nvSpPr>
        <p:spPr>
          <a:xfrm>
            <a:off x="8503920" y="3282696"/>
            <a:ext cx="365760" cy="36576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19"/>
          <p:cNvSpPr/>
          <p:nvPr/>
        </p:nvSpPr>
        <p:spPr>
          <a:xfrm>
            <a:off x="8503920" y="328269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838"/>
              </a:buClr>
              <a:buSzPts val="1300"/>
              <a:buFont typeface="Georgia"/>
              <a:buNone/>
            </a:pPr>
            <a:r>
              <a:rPr b="1" lang="en-US" sz="1300">
                <a:solidFill>
                  <a:srgbClr val="0F1838"/>
                </a:solidFill>
                <a:latin typeface="Georgia"/>
                <a:ea typeface="Georgia"/>
                <a:cs typeface="Georgia"/>
                <a:sym typeface="Georgia"/>
              </a:rPr>
              <a:t>3</a:t>
            </a:r>
            <a:endParaRPr sz="1300">
              <a:solidFill>
                <a:schemeClr val="dk1"/>
              </a:solidFill>
              <a:latin typeface="Calibri"/>
              <a:ea typeface="Calibri"/>
              <a:cs typeface="Calibri"/>
              <a:sym typeface="Calibri"/>
            </a:endParaRPr>
          </a:p>
        </p:txBody>
      </p:sp>
      <p:sp>
        <p:nvSpPr>
          <p:cNvPr id="620" name="Google Shape;620;p19"/>
          <p:cNvSpPr/>
          <p:nvPr/>
        </p:nvSpPr>
        <p:spPr>
          <a:xfrm>
            <a:off x="8961120" y="3236976"/>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Switch to Procurement</a:t>
            </a:r>
            <a:endParaRPr sz="1200">
              <a:solidFill>
                <a:schemeClr val="dk1"/>
              </a:solidFill>
              <a:latin typeface="Calibri"/>
              <a:ea typeface="Calibri"/>
              <a:cs typeface="Calibri"/>
              <a:sym typeface="Calibri"/>
            </a:endParaRPr>
          </a:p>
        </p:txBody>
      </p:sp>
      <p:sp>
        <p:nvSpPr>
          <p:cNvPr id="621" name="Google Shape;621;p19"/>
          <p:cNvSpPr/>
          <p:nvPr/>
        </p:nvSpPr>
        <p:spPr>
          <a:xfrm>
            <a:off x="8961120" y="3483864"/>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i="1" lang="en-US" sz="1000">
                <a:solidFill>
                  <a:srgbClr val="CADCFC"/>
                </a:solidFill>
                <a:latin typeface="Calibri"/>
                <a:ea typeface="Calibri"/>
                <a:cs typeface="Calibri"/>
                <a:sym typeface="Calibri"/>
              </a:rPr>
              <a:t>Issue PO to vendor</a:t>
            </a:r>
            <a:endParaRPr sz="1000">
              <a:solidFill>
                <a:schemeClr val="dk1"/>
              </a:solidFill>
              <a:latin typeface="Calibri"/>
              <a:ea typeface="Calibri"/>
              <a:cs typeface="Calibri"/>
              <a:sym typeface="Calibri"/>
            </a:endParaRPr>
          </a:p>
        </p:txBody>
      </p:sp>
      <p:sp>
        <p:nvSpPr>
          <p:cNvPr id="622" name="Google Shape;622;p19"/>
          <p:cNvSpPr/>
          <p:nvPr/>
        </p:nvSpPr>
        <p:spPr>
          <a:xfrm>
            <a:off x="8503920" y="3941064"/>
            <a:ext cx="365760" cy="36576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19"/>
          <p:cNvSpPr/>
          <p:nvPr/>
        </p:nvSpPr>
        <p:spPr>
          <a:xfrm>
            <a:off x="8503920" y="394106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838"/>
              </a:buClr>
              <a:buSzPts val="1300"/>
              <a:buFont typeface="Georgia"/>
              <a:buNone/>
            </a:pPr>
            <a:r>
              <a:rPr b="1" lang="en-US" sz="1300">
                <a:solidFill>
                  <a:srgbClr val="0F1838"/>
                </a:solidFill>
                <a:latin typeface="Georgia"/>
                <a:ea typeface="Georgia"/>
                <a:cs typeface="Georgia"/>
                <a:sym typeface="Georgia"/>
              </a:rPr>
              <a:t>4</a:t>
            </a:r>
            <a:endParaRPr sz="1300">
              <a:solidFill>
                <a:schemeClr val="dk1"/>
              </a:solidFill>
              <a:latin typeface="Calibri"/>
              <a:ea typeface="Calibri"/>
              <a:cs typeface="Calibri"/>
              <a:sym typeface="Calibri"/>
            </a:endParaRPr>
          </a:p>
        </p:txBody>
      </p:sp>
      <p:sp>
        <p:nvSpPr>
          <p:cNvPr id="624" name="Google Shape;624;p19"/>
          <p:cNvSpPr/>
          <p:nvPr/>
        </p:nvSpPr>
        <p:spPr>
          <a:xfrm>
            <a:off x="8961120" y="3895344"/>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Switch to Vendor</a:t>
            </a:r>
            <a:endParaRPr sz="1200">
              <a:solidFill>
                <a:schemeClr val="dk1"/>
              </a:solidFill>
              <a:latin typeface="Calibri"/>
              <a:ea typeface="Calibri"/>
              <a:cs typeface="Calibri"/>
              <a:sym typeface="Calibri"/>
            </a:endParaRPr>
          </a:p>
        </p:txBody>
      </p:sp>
      <p:sp>
        <p:nvSpPr>
          <p:cNvPr id="625" name="Google Shape;625;p19"/>
          <p:cNvSpPr/>
          <p:nvPr/>
        </p:nvSpPr>
        <p:spPr>
          <a:xfrm>
            <a:off x="8961120" y="4142232"/>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i="1" lang="en-US" sz="1000">
                <a:solidFill>
                  <a:srgbClr val="CADCFC"/>
                </a:solidFill>
                <a:latin typeface="Calibri"/>
                <a:ea typeface="Calibri"/>
                <a:cs typeface="Calibri"/>
                <a:sym typeface="Calibri"/>
              </a:rPr>
              <a:t>Mark order shipped</a:t>
            </a:r>
            <a:endParaRPr sz="1000">
              <a:solidFill>
                <a:schemeClr val="dk1"/>
              </a:solidFill>
              <a:latin typeface="Calibri"/>
              <a:ea typeface="Calibri"/>
              <a:cs typeface="Calibri"/>
              <a:sym typeface="Calibri"/>
            </a:endParaRPr>
          </a:p>
        </p:txBody>
      </p:sp>
      <p:sp>
        <p:nvSpPr>
          <p:cNvPr id="626" name="Google Shape;626;p19"/>
          <p:cNvSpPr/>
          <p:nvPr/>
        </p:nvSpPr>
        <p:spPr>
          <a:xfrm>
            <a:off x="8503920" y="4599432"/>
            <a:ext cx="365760" cy="36576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19"/>
          <p:cNvSpPr/>
          <p:nvPr/>
        </p:nvSpPr>
        <p:spPr>
          <a:xfrm>
            <a:off x="8503920" y="459943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838"/>
              </a:buClr>
              <a:buSzPts val="1300"/>
              <a:buFont typeface="Georgia"/>
              <a:buNone/>
            </a:pPr>
            <a:r>
              <a:rPr b="1" lang="en-US" sz="1300">
                <a:solidFill>
                  <a:srgbClr val="0F1838"/>
                </a:solidFill>
                <a:latin typeface="Georgia"/>
                <a:ea typeface="Georgia"/>
                <a:cs typeface="Georgia"/>
                <a:sym typeface="Georgia"/>
              </a:rPr>
              <a:t>5</a:t>
            </a:r>
            <a:endParaRPr sz="1300">
              <a:solidFill>
                <a:schemeClr val="dk1"/>
              </a:solidFill>
              <a:latin typeface="Calibri"/>
              <a:ea typeface="Calibri"/>
              <a:cs typeface="Calibri"/>
              <a:sym typeface="Calibri"/>
            </a:endParaRPr>
          </a:p>
        </p:txBody>
      </p:sp>
      <p:sp>
        <p:nvSpPr>
          <p:cNvPr id="628" name="Google Shape;628;p19"/>
          <p:cNvSpPr/>
          <p:nvPr/>
        </p:nvSpPr>
        <p:spPr>
          <a:xfrm>
            <a:off x="8961120" y="4553712"/>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Switch to Finance</a:t>
            </a:r>
            <a:endParaRPr sz="1200">
              <a:solidFill>
                <a:schemeClr val="dk1"/>
              </a:solidFill>
              <a:latin typeface="Calibri"/>
              <a:ea typeface="Calibri"/>
              <a:cs typeface="Calibri"/>
              <a:sym typeface="Calibri"/>
            </a:endParaRPr>
          </a:p>
        </p:txBody>
      </p:sp>
      <p:sp>
        <p:nvSpPr>
          <p:cNvPr id="629" name="Google Shape;629;p19"/>
          <p:cNvSpPr/>
          <p:nvPr/>
        </p:nvSpPr>
        <p:spPr>
          <a:xfrm>
            <a:off x="8961120" y="4800600"/>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i="1" lang="en-US" sz="1000">
                <a:solidFill>
                  <a:srgbClr val="CADCFC"/>
                </a:solidFill>
                <a:latin typeface="Calibri"/>
                <a:ea typeface="Calibri"/>
                <a:cs typeface="Calibri"/>
                <a:sym typeface="Calibri"/>
              </a:rPr>
              <a:t>Pay invoice → cascade</a:t>
            </a:r>
            <a:endParaRPr sz="1000">
              <a:solidFill>
                <a:schemeClr val="dk1"/>
              </a:solidFill>
              <a:latin typeface="Calibri"/>
              <a:ea typeface="Calibri"/>
              <a:cs typeface="Calibri"/>
              <a:sym typeface="Calibri"/>
            </a:endParaRPr>
          </a:p>
        </p:txBody>
      </p:sp>
      <p:sp>
        <p:nvSpPr>
          <p:cNvPr id="630" name="Google Shape;630;p19"/>
          <p:cNvSpPr/>
          <p:nvPr/>
        </p:nvSpPr>
        <p:spPr>
          <a:xfrm>
            <a:off x="8503920" y="5257800"/>
            <a:ext cx="365760" cy="36576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19"/>
          <p:cNvSpPr/>
          <p:nvPr/>
        </p:nvSpPr>
        <p:spPr>
          <a:xfrm>
            <a:off x="8503920" y="525780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838"/>
              </a:buClr>
              <a:buSzPts val="1300"/>
              <a:buFont typeface="Georgia"/>
              <a:buNone/>
            </a:pPr>
            <a:r>
              <a:rPr b="1" lang="en-US" sz="1300">
                <a:solidFill>
                  <a:srgbClr val="0F1838"/>
                </a:solidFill>
                <a:latin typeface="Georgia"/>
                <a:ea typeface="Georgia"/>
                <a:cs typeface="Georgia"/>
                <a:sym typeface="Georgia"/>
              </a:rPr>
              <a:t>6</a:t>
            </a:r>
            <a:endParaRPr sz="1300">
              <a:solidFill>
                <a:schemeClr val="dk1"/>
              </a:solidFill>
              <a:latin typeface="Calibri"/>
              <a:ea typeface="Calibri"/>
              <a:cs typeface="Calibri"/>
              <a:sym typeface="Calibri"/>
            </a:endParaRPr>
          </a:p>
        </p:txBody>
      </p:sp>
      <p:sp>
        <p:nvSpPr>
          <p:cNvPr id="632" name="Google Shape;632;p19"/>
          <p:cNvSpPr/>
          <p:nvPr/>
        </p:nvSpPr>
        <p:spPr>
          <a:xfrm>
            <a:off x="8961120" y="5212080"/>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View Audit Log</a:t>
            </a:r>
            <a:endParaRPr sz="1200">
              <a:solidFill>
                <a:schemeClr val="dk1"/>
              </a:solidFill>
              <a:latin typeface="Calibri"/>
              <a:ea typeface="Calibri"/>
              <a:cs typeface="Calibri"/>
              <a:sym typeface="Calibri"/>
            </a:endParaRPr>
          </a:p>
        </p:txBody>
      </p:sp>
      <p:sp>
        <p:nvSpPr>
          <p:cNvPr id="633" name="Google Shape;633;p19"/>
          <p:cNvSpPr/>
          <p:nvPr/>
        </p:nvSpPr>
        <p:spPr>
          <a:xfrm>
            <a:off x="8961120" y="5458968"/>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i="1" lang="en-US" sz="1000">
                <a:solidFill>
                  <a:srgbClr val="CADCFC"/>
                </a:solidFill>
                <a:latin typeface="Calibri"/>
                <a:ea typeface="Calibri"/>
                <a:cs typeface="Calibri"/>
                <a:sym typeface="Calibri"/>
              </a:rPr>
              <a:t>See full action history</a:t>
            </a:r>
            <a:endParaRPr sz="1000">
              <a:solidFill>
                <a:schemeClr val="dk1"/>
              </a:solidFill>
              <a:latin typeface="Calibri"/>
              <a:ea typeface="Calibri"/>
              <a:cs typeface="Calibri"/>
              <a:sym typeface="Calibri"/>
            </a:endParaRPr>
          </a:p>
        </p:txBody>
      </p:sp>
      <p:sp>
        <p:nvSpPr>
          <p:cNvPr id="634" name="Google Shape;634;p19"/>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04  Frontend &amp; Workflow</a:t>
            </a:r>
            <a:endParaRPr sz="900">
              <a:solidFill>
                <a:schemeClr val="dk1"/>
              </a:solidFill>
              <a:latin typeface="Calibri"/>
              <a:ea typeface="Calibri"/>
              <a:cs typeface="Calibri"/>
              <a:sym typeface="Calibri"/>
            </a:endParaRPr>
          </a:p>
        </p:txBody>
      </p:sp>
      <p:sp>
        <p:nvSpPr>
          <p:cNvPr id="635" name="Google Shape;635;p19"/>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17</a:t>
            </a:r>
            <a:endParaRPr sz="900">
              <a:solidFill>
                <a:schemeClr val="dk1"/>
              </a:solidFill>
              <a:latin typeface="Calibri"/>
              <a:ea typeface="Calibri"/>
              <a:cs typeface="Calibri"/>
              <a:sym typeface="Calibri"/>
            </a:endParaRPr>
          </a:p>
        </p:txBody>
      </p:sp>
      <p:pic>
        <p:nvPicPr>
          <p:cNvPr descr="A screenshot of a computer&#10;&#10;AI-generated content may be incorrect." id="636" name="Google Shape;636;p19"/>
          <p:cNvPicPr preferRelativeResize="0"/>
          <p:nvPr/>
        </p:nvPicPr>
        <p:blipFill rotWithShape="1">
          <a:blip r:embed="rId4">
            <a:alphaModFix/>
          </a:blip>
          <a:srcRect b="0" l="0" r="0" t="0"/>
          <a:stretch/>
        </p:blipFill>
        <p:spPr>
          <a:xfrm>
            <a:off x="447215" y="1371600"/>
            <a:ext cx="7772400" cy="4846320"/>
          </a:xfrm>
          <a:prstGeom prst="rect">
            <a:avLst/>
          </a:prstGeom>
          <a:noFill/>
          <a:ln>
            <a:noFill/>
          </a:ln>
        </p:spPr>
      </p:pic>
      <p:sp>
        <p:nvSpPr>
          <p:cNvPr id="637" name="Google Shape;637;p19"/>
          <p:cNvSpPr txBox="1"/>
          <p:nvPr/>
        </p:nvSpPr>
        <p:spPr>
          <a:xfrm>
            <a:off x="1295925" y="5801082"/>
            <a:ext cx="60749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Site Link : </a:t>
            </a:r>
            <a:r>
              <a:rPr lang="en-US" sz="1800" u="sng">
                <a:solidFill>
                  <a:schemeClr val="hlink"/>
                </a:solidFill>
                <a:latin typeface="Calibri"/>
                <a:ea typeface="Calibri"/>
                <a:cs typeface="Calibri"/>
                <a:sym typeface="Calibri"/>
                <a:hlinkClick r:id="rId5"/>
              </a:rPr>
              <a:t>Procurement system</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642" name="Shape 642"/>
        <p:cNvGrpSpPr/>
        <p:nvPr/>
      </p:nvGrpSpPr>
      <p:grpSpPr>
        <a:xfrm>
          <a:off x="0" y="0"/>
          <a:ext cx="0" cy="0"/>
          <a:chOff x="0" y="0"/>
          <a:chExt cx="0" cy="0"/>
        </a:xfrm>
      </p:grpSpPr>
      <p:sp>
        <p:nvSpPr>
          <p:cNvPr id="643" name="Google Shape;643;p20"/>
          <p:cNvSpPr/>
          <p:nvPr/>
        </p:nvSpPr>
        <p:spPr>
          <a:xfrm>
            <a:off x="731520" y="2011680"/>
            <a:ext cx="274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4AF37"/>
              </a:buClr>
              <a:buSzPts val="11000"/>
              <a:buFont typeface="Georgia"/>
              <a:buNone/>
            </a:pPr>
            <a:r>
              <a:rPr b="1" lang="en-US" sz="11000">
                <a:solidFill>
                  <a:srgbClr val="D4AF37"/>
                </a:solidFill>
                <a:latin typeface="Georgia"/>
                <a:ea typeface="Georgia"/>
                <a:cs typeface="Georgia"/>
                <a:sym typeface="Georgia"/>
              </a:rPr>
              <a:t>05</a:t>
            </a:r>
            <a:endParaRPr sz="11000">
              <a:solidFill>
                <a:schemeClr val="dk1"/>
              </a:solidFill>
              <a:latin typeface="Calibri"/>
              <a:ea typeface="Calibri"/>
              <a:cs typeface="Calibri"/>
              <a:sym typeface="Calibri"/>
            </a:endParaRPr>
          </a:p>
        </p:txBody>
      </p:sp>
      <p:sp>
        <p:nvSpPr>
          <p:cNvPr id="644" name="Google Shape;644;p20"/>
          <p:cNvSpPr/>
          <p:nvPr/>
        </p:nvSpPr>
        <p:spPr>
          <a:xfrm>
            <a:off x="731520" y="3566160"/>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lang="en-US" sz="4400">
                <a:solidFill>
                  <a:srgbClr val="FFFFFF"/>
                </a:solidFill>
                <a:latin typeface="Georgia"/>
                <a:ea typeface="Georgia"/>
                <a:cs typeface="Georgia"/>
                <a:sym typeface="Georgia"/>
              </a:rPr>
              <a:t>Challenges &amp; Conclusion</a:t>
            </a:r>
            <a:endParaRPr sz="4400">
              <a:solidFill>
                <a:schemeClr val="dk1"/>
              </a:solidFill>
              <a:latin typeface="Calibri"/>
              <a:ea typeface="Calibri"/>
              <a:cs typeface="Calibri"/>
              <a:sym typeface="Calibri"/>
            </a:endParaRPr>
          </a:p>
        </p:txBody>
      </p:sp>
      <p:sp>
        <p:nvSpPr>
          <p:cNvPr id="645" name="Google Shape;645;p20"/>
          <p:cNvSpPr/>
          <p:nvPr/>
        </p:nvSpPr>
        <p:spPr>
          <a:xfrm>
            <a:off x="731520" y="4343400"/>
            <a:ext cx="10972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i="1" lang="en-US" sz="1800">
                <a:solidFill>
                  <a:srgbClr val="CADCFC"/>
                </a:solidFill>
                <a:latin typeface="Calibri"/>
                <a:ea typeface="Calibri"/>
                <a:cs typeface="Calibri"/>
                <a:sym typeface="Calibri"/>
              </a:rPr>
              <a:t>What broke, what we learned, and what comes next</a:t>
            </a:r>
            <a:endParaRPr sz="1800">
              <a:solidFill>
                <a:schemeClr val="dk1"/>
              </a:solidFill>
              <a:latin typeface="Calibri"/>
              <a:ea typeface="Calibri"/>
              <a:cs typeface="Calibri"/>
              <a:sym typeface="Calibri"/>
            </a:endParaRPr>
          </a:p>
        </p:txBody>
      </p:sp>
      <p:sp>
        <p:nvSpPr>
          <p:cNvPr id="646" name="Google Shape;646;p20"/>
          <p:cNvSpPr/>
          <p:nvPr/>
        </p:nvSpPr>
        <p:spPr>
          <a:xfrm>
            <a:off x="731520" y="59436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lang="en-US" sz="1200">
                <a:solidFill>
                  <a:srgbClr val="CADCFC"/>
                </a:solidFill>
                <a:latin typeface="Calibri"/>
                <a:ea typeface="Calibri"/>
                <a:cs typeface="Calibri"/>
                <a:sym typeface="Calibri"/>
              </a:rPr>
              <a:t>PRESENTED BY  PRIYA BATHINI</a:t>
            </a:r>
            <a:endParaRPr sz="1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1" name="Shape 651"/>
        <p:cNvGrpSpPr/>
        <p:nvPr/>
      </p:nvGrpSpPr>
      <p:grpSpPr>
        <a:xfrm>
          <a:off x="0" y="0"/>
          <a:ext cx="0" cy="0"/>
          <a:chOff x="0" y="0"/>
          <a:chExt cx="0" cy="0"/>
        </a:xfrm>
      </p:grpSpPr>
      <p:pic>
        <p:nvPicPr>
          <p:cNvPr descr="preencoded.png" id="652" name="Google Shape;652;p21"/>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653" name="Google Shape;653;p21"/>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Challenges We Solved</a:t>
            </a:r>
            <a:endParaRPr sz="2800">
              <a:solidFill>
                <a:schemeClr val="dk1"/>
              </a:solidFill>
              <a:latin typeface="Calibri"/>
              <a:ea typeface="Calibri"/>
              <a:cs typeface="Calibri"/>
              <a:sym typeface="Calibri"/>
            </a:endParaRPr>
          </a:p>
        </p:txBody>
      </p:sp>
      <p:sp>
        <p:nvSpPr>
          <p:cNvPr id="654" name="Google Shape;654;p21"/>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Two real problems that pushed us to write better SQL</a:t>
            </a:r>
            <a:endParaRPr sz="1300">
              <a:solidFill>
                <a:schemeClr val="dk1"/>
              </a:solidFill>
              <a:latin typeface="Calibri"/>
              <a:ea typeface="Calibri"/>
              <a:cs typeface="Calibri"/>
              <a:sym typeface="Calibri"/>
            </a:endParaRPr>
          </a:p>
        </p:txBody>
      </p:sp>
      <p:sp>
        <p:nvSpPr>
          <p:cNvPr id="655" name="Google Shape;655;p21"/>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21"/>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Priya</a:t>
            </a:r>
            <a:endParaRPr sz="1100">
              <a:solidFill>
                <a:schemeClr val="dk1"/>
              </a:solidFill>
              <a:latin typeface="Calibri"/>
              <a:ea typeface="Calibri"/>
              <a:cs typeface="Calibri"/>
              <a:sym typeface="Calibri"/>
            </a:endParaRPr>
          </a:p>
        </p:txBody>
      </p:sp>
      <p:sp>
        <p:nvSpPr>
          <p:cNvPr id="657" name="Google Shape;657;p21"/>
          <p:cNvSpPr/>
          <p:nvPr/>
        </p:nvSpPr>
        <p:spPr>
          <a:xfrm>
            <a:off x="457200" y="1371600"/>
            <a:ext cx="5532120" cy="4846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21"/>
          <p:cNvSpPr/>
          <p:nvPr/>
        </p:nvSpPr>
        <p:spPr>
          <a:xfrm>
            <a:off x="457200" y="1371600"/>
            <a:ext cx="5532120" cy="457200"/>
          </a:xfrm>
          <a:prstGeom prst="rect">
            <a:avLst/>
          </a:prstGeom>
          <a:solidFill>
            <a:srgbClr val="DC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21"/>
          <p:cNvSpPr/>
          <p:nvPr/>
        </p:nvSpPr>
        <p:spPr>
          <a:xfrm>
            <a:off x="640080" y="1371600"/>
            <a:ext cx="5212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CHALLENGE 01</a:t>
            </a:r>
            <a:endParaRPr sz="1200">
              <a:solidFill>
                <a:schemeClr val="dk1"/>
              </a:solidFill>
              <a:latin typeface="Calibri"/>
              <a:ea typeface="Calibri"/>
              <a:cs typeface="Calibri"/>
              <a:sym typeface="Calibri"/>
            </a:endParaRPr>
          </a:p>
        </p:txBody>
      </p:sp>
      <p:sp>
        <p:nvSpPr>
          <p:cNvPr id="660" name="Google Shape;660;p21"/>
          <p:cNvSpPr/>
          <p:nvPr/>
        </p:nvSpPr>
        <p:spPr>
          <a:xfrm>
            <a:off x="640080" y="1920240"/>
            <a:ext cx="5212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lang="en-US" sz="1800">
                <a:solidFill>
                  <a:srgbClr val="1E2761"/>
                </a:solidFill>
                <a:latin typeface="Calibri"/>
                <a:ea typeface="Calibri"/>
                <a:cs typeface="Calibri"/>
                <a:sym typeface="Calibri"/>
              </a:rPr>
              <a:t>Enforcing Strict Budget Constraints</a:t>
            </a:r>
            <a:endParaRPr sz="1800">
              <a:solidFill>
                <a:schemeClr val="dk1"/>
              </a:solidFill>
              <a:latin typeface="Calibri"/>
              <a:ea typeface="Calibri"/>
              <a:cs typeface="Calibri"/>
              <a:sym typeface="Calibri"/>
            </a:endParaRPr>
          </a:p>
        </p:txBody>
      </p:sp>
      <p:sp>
        <p:nvSpPr>
          <p:cNvPr id="661" name="Google Shape;661;p21"/>
          <p:cNvSpPr/>
          <p:nvPr/>
        </p:nvSpPr>
        <p:spPr>
          <a:xfrm>
            <a:off x="640080" y="2377440"/>
            <a:ext cx="5212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Calibri"/>
              <a:buNone/>
            </a:pPr>
            <a:r>
              <a:rPr b="1" lang="en-US" sz="1100">
                <a:solidFill>
                  <a:srgbClr val="DC2626"/>
                </a:solidFill>
                <a:latin typeface="Calibri"/>
                <a:ea typeface="Calibri"/>
                <a:cs typeface="Calibri"/>
                <a:sym typeface="Calibri"/>
              </a:rPr>
              <a:t>Problem</a:t>
            </a:r>
            <a:endParaRPr sz="1100">
              <a:solidFill>
                <a:schemeClr val="dk1"/>
              </a:solidFill>
              <a:latin typeface="Calibri"/>
              <a:ea typeface="Calibri"/>
              <a:cs typeface="Calibri"/>
              <a:sym typeface="Calibri"/>
            </a:endParaRPr>
          </a:p>
        </p:txBody>
      </p:sp>
      <p:sp>
        <p:nvSpPr>
          <p:cNvPr id="662" name="Google Shape;662;p21"/>
          <p:cNvSpPr/>
          <p:nvPr/>
        </p:nvSpPr>
        <p:spPr>
          <a:xfrm>
            <a:off x="640080" y="2651760"/>
            <a:ext cx="521208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Frontend-only validation could be bypassed. Managers could theoretically approve requests that exceeded the department budget.</a:t>
            </a:r>
            <a:endParaRPr sz="1200">
              <a:solidFill>
                <a:schemeClr val="dk1"/>
              </a:solidFill>
              <a:latin typeface="Calibri"/>
              <a:ea typeface="Calibri"/>
              <a:cs typeface="Calibri"/>
              <a:sym typeface="Calibri"/>
            </a:endParaRPr>
          </a:p>
        </p:txBody>
      </p:sp>
      <p:sp>
        <p:nvSpPr>
          <p:cNvPr id="663" name="Google Shape;663;p21"/>
          <p:cNvSpPr/>
          <p:nvPr/>
        </p:nvSpPr>
        <p:spPr>
          <a:xfrm>
            <a:off x="640080" y="3611880"/>
            <a:ext cx="5212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100"/>
              <a:buFont typeface="Calibri"/>
              <a:buNone/>
            </a:pPr>
            <a:r>
              <a:rPr b="1" lang="en-US" sz="1100">
                <a:solidFill>
                  <a:srgbClr val="059669"/>
                </a:solidFill>
                <a:latin typeface="Calibri"/>
                <a:ea typeface="Calibri"/>
                <a:cs typeface="Calibri"/>
                <a:sym typeface="Calibri"/>
              </a:rPr>
              <a:t>Solution</a:t>
            </a:r>
            <a:endParaRPr sz="1100">
              <a:solidFill>
                <a:schemeClr val="dk1"/>
              </a:solidFill>
              <a:latin typeface="Calibri"/>
              <a:ea typeface="Calibri"/>
              <a:cs typeface="Calibri"/>
              <a:sym typeface="Calibri"/>
            </a:endParaRPr>
          </a:p>
        </p:txBody>
      </p:sp>
      <p:sp>
        <p:nvSpPr>
          <p:cNvPr id="664" name="Google Shape;664;p21"/>
          <p:cNvSpPr/>
          <p:nvPr/>
        </p:nvSpPr>
        <p:spPr>
          <a:xfrm>
            <a:off x="640080" y="3886200"/>
            <a:ext cx="5212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Server-side check before every approval. Flask queries the Departments table, computes remaining = allocated − used, and rejects if estimated_cost &gt; remaining.</a:t>
            </a:r>
            <a:endParaRPr sz="1200">
              <a:solidFill>
                <a:schemeClr val="dk1"/>
              </a:solidFill>
              <a:latin typeface="Calibri"/>
              <a:ea typeface="Calibri"/>
              <a:cs typeface="Calibri"/>
              <a:sym typeface="Calibri"/>
            </a:endParaRPr>
          </a:p>
        </p:txBody>
      </p:sp>
      <p:sp>
        <p:nvSpPr>
          <p:cNvPr id="665" name="Google Shape;665;p21"/>
          <p:cNvSpPr/>
          <p:nvPr/>
        </p:nvSpPr>
        <p:spPr>
          <a:xfrm>
            <a:off x="640080" y="4937760"/>
            <a:ext cx="5212080" cy="1143000"/>
          </a:xfrm>
          <a:prstGeom prst="rect">
            <a:avLst/>
          </a:prstGeom>
          <a:solidFill>
            <a:srgbClr val="0F18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21"/>
          <p:cNvSpPr/>
          <p:nvPr/>
        </p:nvSpPr>
        <p:spPr>
          <a:xfrm>
            <a:off x="777240" y="5029200"/>
            <a:ext cx="49377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onsolas"/>
              <a:buNone/>
            </a:pPr>
            <a:r>
              <a:rPr lang="en-US" sz="1100">
                <a:solidFill>
                  <a:srgbClr val="FFFFFF"/>
                </a:solidFill>
                <a:latin typeface="Consolas"/>
                <a:ea typeface="Consolas"/>
                <a:cs typeface="Consolas"/>
                <a:sym typeface="Consolas"/>
              </a:rPr>
              <a:t>remaining = budget_allocated</a:t>
            </a:r>
            <a:br>
              <a:rPr lang="en-US" sz="1100">
                <a:solidFill>
                  <a:srgbClr val="FFFFFF"/>
                </a:solidFill>
                <a:latin typeface="Consolas"/>
                <a:ea typeface="Consolas"/>
                <a:cs typeface="Consolas"/>
                <a:sym typeface="Consolas"/>
              </a:rPr>
            </a:br>
            <a:r>
              <a:rPr lang="en-US" sz="1100">
                <a:solidFill>
                  <a:srgbClr val="FFFFFF"/>
                </a:solidFill>
                <a:latin typeface="Consolas"/>
                <a:ea typeface="Consolas"/>
                <a:cs typeface="Consolas"/>
                <a:sym typeface="Consolas"/>
              </a:rPr>
              <a:t>            - budget_used</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if</a:t>
            </a:r>
            <a:r>
              <a:rPr lang="en-US" sz="1100">
                <a:solidFill>
                  <a:srgbClr val="FFFFFF"/>
                </a:solidFill>
                <a:latin typeface="Consolas"/>
                <a:ea typeface="Consolas"/>
                <a:cs typeface="Consolas"/>
                <a:sym typeface="Consolas"/>
              </a:rPr>
              <a:t> total_cost &gt; remaining:</a:t>
            </a:r>
            <a:br>
              <a:rPr lang="en-US" sz="1100">
                <a:solidFill>
                  <a:srgbClr val="FFFFFF"/>
                </a:solidFill>
                <a:latin typeface="Consolas"/>
                <a:ea typeface="Consolas"/>
                <a:cs typeface="Consolas"/>
                <a:sym typeface="Consolas"/>
              </a:rPr>
            </a:br>
            <a:r>
              <a:rPr lang="en-US" sz="1100">
                <a:solidFill>
                  <a:srgbClr val="FFFFFF"/>
                </a:solidFill>
                <a:latin typeface="Consolas"/>
                <a:ea typeface="Consolas"/>
                <a:cs typeface="Consolas"/>
                <a:sym typeface="Consolas"/>
              </a:rPr>
              <a:t>    flash(</a:t>
            </a:r>
            <a:r>
              <a:rPr lang="en-US" sz="1100">
                <a:solidFill>
                  <a:srgbClr val="FBBF24"/>
                </a:solidFill>
                <a:latin typeface="Consolas"/>
                <a:ea typeface="Consolas"/>
                <a:cs typeface="Consolas"/>
                <a:sym typeface="Consolas"/>
              </a:rPr>
              <a:t>'Insufficient budget!'</a:t>
            </a:r>
            <a:r>
              <a:rPr lang="en-US" sz="1100">
                <a:solidFill>
                  <a:srgbClr val="FFFFFF"/>
                </a:solidFill>
                <a:latin typeface="Consolas"/>
                <a:ea typeface="Consolas"/>
                <a:cs typeface="Consolas"/>
                <a:sym typeface="Consolas"/>
              </a:rPr>
              <a:t>)</a:t>
            </a:r>
            <a:endParaRPr sz="1100">
              <a:solidFill>
                <a:schemeClr val="dk1"/>
              </a:solidFill>
              <a:latin typeface="Calibri"/>
              <a:ea typeface="Calibri"/>
              <a:cs typeface="Calibri"/>
              <a:sym typeface="Calibri"/>
            </a:endParaRPr>
          </a:p>
        </p:txBody>
      </p:sp>
      <p:sp>
        <p:nvSpPr>
          <p:cNvPr id="667" name="Google Shape;667;p21"/>
          <p:cNvSpPr/>
          <p:nvPr/>
        </p:nvSpPr>
        <p:spPr>
          <a:xfrm>
            <a:off x="6172200" y="1371600"/>
            <a:ext cx="5532120" cy="484632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21"/>
          <p:cNvSpPr/>
          <p:nvPr/>
        </p:nvSpPr>
        <p:spPr>
          <a:xfrm>
            <a:off x="6172200" y="1371600"/>
            <a:ext cx="5532120" cy="457200"/>
          </a:xfrm>
          <a:prstGeom prst="rect">
            <a:avLst/>
          </a:prstGeom>
          <a:solidFill>
            <a:srgbClr val="DC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21"/>
          <p:cNvSpPr/>
          <p:nvPr/>
        </p:nvSpPr>
        <p:spPr>
          <a:xfrm>
            <a:off x="6355080" y="1371600"/>
            <a:ext cx="5212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CHALLENGE 02</a:t>
            </a:r>
            <a:endParaRPr sz="1200">
              <a:solidFill>
                <a:schemeClr val="dk1"/>
              </a:solidFill>
              <a:latin typeface="Calibri"/>
              <a:ea typeface="Calibri"/>
              <a:cs typeface="Calibri"/>
              <a:sym typeface="Calibri"/>
            </a:endParaRPr>
          </a:p>
        </p:txBody>
      </p:sp>
      <p:sp>
        <p:nvSpPr>
          <p:cNvPr id="670" name="Google Shape;670;p21"/>
          <p:cNvSpPr/>
          <p:nvPr/>
        </p:nvSpPr>
        <p:spPr>
          <a:xfrm>
            <a:off x="6355080" y="1920240"/>
            <a:ext cx="5212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lang="en-US" sz="1800">
                <a:solidFill>
                  <a:srgbClr val="1E2761"/>
                </a:solidFill>
                <a:latin typeface="Calibri"/>
                <a:ea typeface="Calibri"/>
                <a:cs typeface="Calibri"/>
                <a:sym typeface="Calibri"/>
              </a:rPr>
              <a:t>Workflow State Consistency</a:t>
            </a:r>
            <a:endParaRPr sz="1800">
              <a:solidFill>
                <a:schemeClr val="dk1"/>
              </a:solidFill>
              <a:latin typeface="Calibri"/>
              <a:ea typeface="Calibri"/>
              <a:cs typeface="Calibri"/>
              <a:sym typeface="Calibri"/>
            </a:endParaRPr>
          </a:p>
        </p:txBody>
      </p:sp>
      <p:sp>
        <p:nvSpPr>
          <p:cNvPr id="671" name="Google Shape;671;p21"/>
          <p:cNvSpPr/>
          <p:nvPr/>
        </p:nvSpPr>
        <p:spPr>
          <a:xfrm>
            <a:off x="6355080" y="2377440"/>
            <a:ext cx="5212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Calibri"/>
              <a:buNone/>
            </a:pPr>
            <a:r>
              <a:rPr b="1" lang="en-US" sz="1100">
                <a:solidFill>
                  <a:srgbClr val="DC2626"/>
                </a:solidFill>
                <a:latin typeface="Calibri"/>
                <a:ea typeface="Calibri"/>
                <a:cs typeface="Calibri"/>
                <a:sym typeface="Calibri"/>
              </a:rPr>
              <a:t>Problem</a:t>
            </a:r>
            <a:endParaRPr sz="1100">
              <a:solidFill>
                <a:schemeClr val="dk1"/>
              </a:solidFill>
              <a:latin typeface="Calibri"/>
              <a:ea typeface="Calibri"/>
              <a:cs typeface="Calibri"/>
              <a:sym typeface="Calibri"/>
            </a:endParaRPr>
          </a:p>
        </p:txBody>
      </p:sp>
      <p:sp>
        <p:nvSpPr>
          <p:cNvPr id="672" name="Google Shape;672;p21"/>
          <p:cNvSpPr/>
          <p:nvPr/>
        </p:nvSpPr>
        <p:spPr>
          <a:xfrm>
            <a:off x="6355080" y="2651760"/>
            <a:ext cx="521208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Updating a Purchase Order's status didn't propagate to the original Purchase Request. Employees saw stale 'APPROVED' on requests already paid weeks ago.</a:t>
            </a:r>
            <a:endParaRPr sz="1200">
              <a:solidFill>
                <a:schemeClr val="dk1"/>
              </a:solidFill>
              <a:latin typeface="Calibri"/>
              <a:ea typeface="Calibri"/>
              <a:cs typeface="Calibri"/>
              <a:sym typeface="Calibri"/>
            </a:endParaRPr>
          </a:p>
        </p:txBody>
      </p:sp>
      <p:sp>
        <p:nvSpPr>
          <p:cNvPr id="673" name="Google Shape;673;p21"/>
          <p:cNvSpPr/>
          <p:nvPr/>
        </p:nvSpPr>
        <p:spPr>
          <a:xfrm>
            <a:off x="6355080" y="3611880"/>
            <a:ext cx="5212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100"/>
              <a:buFont typeface="Calibri"/>
              <a:buNone/>
            </a:pPr>
            <a:r>
              <a:rPr b="1" lang="en-US" sz="1100">
                <a:solidFill>
                  <a:srgbClr val="059669"/>
                </a:solidFill>
                <a:latin typeface="Calibri"/>
                <a:ea typeface="Calibri"/>
                <a:cs typeface="Calibri"/>
                <a:sym typeface="Calibri"/>
              </a:rPr>
              <a:t>Solution</a:t>
            </a:r>
            <a:endParaRPr sz="1100">
              <a:solidFill>
                <a:schemeClr val="dk1"/>
              </a:solidFill>
              <a:latin typeface="Calibri"/>
              <a:ea typeface="Calibri"/>
              <a:cs typeface="Calibri"/>
              <a:sym typeface="Calibri"/>
            </a:endParaRPr>
          </a:p>
        </p:txBody>
      </p:sp>
      <p:sp>
        <p:nvSpPr>
          <p:cNvPr id="674" name="Google Shape;674;p21"/>
          <p:cNvSpPr/>
          <p:nvPr/>
        </p:nvSpPr>
        <p:spPr>
          <a:xfrm>
            <a:off x="6355080" y="3886200"/>
            <a:ext cx="5212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F36"/>
              </a:buClr>
              <a:buSzPts val="1200"/>
              <a:buFont typeface="Calibri"/>
              <a:buNone/>
            </a:pPr>
            <a:r>
              <a:rPr lang="en-US" sz="1200">
                <a:solidFill>
                  <a:srgbClr val="1A1F36"/>
                </a:solidFill>
                <a:latin typeface="Calibri"/>
                <a:ea typeface="Calibri"/>
                <a:cs typeface="Calibri"/>
                <a:sym typeface="Calibri"/>
              </a:rPr>
              <a:t>Cascading status update mechanism. JOIN queries retrieve the linked_pr_id and synchronously update all upstream and downstream tables in one transaction.</a:t>
            </a:r>
            <a:endParaRPr sz="1200">
              <a:solidFill>
                <a:schemeClr val="dk1"/>
              </a:solidFill>
              <a:latin typeface="Calibri"/>
              <a:ea typeface="Calibri"/>
              <a:cs typeface="Calibri"/>
              <a:sym typeface="Calibri"/>
            </a:endParaRPr>
          </a:p>
        </p:txBody>
      </p:sp>
      <p:sp>
        <p:nvSpPr>
          <p:cNvPr id="675" name="Google Shape;675;p21"/>
          <p:cNvSpPr/>
          <p:nvPr/>
        </p:nvSpPr>
        <p:spPr>
          <a:xfrm>
            <a:off x="6355080" y="4937760"/>
            <a:ext cx="5212080" cy="1143000"/>
          </a:xfrm>
          <a:prstGeom prst="rect">
            <a:avLst/>
          </a:prstGeom>
          <a:solidFill>
            <a:srgbClr val="0F18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21"/>
          <p:cNvSpPr/>
          <p:nvPr/>
        </p:nvSpPr>
        <p:spPr>
          <a:xfrm>
            <a:off x="6492240" y="5029200"/>
            <a:ext cx="49377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72B6"/>
              </a:buClr>
              <a:buSzPts val="1100"/>
              <a:buFont typeface="Consolas"/>
              <a:buNone/>
            </a:pPr>
            <a:r>
              <a:rPr lang="en-US" sz="1100">
                <a:solidFill>
                  <a:srgbClr val="F472B6"/>
                </a:solidFill>
                <a:latin typeface="Consolas"/>
                <a:ea typeface="Consolas"/>
                <a:cs typeface="Consolas"/>
                <a:sym typeface="Consolas"/>
              </a:rPr>
              <a:t>UPDATE</a:t>
            </a:r>
            <a:r>
              <a:rPr lang="en-US" sz="1100">
                <a:solidFill>
                  <a:srgbClr val="FFFFFF"/>
                </a:solidFill>
                <a:latin typeface="Consolas"/>
                <a:ea typeface="Consolas"/>
                <a:cs typeface="Consolas"/>
                <a:sym typeface="Consolas"/>
              </a:rPr>
              <a:t> Invoices </a:t>
            </a:r>
            <a:r>
              <a:rPr lang="en-US" sz="1100">
                <a:solidFill>
                  <a:srgbClr val="F472B6"/>
                </a:solidFill>
                <a:latin typeface="Consolas"/>
                <a:ea typeface="Consolas"/>
                <a:cs typeface="Consolas"/>
                <a:sym typeface="Consolas"/>
              </a:rPr>
              <a:t>SET</a:t>
            </a:r>
            <a:r>
              <a:rPr lang="en-US" sz="1100">
                <a:solidFill>
                  <a:srgbClr val="FFFFFF"/>
                </a:solidFill>
                <a:latin typeface="Consolas"/>
                <a:ea typeface="Consolas"/>
                <a:cs typeface="Consolas"/>
                <a:sym typeface="Consolas"/>
              </a:rPr>
              <a:t> status=</a:t>
            </a:r>
            <a:r>
              <a:rPr lang="en-US" sz="1100">
                <a:solidFill>
                  <a:srgbClr val="FBBF24"/>
                </a:solidFill>
                <a:latin typeface="Consolas"/>
                <a:ea typeface="Consolas"/>
                <a:cs typeface="Consolas"/>
                <a:sym typeface="Consolas"/>
              </a:rPr>
              <a:t>'PAID'</a:t>
            </a:r>
            <a:r>
              <a:rPr lang="en-US" sz="1100">
                <a:solidFill>
                  <a:srgbClr val="FFFFFF"/>
                </a:solidFill>
                <a:latin typeface="Consolas"/>
                <a:ea typeface="Consolas"/>
                <a:cs typeface="Consolas"/>
                <a:sym typeface="Consolas"/>
              </a:rPr>
              <a:t>;</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UPDATE</a:t>
            </a:r>
            <a:r>
              <a:rPr lang="en-US" sz="1100">
                <a:solidFill>
                  <a:srgbClr val="FFFFFF"/>
                </a:solidFill>
                <a:latin typeface="Consolas"/>
                <a:ea typeface="Consolas"/>
                <a:cs typeface="Consolas"/>
                <a:sym typeface="Consolas"/>
              </a:rPr>
              <a:t> Purchase_Orders </a:t>
            </a:r>
            <a:r>
              <a:rPr lang="en-US" sz="1100">
                <a:solidFill>
                  <a:srgbClr val="F472B6"/>
                </a:solidFill>
                <a:latin typeface="Consolas"/>
                <a:ea typeface="Consolas"/>
                <a:cs typeface="Consolas"/>
                <a:sym typeface="Consolas"/>
              </a:rPr>
              <a:t>SET</a:t>
            </a:r>
            <a:r>
              <a:rPr lang="en-US" sz="1100">
                <a:solidFill>
                  <a:srgbClr val="FFFFFF"/>
                </a:solidFill>
                <a:latin typeface="Consolas"/>
                <a:ea typeface="Consolas"/>
                <a:cs typeface="Consolas"/>
                <a:sym typeface="Consolas"/>
              </a:rPr>
              <a:t> status=</a:t>
            </a:r>
            <a:r>
              <a:rPr lang="en-US" sz="1100">
                <a:solidFill>
                  <a:srgbClr val="FBBF24"/>
                </a:solidFill>
                <a:latin typeface="Consolas"/>
                <a:ea typeface="Consolas"/>
                <a:cs typeface="Consolas"/>
                <a:sym typeface="Consolas"/>
              </a:rPr>
              <a:t>'PAID'</a:t>
            </a:r>
            <a:r>
              <a:rPr lang="en-US" sz="1100">
                <a:solidFill>
                  <a:srgbClr val="FFFFFF"/>
                </a:solidFill>
                <a:latin typeface="Consolas"/>
                <a:ea typeface="Consolas"/>
                <a:cs typeface="Consolas"/>
                <a:sym typeface="Consolas"/>
              </a:rPr>
              <a:t>;</a:t>
            </a:r>
            <a:br>
              <a:rPr lang="en-US" sz="1100">
                <a:solidFill>
                  <a:srgbClr val="FFFFFF"/>
                </a:solidFill>
                <a:latin typeface="Consolas"/>
                <a:ea typeface="Consolas"/>
                <a:cs typeface="Consolas"/>
                <a:sym typeface="Consolas"/>
              </a:rPr>
            </a:br>
            <a:r>
              <a:rPr lang="en-US" sz="1100">
                <a:solidFill>
                  <a:srgbClr val="F472B6"/>
                </a:solidFill>
                <a:latin typeface="Consolas"/>
                <a:ea typeface="Consolas"/>
                <a:cs typeface="Consolas"/>
                <a:sym typeface="Consolas"/>
              </a:rPr>
              <a:t>UPDATE</a:t>
            </a:r>
            <a:r>
              <a:rPr lang="en-US" sz="1100">
                <a:solidFill>
                  <a:srgbClr val="FFFFFF"/>
                </a:solidFill>
                <a:latin typeface="Consolas"/>
                <a:ea typeface="Consolas"/>
                <a:cs typeface="Consolas"/>
                <a:sym typeface="Consolas"/>
              </a:rPr>
              <a:t> Purchase_Requests </a:t>
            </a:r>
            <a:r>
              <a:rPr lang="en-US" sz="1100">
                <a:solidFill>
                  <a:srgbClr val="F472B6"/>
                </a:solidFill>
                <a:latin typeface="Consolas"/>
                <a:ea typeface="Consolas"/>
                <a:cs typeface="Consolas"/>
                <a:sym typeface="Consolas"/>
              </a:rPr>
              <a:t>SET</a:t>
            </a:r>
            <a:r>
              <a:rPr lang="en-US" sz="1100">
                <a:solidFill>
                  <a:srgbClr val="FFFFFF"/>
                </a:solidFill>
                <a:latin typeface="Consolas"/>
                <a:ea typeface="Consolas"/>
                <a:cs typeface="Consolas"/>
                <a:sym typeface="Consolas"/>
              </a:rPr>
              <a:t> ...;</a:t>
            </a:r>
            <a:endParaRPr sz="1100">
              <a:solidFill>
                <a:schemeClr val="dk1"/>
              </a:solidFill>
              <a:latin typeface="Calibri"/>
              <a:ea typeface="Calibri"/>
              <a:cs typeface="Calibri"/>
              <a:sym typeface="Calibri"/>
            </a:endParaRPr>
          </a:p>
        </p:txBody>
      </p:sp>
      <p:sp>
        <p:nvSpPr>
          <p:cNvPr id="677" name="Google Shape;677;p21"/>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05  Challenges &amp; Conclusion</a:t>
            </a:r>
            <a:endParaRPr sz="900">
              <a:solidFill>
                <a:schemeClr val="dk1"/>
              </a:solidFill>
              <a:latin typeface="Calibri"/>
              <a:ea typeface="Calibri"/>
              <a:cs typeface="Calibri"/>
              <a:sym typeface="Calibri"/>
            </a:endParaRPr>
          </a:p>
        </p:txBody>
      </p:sp>
      <p:sp>
        <p:nvSpPr>
          <p:cNvPr id="678" name="Google Shape;678;p21"/>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19</a:t>
            </a:r>
            <a:endParaRPr sz="9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3" name="Shape 683"/>
        <p:cNvGrpSpPr/>
        <p:nvPr/>
      </p:nvGrpSpPr>
      <p:grpSpPr>
        <a:xfrm>
          <a:off x="0" y="0"/>
          <a:ext cx="0" cy="0"/>
          <a:chOff x="0" y="0"/>
          <a:chExt cx="0" cy="0"/>
        </a:xfrm>
      </p:grpSpPr>
      <p:pic>
        <p:nvPicPr>
          <p:cNvPr descr="preencoded.png" id="684" name="Google Shape;684;p22"/>
          <p:cNvPicPr preferRelativeResize="0"/>
          <p:nvPr/>
        </p:nvPicPr>
        <p:blipFill rotWithShape="1">
          <a:blip r:embed="rId3">
            <a:alphaModFix/>
          </a:blip>
          <a:srcRect b="0" l="0" r="0" t="0"/>
          <a:stretch/>
        </p:blipFill>
        <p:spPr>
          <a:xfrm>
            <a:off x="457200" y="411480"/>
            <a:ext cx="164592" cy="164592"/>
          </a:xfrm>
          <a:prstGeom prst="rect">
            <a:avLst/>
          </a:prstGeom>
          <a:noFill/>
          <a:ln>
            <a:noFill/>
          </a:ln>
        </p:spPr>
      </p:pic>
      <p:sp>
        <p:nvSpPr>
          <p:cNvPr id="685" name="Google Shape;685;p22"/>
          <p:cNvSpPr/>
          <p:nvPr/>
        </p:nvSpPr>
        <p:spPr>
          <a:xfrm>
            <a:off x="713232" y="292608"/>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Key Learnings</a:t>
            </a:r>
            <a:endParaRPr sz="2800">
              <a:solidFill>
                <a:schemeClr val="dk1"/>
              </a:solidFill>
              <a:latin typeface="Calibri"/>
              <a:ea typeface="Calibri"/>
              <a:cs typeface="Calibri"/>
              <a:sym typeface="Calibri"/>
            </a:endParaRPr>
          </a:p>
        </p:txBody>
      </p:sp>
      <p:sp>
        <p:nvSpPr>
          <p:cNvPr id="686" name="Google Shape;686;p22"/>
          <p:cNvSpPr/>
          <p:nvPr/>
        </p:nvSpPr>
        <p:spPr>
          <a:xfrm>
            <a:off x="713232" y="7772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i="1" lang="en-US" sz="1300">
                <a:solidFill>
                  <a:srgbClr val="475569"/>
                </a:solidFill>
                <a:latin typeface="Calibri"/>
                <a:ea typeface="Calibri"/>
                <a:cs typeface="Calibri"/>
                <a:sym typeface="Calibri"/>
              </a:rPr>
              <a:t>What we took away from building this system</a:t>
            </a:r>
            <a:endParaRPr sz="1300">
              <a:solidFill>
                <a:schemeClr val="dk1"/>
              </a:solidFill>
              <a:latin typeface="Calibri"/>
              <a:ea typeface="Calibri"/>
              <a:cs typeface="Calibri"/>
              <a:sym typeface="Calibri"/>
            </a:endParaRPr>
          </a:p>
        </p:txBody>
      </p:sp>
      <p:sp>
        <p:nvSpPr>
          <p:cNvPr id="687" name="Google Shape;687;p22"/>
          <p:cNvSpPr/>
          <p:nvPr/>
        </p:nvSpPr>
        <p:spPr>
          <a:xfrm>
            <a:off x="9144000" y="411480"/>
            <a:ext cx="2560320" cy="411480"/>
          </a:xfrm>
          <a:prstGeom prst="roundRect">
            <a:avLst>
              <a:gd fmla="val 13333" name="adj"/>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22"/>
          <p:cNvSpPr/>
          <p:nvPr/>
        </p:nvSpPr>
        <p:spPr>
          <a:xfrm>
            <a:off x="9144000" y="411480"/>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lang="en-US" sz="1100">
                <a:solidFill>
                  <a:srgbClr val="1E2761"/>
                </a:solidFill>
                <a:latin typeface="Calibri"/>
                <a:ea typeface="Calibri"/>
                <a:cs typeface="Calibri"/>
                <a:sym typeface="Calibri"/>
              </a:rPr>
              <a:t>Priya</a:t>
            </a:r>
            <a:endParaRPr sz="1100">
              <a:solidFill>
                <a:schemeClr val="dk1"/>
              </a:solidFill>
              <a:latin typeface="Calibri"/>
              <a:ea typeface="Calibri"/>
              <a:cs typeface="Calibri"/>
              <a:sym typeface="Calibri"/>
            </a:endParaRPr>
          </a:p>
        </p:txBody>
      </p:sp>
      <p:sp>
        <p:nvSpPr>
          <p:cNvPr id="689" name="Google Shape;689;p22"/>
          <p:cNvSpPr/>
          <p:nvPr/>
        </p:nvSpPr>
        <p:spPr>
          <a:xfrm>
            <a:off x="457200" y="137160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22"/>
          <p:cNvSpPr/>
          <p:nvPr/>
        </p:nvSpPr>
        <p:spPr>
          <a:xfrm>
            <a:off x="685800" y="1645920"/>
            <a:ext cx="640080" cy="64008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91" name="Google Shape;691;p22"/>
          <p:cNvPicPr preferRelativeResize="0"/>
          <p:nvPr/>
        </p:nvPicPr>
        <p:blipFill rotWithShape="1">
          <a:blip r:embed="rId4">
            <a:alphaModFix/>
          </a:blip>
          <a:srcRect b="0" l="0" r="0" t="0"/>
          <a:stretch/>
        </p:blipFill>
        <p:spPr>
          <a:xfrm>
            <a:off x="804672" y="1764792"/>
            <a:ext cx="411480" cy="411480"/>
          </a:xfrm>
          <a:prstGeom prst="rect">
            <a:avLst/>
          </a:prstGeom>
          <a:noFill/>
          <a:ln>
            <a:noFill/>
          </a:ln>
        </p:spPr>
      </p:pic>
      <p:sp>
        <p:nvSpPr>
          <p:cNvPr id="692" name="Google Shape;692;p22"/>
          <p:cNvSpPr/>
          <p:nvPr/>
        </p:nvSpPr>
        <p:spPr>
          <a:xfrm>
            <a:off x="1463040" y="164592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Database Normalization</a:t>
            </a:r>
            <a:endParaRPr sz="1400">
              <a:solidFill>
                <a:schemeClr val="dk1"/>
              </a:solidFill>
              <a:latin typeface="Calibri"/>
              <a:ea typeface="Calibri"/>
              <a:cs typeface="Calibri"/>
              <a:sym typeface="Calibri"/>
            </a:endParaRPr>
          </a:p>
        </p:txBody>
      </p:sp>
      <p:sp>
        <p:nvSpPr>
          <p:cNvPr id="693" name="Google Shape;693;p22"/>
          <p:cNvSpPr/>
          <p:nvPr/>
        </p:nvSpPr>
        <p:spPr>
          <a:xfrm>
            <a:off x="685800" y="2286000"/>
            <a:ext cx="3246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Structured 16 tables to satisfy 3NF, eliminating redundancy and isolating financial records from operational data.</a:t>
            </a:r>
            <a:endParaRPr sz="1050">
              <a:solidFill>
                <a:schemeClr val="dk1"/>
              </a:solidFill>
              <a:latin typeface="Calibri"/>
              <a:ea typeface="Calibri"/>
              <a:cs typeface="Calibri"/>
              <a:sym typeface="Calibri"/>
            </a:endParaRPr>
          </a:p>
        </p:txBody>
      </p:sp>
      <p:sp>
        <p:nvSpPr>
          <p:cNvPr id="694" name="Google Shape;694;p22"/>
          <p:cNvSpPr/>
          <p:nvPr/>
        </p:nvSpPr>
        <p:spPr>
          <a:xfrm>
            <a:off x="4325112" y="137160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22"/>
          <p:cNvSpPr/>
          <p:nvPr/>
        </p:nvSpPr>
        <p:spPr>
          <a:xfrm>
            <a:off x="4553712" y="1645920"/>
            <a:ext cx="640080" cy="64008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96" name="Google Shape;696;p22"/>
          <p:cNvPicPr preferRelativeResize="0"/>
          <p:nvPr/>
        </p:nvPicPr>
        <p:blipFill rotWithShape="1">
          <a:blip r:embed="rId5">
            <a:alphaModFix/>
          </a:blip>
          <a:srcRect b="0" l="0" r="0" t="0"/>
          <a:stretch/>
        </p:blipFill>
        <p:spPr>
          <a:xfrm>
            <a:off x="4672584" y="1764792"/>
            <a:ext cx="411480" cy="411480"/>
          </a:xfrm>
          <a:prstGeom prst="rect">
            <a:avLst/>
          </a:prstGeom>
          <a:noFill/>
          <a:ln>
            <a:noFill/>
          </a:ln>
        </p:spPr>
      </p:pic>
      <p:sp>
        <p:nvSpPr>
          <p:cNvPr id="697" name="Google Shape;697;p22"/>
          <p:cNvSpPr/>
          <p:nvPr/>
        </p:nvSpPr>
        <p:spPr>
          <a:xfrm>
            <a:off x="5330952" y="164592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Referential Integrity</a:t>
            </a:r>
            <a:endParaRPr sz="1400">
              <a:solidFill>
                <a:schemeClr val="dk1"/>
              </a:solidFill>
              <a:latin typeface="Calibri"/>
              <a:ea typeface="Calibri"/>
              <a:cs typeface="Calibri"/>
              <a:sym typeface="Calibri"/>
            </a:endParaRPr>
          </a:p>
        </p:txBody>
      </p:sp>
      <p:sp>
        <p:nvSpPr>
          <p:cNvPr id="698" name="Google Shape;698;p22"/>
          <p:cNvSpPr/>
          <p:nvPr/>
        </p:nvSpPr>
        <p:spPr>
          <a:xfrm>
            <a:off x="4553712" y="2286000"/>
            <a:ext cx="3246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Managed 30+ foreign key dependencies and constraint chains. Orphaned records simply cannot exist in this schema.</a:t>
            </a:r>
            <a:endParaRPr sz="1050">
              <a:solidFill>
                <a:schemeClr val="dk1"/>
              </a:solidFill>
              <a:latin typeface="Calibri"/>
              <a:ea typeface="Calibri"/>
              <a:cs typeface="Calibri"/>
              <a:sym typeface="Calibri"/>
            </a:endParaRPr>
          </a:p>
        </p:txBody>
      </p:sp>
      <p:sp>
        <p:nvSpPr>
          <p:cNvPr id="699" name="Google Shape;699;p22"/>
          <p:cNvSpPr/>
          <p:nvPr/>
        </p:nvSpPr>
        <p:spPr>
          <a:xfrm>
            <a:off x="8193024" y="137160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22"/>
          <p:cNvSpPr/>
          <p:nvPr/>
        </p:nvSpPr>
        <p:spPr>
          <a:xfrm>
            <a:off x="8421624" y="1645920"/>
            <a:ext cx="640080" cy="64008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01" name="Google Shape;701;p22"/>
          <p:cNvPicPr preferRelativeResize="0"/>
          <p:nvPr/>
        </p:nvPicPr>
        <p:blipFill rotWithShape="1">
          <a:blip r:embed="rId6">
            <a:alphaModFix/>
          </a:blip>
          <a:srcRect b="0" l="0" r="0" t="0"/>
          <a:stretch/>
        </p:blipFill>
        <p:spPr>
          <a:xfrm>
            <a:off x="8540496" y="1764792"/>
            <a:ext cx="411480" cy="411480"/>
          </a:xfrm>
          <a:prstGeom prst="rect">
            <a:avLst/>
          </a:prstGeom>
          <a:noFill/>
          <a:ln>
            <a:noFill/>
          </a:ln>
        </p:spPr>
      </p:pic>
      <p:sp>
        <p:nvSpPr>
          <p:cNvPr id="702" name="Google Shape;702;p22"/>
          <p:cNvSpPr/>
          <p:nvPr/>
        </p:nvSpPr>
        <p:spPr>
          <a:xfrm>
            <a:off x="9198864" y="164592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Complex SQL Operations</a:t>
            </a:r>
            <a:endParaRPr sz="1400">
              <a:solidFill>
                <a:schemeClr val="dk1"/>
              </a:solidFill>
              <a:latin typeface="Calibri"/>
              <a:ea typeface="Calibri"/>
              <a:cs typeface="Calibri"/>
              <a:sym typeface="Calibri"/>
            </a:endParaRPr>
          </a:p>
        </p:txBody>
      </p:sp>
      <p:sp>
        <p:nvSpPr>
          <p:cNvPr id="703" name="Google Shape;703;p22"/>
          <p:cNvSpPr/>
          <p:nvPr/>
        </p:nvSpPr>
        <p:spPr>
          <a:xfrm>
            <a:off x="8421624" y="2286000"/>
            <a:ext cx="3246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Wrote multi-table JOINs, GROUP BY/HAVING aggregations, CTEs, and sequenced transactional updates spanning multiple tables.</a:t>
            </a:r>
            <a:endParaRPr sz="1050">
              <a:solidFill>
                <a:schemeClr val="dk1"/>
              </a:solidFill>
              <a:latin typeface="Calibri"/>
              <a:ea typeface="Calibri"/>
              <a:cs typeface="Calibri"/>
              <a:sym typeface="Calibri"/>
            </a:endParaRPr>
          </a:p>
        </p:txBody>
      </p:sp>
      <p:sp>
        <p:nvSpPr>
          <p:cNvPr id="704" name="Google Shape;704;p22"/>
          <p:cNvSpPr/>
          <p:nvPr/>
        </p:nvSpPr>
        <p:spPr>
          <a:xfrm>
            <a:off x="457200" y="306324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22"/>
          <p:cNvSpPr/>
          <p:nvPr/>
        </p:nvSpPr>
        <p:spPr>
          <a:xfrm>
            <a:off x="685800" y="3337560"/>
            <a:ext cx="640080" cy="64008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06" name="Google Shape;706;p22"/>
          <p:cNvPicPr preferRelativeResize="0"/>
          <p:nvPr/>
        </p:nvPicPr>
        <p:blipFill rotWithShape="1">
          <a:blip r:embed="rId7">
            <a:alphaModFix/>
          </a:blip>
          <a:srcRect b="0" l="0" r="0" t="0"/>
          <a:stretch/>
        </p:blipFill>
        <p:spPr>
          <a:xfrm>
            <a:off x="804672" y="3456432"/>
            <a:ext cx="411480" cy="411480"/>
          </a:xfrm>
          <a:prstGeom prst="rect">
            <a:avLst/>
          </a:prstGeom>
          <a:noFill/>
          <a:ln>
            <a:noFill/>
          </a:ln>
        </p:spPr>
      </p:pic>
      <p:sp>
        <p:nvSpPr>
          <p:cNvPr id="707" name="Google Shape;707;p22"/>
          <p:cNvSpPr/>
          <p:nvPr/>
        </p:nvSpPr>
        <p:spPr>
          <a:xfrm>
            <a:off x="1463040" y="333756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Full-Stack Integration</a:t>
            </a:r>
            <a:endParaRPr sz="1400">
              <a:solidFill>
                <a:schemeClr val="dk1"/>
              </a:solidFill>
              <a:latin typeface="Calibri"/>
              <a:ea typeface="Calibri"/>
              <a:cs typeface="Calibri"/>
              <a:sym typeface="Calibri"/>
            </a:endParaRPr>
          </a:p>
        </p:txBody>
      </p:sp>
      <p:sp>
        <p:nvSpPr>
          <p:cNvPr id="708" name="Google Shape;708;p22"/>
          <p:cNvSpPr/>
          <p:nvPr/>
        </p:nvSpPr>
        <p:spPr>
          <a:xfrm>
            <a:off x="685800" y="3977640"/>
            <a:ext cx="3246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Connected Flask to SQLite using Row factories, then routed dictionary-like records into Jinja templates.</a:t>
            </a:r>
            <a:endParaRPr sz="1050">
              <a:solidFill>
                <a:schemeClr val="dk1"/>
              </a:solidFill>
              <a:latin typeface="Calibri"/>
              <a:ea typeface="Calibri"/>
              <a:cs typeface="Calibri"/>
              <a:sym typeface="Calibri"/>
            </a:endParaRPr>
          </a:p>
        </p:txBody>
      </p:sp>
      <p:sp>
        <p:nvSpPr>
          <p:cNvPr id="709" name="Google Shape;709;p22"/>
          <p:cNvSpPr/>
          <p:nvPr/>
        </p:nvSpPr>
        <p:spPr>
          <a:xfrm>
            <a:off x="4325112" y="306324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22"/>
          <p:cNvSpPr/>
          <p:nvPr/>
        </p:nvSpPr>
        <p:spPr>
          <a:xfrm>
            <a:off x="4553712" y="3337560"/>
            <a:ext cx="640080" cy="64008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11" name="Google Shape;711;p22"/>
          <p:cNvPicPr preferRelativeResize="0"/>
          <p:nvPr/>
        </p:nvPicPr>
        <p:blipFill rotWithShape="1">
          <a:blip r:embed="rId8">
            <a:alphaModFix/>
          </a:blip>
          <a:srcRect b="0" l="0" r="0" t="0"/>
          <a:stretch/>
        </p:blipFill>
        <p:spPr>
          <a:xfrm>
            <a:off x="4672584" y="3456432"/>
            <a:ext cx="411480" cy="411480"/>
          </a:xfrm>
          <a:prstGeom prst="rect">
            <a:avLst/>
          </a:prstGeom>
          <a:noFill/>
          <a:ln>
            <a:noFill/>
          </a:ln>
        </p:spPr>
      </p:pic>
      <p:sp>
        <p:nvSpPr>
          <p:cNvPr id="712" name="Google Shape;712;p22"/>
          <p:cNvSpPr/>
          <p:nvPr/>
        </p:nvSpPr>
        <p:spPr>
          <a:xfrm>
            <a:off x="5330952" y="333756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Audit &amp; Security</a:t>
            </a:r>
            <a:endParaRPr sz="1400">
              <a:solidFill>
                <a:schemeClr val="dk1"/>
              </a:solidFill>
              <a:latin typeface="Calibri"/>
              <a:ea typeface="Calibri"/>
              <a:cs typeface="Calibri"/>
              <a:sym typeface="Calibri"/>
            </a:endParaRPr>
          </a:p>
        </p:txBody>
      </p:sp>
      <p:sp>
        <p:nvSpPr>
          <p:cNvPr id="713" name="Google Shape;713;p22"/>
          <p:cNvSpPr/>
          <p:nvPr/>
        </p:nvSpPr>
        <p:spPr>
          <a:xfrm>
            <a:off x="4553712" y="3977640"/>
            <a:ext cx="3246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Implemented IP+timestamp logging on every database mutation. Built role-based access enforced at both DB and application layers.</a:t>
            </a:r>
            <a:endParaRPr sz="1050">
              <a:solidFill>
                <a:schemeClr val="dk1"/>
              </a:solidFill>
              <a:latin typeface="Calibri"/>
              <a:ea typeface="Calibri"/>
              <a:cs typeface="Calibri"/>
              <a:sym typeface="Calibri"/>
            </a:endParaRPr>
          </a:p>
        </p:txBody>
      </p:sp>
      <p:sp>
        <p:nvSpPr>
          <p:cNvPr id="714" name="Google Shape;714;p22"/>
          <p:cNvSpPr/>
          <p:nvPr/>
        </p:nvSpPr>
        <p:spPr>
          <a:xfrm>
            <a:off x="8193024" y="3063240"/>
            <a:ext cx="3703320" cy="1508760"/>
          </a:xfrm>
          <a:prstGeom prst="rect">
            <a:avLst/>
          </a:prstGeom>
          <a:solidFill>
            <a:srgbClr val="F8FAFC"/>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22"/>
          <p:cNvSpPr/>
          <p:nvPr/>
        </p:nvSpPr>
        <p:spPr>
          <a:xfrm>
            <a:off x="8421624" y="3337560"/>
            <a:ext cx="640080" cy="640080"/>
          </a:xfrm>
          <a:prstGeom prst="ellipse">
            <a:avLst/>
          </a:prstGeom>
          <a:solidFill>
            <a:srgbClr val="ED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16" name="Google Shape;716;p22"/>
          <p:cNvPicPr preferRelativeResize="0"/>
          <p:nvPr/>
        </p:nvPicPr>
        <p:blipFill rotWithShape="1">
          <a:blip r:embed="rId9">
            <a:alphaModFix/>
          </a:blip>
          <a:srcRect b="0" l="0" r="0" t="0"/>
          <a:stretch/>
        </p:blipFill>
        <p:spPr>
          <a:xfrm>
            <a:off x="8540496" y="3456432"/>
            <a:ext cx="411480" cy="411480"/>
          </a:xfrm>
          <a:prstGeom prst="rect">
            <a:avLst/>
          </a:prstGeom>
          <a:noFill/>
          <a:ln>
            <a:noFill/>
          </a:ln>
        </p:spPr>
      </p:pic>
      <p:sp>
        <p:nvSpPr>
          <p:cNvPr id="717" name="Google Shape;717;p22"/>
          <p:cNvSpPr/>
          <p:nvPr/>
        </p:nvSpPr>
        <p:spPr>
          <a:xfrm>
            <a:off x="9198864" y="333756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Real-World KPI Design</a:t>
            </a:r>
            <a:endParaRPr sz="1400">
              <a:solidFill>
                <a:schemeClr val="dk1"/>
              </a:solidFill>
              <a:latin typeface="Calibri"/>
              <a:ea typeface="Calibri"/>
              <a:cs typeface="Calibri"/>
              <a:sym typeface="Calibri"/>
            </a:endParaRPr>
          </a:p>
        </p:txBody>
      </p:sp>
      <p:sp>
        <p:nvSpPr>
          <p:cNvPr id="718" name="Google Shape;718;p22"/>
          <p:cNvSpPr/>
          <p:nvPr/>
        </p:nvSpPr>
        <p:spPr>
          <a:xfrm>
            <a:off x="8421624" y="3977640"/>
            <a:ext cx="3246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Translated business questions (budget %, outstanding balances) into aggregate SQL that drives live dashboard metrics.</a:t>
            </a:r>
            <a:endParaRPr sz="1050">
              <a:solidFill>
                <a:schemeClr val="dk1"/>
              </a:solidFill>
              <a:latin typeface="Calibri"/>
              <a:ea typeface="Calibri"/>
              <a:cs typeface="Calibri"/>
              <a:sym typeface="Calibri"/>
            </a:endParaRPr>
          </a:p>
        </p:txBody>
      </p:sp>
      <p:sp>
        <p:nvSpPr>
          <p:cNvPr id="719" name="Google Shape;719;p22"/>
          <p:cNvSpPr/>
          <p:nvPr/>
        </p:nvSpPr>
        <p:spPr>
          <a:xfrm>
            <a:off x="457200" y="5074920"/>
            <a:ext cx="11247120" cy="118872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20" name="Google Shape;720;p22"/>
          <p:cNvPicPr preferRelativeResize="0"/>
          <p:nvPr/>
        </p:nvPicPr>
        <p:blipFill rotWithShape="1">
          <a:blip r:embed="rId10">
            <a:alphaModFix/>
          </a:blip>
          <a:srcRect b="0" l="0" r="0" t="0"/>
          <a:stretch/>
        </p:blipFill>
        <p:spPr>
          <a:xfrm>
            <a:off x="731520" y="5349240"/>
            <a:ext cx="502920" cy="502920"/>
          </a:xfrm>
          <a:prstGeom prst="rect">
            <a:avLst/>
          </a:prstGeom>
          <a:noFill/>
          <a:ln>
            <a:noFill/>
          </a:ln>
        </p:spPr>
      </p:pic>
      <p:sp>
        <p:nvSpPr>
          <p:cNvPr id="721" name="Google Shape;721;p22"/>
          <p:cNvSpPr/>
          <p:nvPr/>
        </p:nvSpPr>
        <p:spPr>
          <a:xfrm>
            <a:off x="1371600" y="516636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600"/>
              <a:buFont typeface="Calibri"/>
              <a:buNone/>
            </a:pPr>
            <a:r>
              <a:rPr b="1" lang="en-US" sz="1600">
                <a:solidFill>
                  <a:srgbClr val="D4AF37"/>
                </a:solidFill>
                <a:latin typeface="Calibri"/>
                <a:ea typeface="Calibri"/>
                <a:cs typeface="Calibri"/>
                <a:sym typeface="Calibri"/>
              </a:rPr>
              <a:t>Future Improvements</a:t>
            </a:r>
            <a:endParaRPr sz="1600">
              <a:solidFill>
                <a:schemeClr val="dk1"/>
              </a:solidFill>
              <a:latin typeface="Calibri"/>
              <a:ea typeface="Calibri"/>
              <a:cs typeface="Calibri"/>
              <a:sym typeface="Calibri"/>
            </a:endParaRPr>
          </a:p>
        </p:txBody>
      </p:sp>
      <p:sp>
        <p:nvSpPr>
          <p:cNvPr id="722" name="Google Shape;722;p22"/>
          <p:cNvSpPr/>
          <p:nvPr/>
        </p:nvSpPr>
        <p:spPr>
          <a:xfrm>
            <a:off x="1371600" y="5532120"/>
            <a:ext cx="100584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PostgreSQL migration </a:t>
            </a:r>
            <a:r>
              <a:rPr lang="en-US" sz="1250">
                <a:solidFill>
                  <a:srgbClr val="CADCFC"/>
                </a:solidFill>
                <a:latin typeface="Calibri"/>
                <a:ea typeface="Calibri"/>
                <a:cs typeface="Calibri"/>
                <a:sym typeface="Calibri"/>
              </a:rPr>
              <a:t>for concurrent writes      </a:t>
            </a:r>
            <a:r>
              <a:rPr b="1" lang="en-US" sz="1250">
                <a:solidFill>
                  <a:srgbClr val="FFFFFF"/>
                </a:solidFill>
                <a:latin typeface="Calibri"/>
                <a:ea typeface="Calibri"/>
                <a:cs typeface="Calibri"/>
                <a:sym typeface="Calibri"/>
              </a:rPr>
              <a:t>•   Email notifications </a:t>
            </a:r>
            <a:r>
              <a:rPr lang="en-US" sz="1250">
                <a:solidFill>
                  <a:srgbClr val="CADCFC"/>
                </a:solidFill>
                <a:latin typeface="Calibri"/>
                <a:ea typeface="Calibri"/>
                <a:cs typeface="Calibri"/>
                <a:sym typeface="Calibri"/>
              </a:rPr>
              <a:t>via SendGrid      </a:t>
            </a:r>
            <a:r>
              <a:rPr b="1" lang="en-US" sz="1250">
                <a:solidFill>
                  <a:srgbClr val="FFFFFF"/>
                </a:solidFill>
                <a:latin typeface="Calibri"/>
                <a:ea typeface="Calibri"/>
                <a:cs typeface="Calibri"/>
                <a:sym typeface="Calibri"/>
              </a:rPr>
              <a:t>•   REST API </a:t>
            </a:r>
            <a:r>
              <a:rPr lang="en-US" sz="1250">
                <a:solidFill>
                  <a:srgbClr val="CADCFC"/>
                </a:solidFill>
                <a:latin typeface="Calibri"/>
                <a:ea typeface="Calibri"/>
                <a:cs typeface="Calibri"/>
                <a:sym typeface="Calibri"/>
              </a:rPr>
              <a:t>for vendor system integration</a:t>
            </a:r>
            <a:endParaRPr sz="1250">
              <a:solidFill>
                <a:schemeClr val="dk1"/>
              </a:solidFill>
              <a:latin typeface="Calibri"/>
              <a:ea typeface="Calibri"/>
              <a:cs typeface="Calibri"/>
              <a:sym typeface="Calibri"/>
            </a:endParaRPr>
          </a:p>
        </p:txBody>
      </p:sp>
      <p:sp>
        <p:nvSpPr>
          <p:cNvPr id="723" name="Google Shape;723;p22"/>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05  Challenges &amp; Conclusion</a:t>
            </a:r>
            <a:endParaRPr sz="900">
              <a:solidFill>
                <a:schemeClr val="dk1"/>
              </a:solidFill>
              <a:latin typeface="Calibri"/>
              <a:ea typeface="Calibri"/>
              <a:cs typeface="Calibri"/>
              <a:sym typeface="Calibri"/>
            </a:endParaRPr>
          </a:p>
        </p:txBody>
      </p:sp>
      <p:sp>
        <p:nvSpPr>
          <p:cNvPr id="724" name="Google Shape;724;p22"/>
          <p:cNvSpPr/>
          <p:nvPr/>
        </p:nvSpPr>
        <p:spPr>
          <a:xfrm>
            <a:off x="8961120" y="6492240"/>
            <a:ext cx="2743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Team 3  •  Slide 20</a:t>
            </a:r>
            <a:endParaRPr sz="9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838"/>
        </a:solidFill>
      </p:bgPr>
    </p:bg>
    <p:spTree>
      <p:nvGrpSpPr>
        <p:cNvPr id="729" name="Shape 729"/>
        <p:cNvGrpSpPr/>
        <p:nvPr/>
      </p:nvGrpSpPr>
      <p:grpSpPr>
        <a:xfrm>
          <a:off x="0" y="0"/>
          <a:ext cx="0" cy="0"/>
          <a:chOff x="0" y="0"/>
          <a:chExt cx="0" cy="0"/>
        </a:xfrm>
      </p:grpSpPr>
      <p:sp>
        <p:nvSpPr>
          <p:cNvPr id="730" name="Google Shape;730;p23"/>
          <p:cNvSpPr/>
          <p:nvPr/>
        </p:nvSpPr>
        <p:spPr>
          <a:xfrm>
            <a:off x="457200" y="457200"/>
            <a:ext cx="73152" cy="73152"/>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23"/>
          <p:cNvSpPr/>
          <p:nvPr/>
        </p:nvSpPr>
        <p:spPr>
          <a:xfrm>
            <a:off x="822960" y="502920"/>
            <a:ext cx="73152" cy="73152"/>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23"/>
          <p:cNvSpPr/>
          <p:nvPr/>
        </p:nvSpPr>
        <p:spPr>
          <a:xfrm>
            <a:off x="1188720" y="548640"/>
            <a:ext cx="73152" cy="73152"/>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p23"/>
          <p:cNvSpPr/>
          <p:nvPr/>
        </p:nvSpPr>
        <p:spPr>
          <a:xfrm>
            <a:off x="914400" y="1463040"/>
            <a:ext cx="103327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Georgia"/>
              <a:buNone/>
            </a:pPr>
            <a:r>
              <a:rPr b="1" lang="en-US" sz="6400">
                <a:solidFill>
                  <a:srgbClr val="FFFFFF"/>
                </a:solidFill>
                <a:latin typeface="Georgia"/>
                <a:ea typeface="Georgia"/>
                <a:cs typeface="Georgia"/>
                <a:sym typeface="Georgia"/>
              </a:rPr>
              <a:t>THANK YOU</a:t>
            </a:r>
            <a:endParaRPr sz="6400">
              <a:solidFill>
                <a:schemeClr val="dk1"/>
              </a:solidFill>
              <a:latin typeface="Calibri"/>
              <a:ea typeface="Calibri"/>
              <a:cs typeface="Calibri"/>
              <a:sym typeface="Calibri"/>
            </a:endParaRPr>
          </a:p>
        </p:txBody>
      </p:sp>
      <p:sp>
        <p:nvSpPr>
          <p:cNvPr id="734" name="Google Shape;734;p23"/>
          <p:cNvSpPr/>
          <p:nvPr/>
        </p:nvSpPr>
        <p:spPr>
          <a:xfrm>
            <a:off x="914400" y="2468880"/>
            <a:ext cx="1371600" cy="64008"/>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23"/>
          <p:cNvSpPr/>
          <p:nvPr/>
        </p:nvSpPr>
        <p:spPr>
          <a:xfrm>
            <a:off x="914400" y="2651760"/>
            <a:ext cx="10332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2800"/>
              <a:buFont typeface="Georgia"/>
              <a:buNone/>
            </a:pPr>
            <a:r>
              <a:rPr i="1" lang="en-US" sz="2800">
                <a:solidFill>
                  <a:srgbClr val="CADCFC"/>
                </a:solidFill>
                <a:latin typeface="Georgia"/>
                <a:ea typeface="Georgia"/>
                <a:cs typeface="Georgia"/>
                <a:sym typeface="Georgia"/>
              </a:rPr>
              <a:t>Questions &amp; Discussion</a:t>
            </a:r>
            <a:endParaRPr sz="2800">
              <a:solidFill>
                <a:schemeClr val="dk1"/>
              </a:solidFill>
              <a:latin typeface="Calibri"/>
              <a:ea typeface="Calibri"/>
              <a:cs typeface="Calibri"/>
              <a:sym typeface="Calibri"/>
            </a:endParaRPr>
          </a:p>
        </p:txBody>
      </p:sp>
      <p:sp>
        <p:nvSpPr>
          <p:cNvPr id="736" name="Google Shape;736;p23"/>
          <p:cNvSpPr/>
          <p:nvPr/>
        </p:nvSpPr>
        <p:spPr>
          <a:xfrm>
            <a:off x="320040" y="4206240"/>
            <a:ext cx="3657600" cy="13716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23"/>
          <p:cNvSpPr/>
          <p:nvPr/>
        </p:nvSpPr>
        <p:spPr>
          <a:xfrm>
            <a:off x="320040" y="4206240"/>
            <a:ext cx="3657600" cy="54864"/>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38" name="Google Shape;738;p23"/>
          <p:cNvPicPr preferRelativeResize="0"/>
          <p:nvPr/>
        </p:nvPicPr>
        <p:blipFill rotWithShape="1">
          <a:blip r:embed="rId3">
            <a:alphaModFix/>
          </a:blip>
          <a:srcRect b="0" l="0" r="0" t="0"/>
          <a:stretch/>
        </p:blipFill>
        <p:spPr>
          <a:xfrm>
            <a:off x="594360" y="4572000"/>
            <a:ext cx="457200" cy="457200"/>
          </a:xfrm>
          <a:prstGeom prst="rect">
            <a:avLst/>
          </a:prstGeom>
          <a:noFill/>
          <a:ln>
            <a:noFill/>
          </a:ln>
        </p:spPr>
      </p:pic>
      <p:sp>
        <p:nvSpPr>
          <p:cNvPr id="739" name="Google Shape;739;p23"/>
          <p:cNvSpPr/>
          <p:nvPr/>
        </p:nvSpPr>
        <p:spPr>
          <a:xfrm>
            <a:off x="594360" y="4526280"/>
            <a:ext cx="548640" cy="54864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40" name="Google Shape;740;p23"/>
          <p:cNvPicPr preferRelativeResize="0"/>
          <p:nvPr/>
        </p:nvPicPr>
        <p:blipFill rotWithShape="1">
          <a:blip r:embed="rId3">
            <a:alphaModFix/>
          </a:blip>
          <a:srcRect b="0" l="0" r="0" t="0"/>
          <a:stretch/>
        </p:blipFill>
        <p:spPr>
          <a:xfrm>
            <a:off x="685800" y="4617720"/>
            <a:ext cx="365760" cy="365760"/>
          </a:xfrm>
          <a:prstGeom prst="rect">
            <a:avLst/>
          </a:prstGeom>
          <a:noFill/>
          <a:ln>
            <a:noFill/>
          </a:ln>
        </p:spPr>
      </p:pic>
      <p:sp>
        <p:nvSpPr>
          <p:cNvPr id="741" name="Google Shape;741;p23"/>
          <p:cNvSpPr/>
          <p:nvPr/>
        </p:nvSpPr>
        <p:spPr>
          <a:xfrm>
            <a:off x="1280160" y="4526280"/>
            <a:ext cx="2560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LIVE APP</a:t>
            </a:r>
            <a:endParaRPr sz="1100">
              <a:solidFill>
                <a:schemeClr val="dk1"/>
              </a:solidFill>
              <a:latin typeface="Calibri"/>
              <a:ea typeface="Calibri"/>
              <a:cs typeface="Calibri"/>
              <a:sym typeface="Calibri"/>
            </a:endParaRPr>
          </a:p>
        </p:txBody>
      </p:sp>
      <p:sp>
        <p:nvSpPr>
          <p:cNvPr id="742" name="Google Shape;742;p23"/>
          <p:cNvSpPr/>
          <p:nvPr/>
        </p:nvSpPr>
        <p:spPr>
          <a:xfrm>
            <a:off x="1280160" y="4846320"/>
            <a:ext cx="25603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onsolas"/>
              <a:buNone/>
            </a:pPr>
            <a:r>
              <a:rPr lang="en-US" sz="1100">
                <a:solidFill>
                  <a:srgbClr val="FFFFFF"/>
                </a:solidFill>
                <a:latin typeface="Consolas"/>
                <a:ea typeface="Consolas"/>
                <a:cs typeface="Consolas"/>
                <a:sym typeface="Consolas"/>
              </a:rPr>
              <a:t>procurement-system-peach.vercel.app</a:t>
            </a:r>
            <a:endParaRPr sz="1100">
              <a:solidFill>
                <a:schemeClr val="dk1"/>
              </a:solidFill>
              <a:latin typeface="Calibri"/>
              <a:ea typeface="Calibri"/>
              <a:cs typeface="Calibri"/>
              <a:sym typeface="Calibri"/>
            </a:endParaRPr>
          </a:p>
        </p:txBody>
      </p:sp>
      <p:sp>
        <p:nvSpPr>
          <p:cNvPr id="743" name="Google Shape;743;p23"/>
          <p:cNvSpPr/>
          <p:nvPr/>
        </p:nvSpPr>
        <p:spPr>
          <a:xfrm>
            <a:off x="4251960" y="4206240"/>
            <a:ext cx="3657600" cy="13716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23"/>
          <p:cNvSpPr/>
          <p:nvPr/>
        </p:nvSpPr>
        <p:spPr>
          <a:xfrm>
            <a:off x="4251960" y="4206240"/>
            <a:ext cx="3657600" cy="54864"/>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45" name="Google Shape;745;p23"/>
          <p:cNvPicPr preferRelativeResize="0"/>
          <p:nvPr/>
        </p:nvPicPr>
        <p:blipFill rotWithShape="1">
          <a:blip r:embed="rId4">
            <a:alphaModFix/>
          </a:blip>
          <a:srcRect b="0" l="0" r="0" t="0"/>
          <a:stretch/>
        </p:blipFill>
        <p:spPr>
          <a:xfrm>
            <a:off x="4526280" y="4572000"/>
            <a:ext cx="457200" cy="457200"/>
          </a:xfrm>
          <a:prstGeom prst="rect">
            <a:avLst/>
          </a:prstGeom>
          <a:noFill/>
          <a:ln>
            <a:noFill/>
          </a:ln>
        </p:spPr>
      </p:pic>
      <p:sp>
        <p:nvSpPr>
          <p:cNvPr id="746" name="Google Shape;746;p23"/>
          <p:cNvSpPr/>
          <p:nvPr/>
        </p:nvSpPr>
        <p:spPr>
          <a:xfrm>
            <a:off x="4526280" y="4526280"/>
            <a:ext cx="548640" cy="54864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47" name="Google Shape;747;p23"/>
          <p:cNvPicPr preferRelativeResize="0"/>
          <p:nvPr/>
        </p:nvPicPr>
        <p:blipFill rotWithShape="1">
          <a:blip r:embed="rId4">
            <a:alphaModFix/>
          </a:blip>
          <a:srcRect b="0" l="0" r="0" t="0"/>
          <a:stretch/>
        </p:blipFill>
        <p:spPr>
          <a:xfrm>
            <a:off x="4617720" y="4617720"/>
            <a:ext cx="365760" cy="365760"/>
          </a:xfrm>
          <a:prstGeom prst="rect">
            <a:avLst/>
          </a:prstGeom>
          <a:noFill/>
          <a:ln>
            <a:noFill/>
          </a:ln>
        </p:spPr>
      </p:pic>
      <p:sp>
        <p:nvSpPr>
          <p:cNvPr id="748" name="Google Shape;748;p23"/>
          <p:cNvSpPr/>
          <p:nvPr/>
        </p:nvSpPr>
        <p:spPr>
          <a:xfrm>
            <a:off x="5212080" y="4526280"/>
            <a:ext cx="2560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TEAM 3</a:t>
            </a:r>
            <a:endParaRPr sz="1100">
              <a:solidFill>
                <a:schemeClr val="dk1"/>
              </a:solidFill>
              <a:latin typeface="Calibri"/>
              <a:ea typeface="Calibri"/>
              <a:cs typeface="Calibri"/>
              <a:sym typeface="Calibri"/>
            </a:endParaRPr>
          </a:p>
        </p:txBody>
      </p:sp>
      <p:sp>
        <p:nvSpPr>
          <p:cNvPr id="749" name="Google Shape;749;p23"/>
          <p:cNvSpPr/>
          <p:nvPr/>
        </p:nvSpPr>
        <p:spPr>
          <a:xfrm>
            <a:off x="5212080" y="4846320"/>
            <a:ext cx="25603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onsolas"/>
              <a:buNone/>
            </a:pPr>
            <a:r>
              <a:rPr lang="en-US" sz="1100">
                <a:solidFill>
                  <a:srgbClr val="FFFFFF"/>
                </a:solidFill>
                <a:latin typeface="Consolas"/>
                <a:ea typeface="Consolas"/>
                <a:cs typeface="Consolas"/>
                <a:sym typeface="Consolas"/>
              </a:rPr>
              <a:t>Nisarg • Smit • Parva • Swet • Priya</a:t>
            </a:r>
            <a:endParaRPr sz="1100">
              <a:solidFill>
                <a:schemeClr val="dk1"/>
              </a:solidFill>
              <a:latin typeface="Calibri"/>
              <a:ea typeface="Calibri"/>
              <a:cs typeface="Calibri"/>
              <a:sym typeface="Calibri"/>
            </a:endParaRPr>
          </a:p>
        </p:txBody>
      </p:sp>
      <p:sp>
        <p:nvSpPr>
          <p:cNvPr id="750" name="Google Shape;750;p23"/>
          <p:cNvSpPr/>
          <p:nvPr/>
        </p:nvSpPr>
        <p:spPr>
          <a:xfrm>
            <a:off x="8183880" y="4206240"/>
            <a:ext cx="3657600" cy="1371600"/>
          </a:xfrm>
          <a:prstGeom prst="rect">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23"/>
          <p:cNvSpPr/>
          <p:nvPr/>
        </p:nvSpPr>
        <p:spPr>
          <a:xfrm>
            <a:off x="8183880" y="4206240"/>
            <a:ext cx="3657600" cy="54864"/>
          </a:xfrm>
          <a:prstGeom prst="rect">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52" name="Google Shape;752;p23"/>
          <p:cNvPicPr preferRelativeResize="0"/>
          <p:nvPr/>
        </p:nvPicPr>
        <p:blipFill rotWithShape="1">
          <a:blip r:embed="rId5">
            <a:alphaModFix/>
          </a:blip>
          <a:srcRect b="0" l="0" r="0" t="0"/>
          <a:stretch/>
        </p:blipFill>
        <p:spPr>
          <a:xfrm>
            <a:off x="8458200" y="4572000"/>
            <a:ext cx="457200" cy="457200"/>
          </a:xfrm>
          <a:prstGeom prst="rect">
            <a:avLst/>
          </a:prstGeom>
          <a:noFill/>
          <a:ln>
            <a:noFill/>
          </a:ln>
        </p:spPr>
      </p:pic>
      <p:sp>
        <p:nvSpPr>
          <p:cNvPr id="753" name="Google Shape;753;p23"/>
          <p:cNvSpPr/>
          <p:nvPr/>
        </p:nvSpPr>
        <p:spPr>
          <a:xfrm>
            <a:off x="8458200" y="4526280"/>
            <a:ext cx="548640" cy="548640"/>
          </a:xfrm>
          <a:prstGeom prst="ellipse">
            <a:avLst/>
          </a:prstGeom>
          <a:solidFill>
            <a:srgbClr val="D4A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54" name="Google Shape;754;p23"/>
          <p:cNvPicPr preferRelativeResize="0"/>
          <p:nvPr/>
        </p:nvPicPr>
        <p:blipFill rotWithShape="1">
          <a:blip r:embed="rId5">
            <a:alphaModFix/>
          </a:blip>
          <a:srcRect b="0" l="0" r="0" t="0"/>
          <a:stretch/>
        </p:blipFill>
        <p:spPr>
          <a:xfrm>
            <a:off x="8549640" y="4617720"/>
            <a:ext cx="365760" cy="365760"/>
          </a:xfrm>
          <a:prstGeom prst="rect">
            <a:avLst/>
          </a:prstGeom>
          <a:noFill/>
          <a:ln>
            <a:noFill/>
          </a:ln>
        </p:spPr>
      </p:pic>
      <p:sp>
        <p:nvSpPr>
          <p:cNvPr id="755" name="Google Shape;755;p23"/>
          <p:cNvSpPr/>
          <p:nvPr/>
        </p:nvSpPr>
        <p:spPr>
          <a:xfrm>
            <a:off x="9144000" y="4526280"/>
            <a:ext cx="2560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100"/>
              <a:buFont typeface="Calibri"/>
              <a:buNone/>
            </a:pPr>
            <a:r>
              <a:rPr b="1" lang="en-US" sz="1100">
                <a:solidFill>
                  <a:srgbClr val="D4AF37"/>
                </a:solidFill>
                <a:latin typeface="Calibri"/>
                <a:ea typeface="Calibri"/>
                <a:cs typeface="Calibri"/>
                <a:sym typeface="Calibri"/>
              </a:rPr>
              <a:t>COURSE</a:t>
            </a:r>
            <a:endParaRPr sz="1100">
              <a:solidFill>
                <a:schemeClr val="dk1"/>
              </a:solidFill>
              <a:latin typeface="Calibri"/>
              <a:ea typeface="Calibri"/>
              <a:cs typeface="Calibri"/>
              <a:sym typeface="Calibri"/>
            </a:endParaRPr>
          </a:p>
        </p:txBody>
      </p:sp>
      <p:sp>
        <p:nvSpPr>
          <p:cNvPr id="756" name="Google Shape;756;p23"/>
          <p:cNvSpPr/>
          <p:nvPr/>
        </p:nvSpPr>
        <p:spPr>
          <a:xfrm>
            <a:off x="9144000" y="4846320"/>
            <a:ext cx="25603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onsolas"/>
              <a:buNone/>
            </a:pPr>
            <a:r>
              <a:rPr lang="en-US" sz="1100">
                <a:solidFill>
                  <a:srgbClr val="FFFFFF"/>
                </a:solidFill>
                <a:latin typeface="Consolas"/>
                <a:ea typeface="Consolas"/>
                <a:cs typeface="Consolas"/>
                <a:sym typeface="Consolas"/>
              </a:rPr>
              <a:t>Database Management Tools</a:t>
            </a:r>
            <a:endParaRPr sz="1100">
              <a:solidFill>
                <a:schemeClr val="dk1"/>
              </a:solidFill>
              <a:latin typeface="Calibri"/>
              <a:ea typeface="Calibri"/>
              <a:cs typeface="Calibri"/>
              <a:sym typeface="Calibri"/>
            </a:endParaRPr>
          </a:p>
        </p:txBody>
      </p:sp>
      <p:sp>
        <p:nvSpPr>
          <p:cNvPr id="757" name="Google Shape;757;p23"/>
          <p:cNvSpPr/>
          <p:nvPr/>
        </p:nvSpPr>
        <p:spPr>
          <a:xfrm>
            <a:off x="0" y="6309360"/>
            <a:ext cx="12161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Database Management Tools  •  Final Project  •  Team 3</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