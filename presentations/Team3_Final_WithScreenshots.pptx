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Multi-Vendor Procurement</a:t>
            </a:r>
          </a:p>
          <a:p>
            <a:pPr>
              <a:defRPr sz="2800">
                <a:solidFill>
                  <a:srgbClr val="A761FF"/>
                </a:solidFill>
                <a:latin typeface="Calibri"/>
              </a:defRPr>
            </a:pPr>
            <a:r>
              <a:t>&amp; Purchase Order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B9C8"/>
                </a:solidFill>
                <a:latin typeface="Calibri"/>
              </a:defRPr>
            </a:pPr>
            <a:r>
              <a:t>Database Management Tools  |  Final Project  |  Team 3</a:t>
            </a:r>
          </a:p>
          <a:p>
            <a:pPr>
              <a:defRPr sz="1600">
                <a:solidFill>
                  <a:srgbClr val="B4B9C8"/>
                </a:solidFill>
                <a:latin typeface="Calibri"/>
              </a:defRPr>
            </a:pPr>
            <a:r>
              <a:t>Python Flask · SQLite · Firebase Auth ·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C8FF"/>
                </a:solidFill>
                <a:latin typeface="Calibri"/>
              </a:defRPr>
            </a:pPr>
            <a:r>
              <a:t>🌐  Live at: procurement-system-peach.vercel.app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  <a:br/>
            <a:r>
              <a:t>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Problem We Solved: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Large organizations have fragmented procurement — no single source of truth.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Budgets bleed without real-time tracking per department.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No enforced audit trail — who approved what and when?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Our Solution: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 6-role enterprise procurement platform with full lifecycle tracking.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Rigid state-machine preventing any out-of-order transactions.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Every action logged with IP, user, and timestamp.</a:t>
            </a:r>
          </a:p>
        </p:txBody>
      </p:sp>
      <p:pic>
        <p:nvPicPr>
          <p:cNvPr id="7" name="Picture 6" descr="admin_dashboard_final_17769541828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947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The Procurement</a:t>
            </a:r>
            <a:br/>
            <a:r>
              <a:t>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61FF"/>
                </a:solidFill>
                <a:latin typeface="Calibri"/>
              </a:defRPr>
            </a:pPr>
            <a:r>
              <a:t>5 PHASES · 16 TABLES · 6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1 – Employee Request: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PR created → Status: PENDING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2 – Manager Approval: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Decision logged → Status: APPROVED / REJECTED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3 – Purchase Order: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 assigned → Status: PO_ISSUED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4 – Vendor Ships: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Goods Receipt created → Status: SHIPPED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5 – Finance Pays: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Invoice processed → Status: INVOICED → PAID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Live Demo:</a:t>
            </a:r>
            <a:br/>
            <a:r>
              <a:t>The System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61FF"/>
                </a:solidFill>
                <a:latin typeface="Calibri"/>
              </a:defRPr>
            </a:pPr>
            <a:r>
              <a:t>AUTHENTICATION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Live Site: procurement-system-peach.vercel.app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Happens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Firebase Auth verifies email/password on the client side.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Flask backend then queries the Users + Roles tables by email.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On match → session created via Flask-Login.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Audit_Log table receives an INSERT: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  → user_id, action='LOGIN', ip_address, timestamp (CT)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Test Credentials (all roles use password: 123456):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employee@test.com  |  manager@test.com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procurement@test.com  |  vendor@test.com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finance@test.com  |  admin@test.com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Users · Roles · Audit_Log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Phase 1: Employee</a:t>
            </a:r>
            <a:br/>
            <a:r>
              <a:t>Submits a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EMPLOYEE@TEST.COM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Entered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Item: Dell XPS 15 Laptop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Quantity: 5 units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Est. Cost per unit: $2,000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Est. Value: $10,000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Justification: Required for new IT hires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Purchase_Requests table.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status automatically set to 'PENDING'.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PR_Status_History (NONE → PENDING).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Employee dashboard shows doughnut chart updating.</a:t>
            </a:r>
          </a:p>
        </p:txBody>
      </p:sp>
      <p:pic>
        <p:nvPicPr>
          <p:cNvPr id="8" name="Picture 7" descr="employee_dashboard_final_17769539477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94760" cy="6400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Purchase_Requests · PR_Status_History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Phase 2: Manager</a:t>
            </a:r>
            <a:br/>
            <a:r>
              <a:t>Reviews &amp; Approves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MANAGER@TEST.COM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Manager's Dashboard Shows: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Budget: $100,000 (green)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Budget Used: $0 (red — safe to approve!)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Pending Team Approvals list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Manager reviews Dell XPS 15 ($10,000 request)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Adds comment: 'Approved for Q3 expansion - budget confirmed'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Clicks the APPROVE button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Purchase_Requests SET status='APPROVED'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PR_Approvals (decision, manager_id, timestamp)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PR_Status_History (PENDING → APPROVED)</a:t>
            </a:r>
          </a:p>
        </p:txBody>
      </p:sp>
      <p:pic>
        <p:nvPicPr>
          <p:cNvPr id="8" name="Picture 7" descr="manager_dashboard_final_1776954034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94760" cy="6400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Purchase_Requests · PR_Approvals · PR_Status_History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Phase 3: Procurement</a:t>
            </a:r>
            <a:br/>
            <a:r>
              <a:t>Generates Purchase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PROCUREMENT@TEST.COM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Dashboard Shows: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All APPROVED requests pending a PO.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Active POs with total value and vendor names.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Procurement Officer sees the approved Dell XPS 15 request.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Selects Vendor: Tech Supplies Inc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Sets delivery date &amp; clicks Generate PO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Purchase_Orders (pr_id, vendor_id, officer_id, amount)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Purchase_Requests SET status='PO_ISSUED'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The PO now appears in the Procurement active orders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Purchase_Orders · Purchase_Requests · Vendors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Phase 4: Vendor</a:t>
            </a:r>
            <a:br/>
            <a:r>
              <a:t>Ships the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VENDOR@TEST.COM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Role-Based Restriction: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 can ONLY see POs assigned to their vendor_id.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No access to other vendors' orders or internal budgets.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 sees the Dell XPS 15 PO for $10,000.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Clicks 'Mark as Shipped' button.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Purchase_Orders SET status='SHIPPED'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Goods_Receipt: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  → po_id, received_by, quantity_received=0, notes='Shipped by Vendor'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The PO is now visible to Finance for invoicing.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Purchase_Orders · Goods_Receipt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Phase 5: Finance</a:t>
            </a:r>
            <a:br/>
            <a:r>
              <a:t>Processes the Invoice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FINANCE@TEST.COM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Dashboard Shows: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Goods Receipts ready for invoicing.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Existing invoices with PENDING / PAID status.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Accounts Payable value.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 (Live Demo):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Finance team sees the shipped Dell XPS 15 goods receipt.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Clicks 'Process Invoice' to generate the $10,000 invoice.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Invoices (po_id, vendor_id, amount=$10,000, status='PENDING')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Purchase_Orders SET status='INVOICED'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Department budget_used increments by $10,000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Audit_Log receives a CREATE_INVOICE event.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Invoices · Payments · Budget_Transactions · Audit_Log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Super Admin:</a:t>
            </a:r>
            <a:br/>
            <a:r>
              <a:t>The God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C8FF"/>
                </a:solidFill>
                <a:latin typeface="Calibri"/>
              </a:defRPr>
            </a:pPr>
            <a:r>
              <a:t>LOGGED IN AS: ADMIN@TEST.COM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Admin KPI Cards Show (Real Data):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Operating Departments: 1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Issued POs: 4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Recorded Audit Events: 27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System Audit Log (live):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admin@test.com: LOGIN at 09:22:47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manager@test.com: LOGOUT at 09:20:45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employee@test.com: LOGIN at 09:18:59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Every single action is permanently traceable.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Admin can delete individual log entries or Clear All.</a:t>
            </a:r>
          </a:p>
        </p:txBody>
      </p:sp>
      <p:pic>
        <p:nvPicPr>
          <p:cNvPr id="8" name="Picture 7" descr="admin_dashboard_final_17769541828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94760" cy="6400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📋 DB Tables: Audit_Log · Departments · Purchase_Orders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  <a:br/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61FF"/>
                </a:solidFill>
                <a:latin typeface="Calibri"/>
              </a:defRPr>
            </a:pPr>
            <a:r>
              <a:t>16 TABLES · 3NF NORMALIZED · FULL FK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Identity Module: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Roles, Users, Departments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Procurement Workflow: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Purchase_Requests, PR_Approvals, PR_Status_History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Vendor Management: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Vendors, Vendor_Categories, Contracts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Order Fulfillment: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Purchase_Orders, PO_Line_Items, Goods_Receipt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Finance &amp; Compliance: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Invoices, Payments, Budget_Transactions, Audit_Log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➔ Insert ERD Diagram on the right side of this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SQL Implementation</a:t>
            </a:r>
            <a:br/>
            <a:r>
              <a:t>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61FF"/>
                </a:solidFill>
                <a:latin typeface="Calibri"/>
              </a:defRPr>
            </a:pPr>
            <a:r>
              <a:t>DDL · DML · JOIN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Table Creation (setup_db.py):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16 tables with NOT NULL, UNIQUE, FK constraints.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Auto-translates SQLite → PostgreSQL for cloud.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Population (populate_db.py):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DML INSERTs simulating 30 days of history.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Randomized statuses across the full pipeline.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Advanced Query Example: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4-Table JOIN: Users → Purchase_Requests → Purchase_Orders → Invoices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SELECT name, item_name, total_amount, invoice status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Demonstrates real end-to-end traceability via SQL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761FF"/>
                </a:solidFill>
                <a:latin typeface="Calibri"/>
              </a:defRPr>
            </a:pPr>
            <a:r>
              <a:t>➔ Paste your most complex JOIN query snippet on the right 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Challenges &amp;</a:t>
            </a:r>
            <a:br/>
            <a:r>
              <a:t>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1 – Vercel Read-Only File System: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SQLite cannot write to disk on serverless Vercel.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Solution: Custom DBWrapper routes writes to /tmp/.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  On PostgreSQL env, auto-translates all SQL syntax.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2 – Preventing Status Skipping: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An invoice should never exist before approval.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Solution: Role-based route guards + state-machine logic.</a:t>
            </a: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  Finance only sees 'SHIPPED' goods receipts.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3 – Synchronized Audit Timestamps: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Default SQLite timestamps used server UTC time.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Solution: pytz forces all Audit_Log entries to US/Central.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Calibri"/>
              </a:defRPr>
            </a:pPr>
            <a:r>
              <a:t>Frontend &amp;</a:t>
            </a:r>
            <a:br/>
            <a:r>
              <a:t>Deployment (Extra Credit)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64008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61FF"/>
                </a:solidFill>
                <a:latin typeface="Calibri"/>
              </a:defRPr>
            </a:pPr>
            <a:r>
              <a:t>LIVE ON VERCEL · GITHUB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Tech Stack: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Flask + Jinja2 server-side templates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Bootstrap 5 grid, glassmorphism dark UI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Chart.js — doughnut &amp; pie charts per dashboard role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Google Fonts (Inter) for premium typography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Deployment Pipeline: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Code pushed to GitHub triggers auto-deploy on Vercel.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Environment variables (DATABASE_URL, VERCEL=1) control DB mode.</a:t>
            </a:r>
          </a:p>
          <a:p>
            <a:pPr>
              <a:spcAft>
                <a:spcPts val="800"/>
              </a:spcAft>
              <a:defRPr sz="600">
                <a:latin typeface="Calibri"/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Database Connectivity: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/api/auth reads Users table → creates Flask session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Every dashboard route executes targeted SQLite queries</a:t>
            </a:r>
          </a:p>
          <a:p>
            <a:pPr>
              <a:spcAft>
                <a:spcPts val="8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All writes pass through the DBWrapper for portability.</a:t>
            </a:r>
          </a:p>
        </p:txBody>
      </p:sp>
      <p:pic>
        <p:nvPicPr>
          <p:cNvPr id="8" name="Picture 7" descr="employee_dashboard_final_17769539477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9476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761FF"/>
                </a:solidFill>
                <a:latin typeface="Calibri"/>
              </a:defRPr>
            </a:pPr>
            <a:r>
              <a:t>What We Built:</a:t>
            </a:r>
          </a:p>
          <a:p>
            <a:pPr>
              <a:defRPr sz="1400">
                <a:solidFill>
                  <a:srgbClr val="D2D7E6"/>
                </a:solidFill>
                <a:latin typeface="Calibri"/>
              </a:defRPr>
            </a:pPr>
            <a:r>
              <a:t>A production-deployed, 6-role enterprise procurement system backed by a 16-table, 3NF-normalized relational database proving real-world business logic can be precisely modeled in SQL.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800">
                <a:solidFill>
                  <a:srgbClr val="A761FF"/>
                </a:solidFill>
                <a:latin typeface="Calibri"/>
              </a:defRPr>
            </a:pPr>
            <a:r>
              <a:t>Key Learnings:</a:t>
            </a:r>
          </a:p>
          <a:p>
            <a:pPr>
              <a:defRPr sz="1400">
                <a:solidFill>
                  <a:srgbClr val="D2D7E6"/>
                </a:solidFill>
                <a:latin typeface="Calibri"/>
              </a:defRPr>
            </a:pPr>
            <a:r>
              <a:t>Translating complex state machine rules into relational integrity constraints. Bridging SQLite/PostgreSQL with a single Python abstraction layer. Deploying a full-stack system to production serverless infrastructure.</a:t>
            </a:r>
          </a:p>
          <a:p>
            <a:pPr>
              <a:defRPr sz="800">
                <a:latin typeface="Calibri"/>
              </a:defRPr>
            </a:pPr>
          </a:p>
          <a:p>
            <a:pPr>
              <a:defRPr sz="1800">
                <a:solidFill>
                  <a:srgbClr val="A761FF"/>
                </a:solidFill>
                <a:latin typeface="Calibri"/>
              </a:defRPr>
            </a:pPr>
            <a:r>
              <a:t>Future Improvements:</a:t>
            </a:r>
          </a:p>
          <a:p>
            <a:pPr>
              <a:defRPr sz="1400">
                <a:solidFill>
                  <a:srgbClr val="D2D7E6"/>
                </a:solidFill>
                <a:latin typeface="Calibri"/>
              </a:defRPr>
            </a:pPr>
            <a:r>
              <a:t>Migrate fully to PostgreSQL. Add ML-based vendor rating. Auto-generate PDF invoices. Role-level email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