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pt_bg_title_17769524104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80C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731520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600" b="1">
                <a:solidFill>
                  <a:srgbClr val="FFFFFF"/>
                </a:solidFill>
                <a:latin typeface="Calibri"/>
              </a:defRPr>
            </a:pPr>
            <a:r>
              <a:t>Multi-Vendor Procurement</a:t>
            </a:r>
          </a:p>
          <a:p>
            <a:pPr>
              <a:defRPr sz="2600">
                <a:solidFill>
                  <a:srgbClr val="A761FF"/>
                </a:solidFill>
                <a:latin typeface="Calibri"/>
              </a:defRPr>
            </a:pPr>
            <a:r>
              <a:t>&amp; Purchase Order Management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B4B9C8"/>
                </a:solidFill>
                <a:latin typeface="Calibri"/>
              </a:defRPr>
            </a:pPr>
            <a:r>
              <a:t>Database Management Tools  |  Final Project  |  Team 3</a:t>
            </a:r>
          </a:p>
          <a:p>
            <a:pPr>
              <a:spcAft>
                <a:spcPts val="400"/>
              </a:spcAft>
              <a:defRPr sz="1400">
                <a:solidFill>
                  <a:srgbClr val="B4B9C8"/>
                </a:solidFill>
                <a:latin typeface="Calibri"/>
              </a:defRPr>
            </a:pPr>
            <a:r>
              <a:t>Python Flask  ·  SQLite  ·  Firebase Auth  ·  Vercel</a:t>
            </a:r>
          </a:p>
          <a:p>
            <a:pPr>
              <a:spcAft>
                <a:spcPts val="400"/>
              </a:spcAft>
              <a:defRPr sz="1500">
                <a:solidFill>
                  <a:srgbClr val="64C8FF"/>
                </a:solidFill>
                <a:latin typeface="Calibri"/>
              </a:defRPr>
            </a:pPr>
            <a:r>
              <a:t>procurement-system-peach.vercel.app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pt_bg_dashboard_177695244314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5120640" cy="6858000"/>
          </a:xfrm>
          <a:prstGeom prst="rect">
            <a:avLst/>
          </a:prstGeom>
          <a:solidFill>
            <a:srgbClr val="0A0E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320040"/>
            <a:ext cx="457200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FFFFF"/>
                </a:solidFill>
                <a:latin typeface="Calibri"/>
              </a:defRPr>
            </a:pPr>
            <a:r>
              <a:t>Project Overview</a:t>
            </a:r>
          </a:p>
          <a:p>
            <a:pPr>
              <a:defRPr sz="1400">
                <a:solidFill>
                  <a:srgbClr val="A761FF"/>
                </a:solidFill>
                <a:latin typeface="Calibri"/>
              </a:defRPr>
            </a:pPr>
            <a:r>
              <a:t>What we built &amp; why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508760"/>
            <a:ext cx="1188720" cy="54864"/>
          </a:xfrm>
          <a:prstGeom prst="rect">
            <a:avLst/>
          </a:prstGeom>
          <a:solidFill>
            <a:srgbClr val="A7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664208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A761FF"/>
                </a:solidFill>
                <a:latin typeface="Calibri"/>
              </a:defRPr>
            </a:pPr>
            <a:r>
              <a:t>THE PROBLEM WE SOLVED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011680"/>
            <a:ext cx="4572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FFFFFF"/>
                </a:solidFill>
                <a:latin typeface="Calibri"/>
              </a:defRPr>
            </a:pPr>
            <a:r>
              <a:t>The Problem:</a:t>
            </a:r>
          </a:p>
          <a:p>
            <a:pPr>
              <a:spcAft>
                <a:spcPts val="700"/>
              </a:spcAft>
              <a:defRPr sz="1500">
                <a:solidFill>
                  <a:srgbClr val="D2D7E6"/>
                </a:solidFill>
                <a:latin typeface="Calibri"/>
              </a:defRPr>
            </a:pPr>
            <a:r>
              <a:t>• Organizations lose visibility once a purchase request leaves an employee's desk.</a:t>
            </a:r>
          </a:p>
          <a:p>
            <a:pPr>
              <a:spcAft>
                <a:spcPts val="700"/>
              </a:spcAft>
              <a:defRPr sz="1500">
                <a:solidFill>
                  <a:srgbClr val="D2D7E6"/>
                </a:solidFill>
                <a:latin typeface="Calibri"/>
              </a:defRPr>
            </a:pPr>
            <a:r>
              <a:t>• No enforced budget tracking per department.</a:t>
            </a:r>
          </a:p>
          <a:p>
            <a:pPr>
              <a:spcAft>
                <a:spcPts val="700"/>
              </a:spcAft>
              <a:defRPr sz="1500">
                <a:solidFill>
                  <a:srgbClr val="D2D7E6"/>
                </a:solidFill>
                <a:latin typeface="Calibri"/>
              </a:defRPr>
            </a:pPr>
            <a:r>
              <a:t>• No reliable audit trail — who approved what, and when?</a:t>
            </a:r>
          </a:p>
          <a:p>
            <a:pPr>
              <a:spcAft>
                <a:spcPts val="700"/>
              </a:spcAft>
              <a:defRPr sz="500">
                <a:latin typeface="Calibri"/>
              </a:defRPr>
            </a:pPr>
          </a:p>
          <a:p>
            <a:pPr>
              <a:spcAft>
                <a:spcPts val="700"/>
              </a:spcAft>
              <a:defRPr sz="1700" b="1">
                <a:solidFill>
                  <a:srgbClr val="FFFFFF"/>
                </a:solidFill>
                <a:latin typeface="Calibri"/>
              </a:defRPr>
            </a:pPr>
            <a:r>
              <a:t>Our Solution:</a:t>
            </a:r>
          </a:p>
          <a:p>
            <a:pPr>
              <a:spcAft>
                <a:spcPts val="700"/>
              </a:spcAft>
              <a:defRPr sz="1500">
                <a:solidFill>
                  <a:srgbClr val="D2D7E6"/>
                </a:solidFill>
                <a:latin typeface="Calibri"/>
              </a:defRPr>
            </a:pPr>
            <a:r>
              <a:t>• A 6-role enterprise procurement platform with full lifecycle tracking.</a:t>
            </a:r>
          </a:p>
          <a:p>
            <a:pPr>
              <a:spcAft>
                <a:spcPts val="700"/>
              </a:spcAft>
              <a:defRPr sz="1500">
                <a:solidFill>
                  <a:srgbClr val="D2D7E6"/>
                </a:solidFill>
                <a:latin typeface="Calibri"/>
              </a:defRPr>
            </a:pPr>
            <a:r>
              <a:t>• Rigid state-machine: requests cannot skip steps.</a:t>
            </a:r>
          </a:p>
          <a:p>
            <a:pPr>
              <a:spcAft>
                <a:spcPts val="700"/>
              </a:spcAft>
              <a:defRPr sz="1500">
                <a:solidFill>
                  <a:srgbClr val="D2D7E6"/>
                </a:solidFill>
                <a:latin typeface="Calibri"/>
              </a:defRPr>
            </a:pPr>
            <a:r>
              <a:t>• Every action logged with user, IP address, and timestamp.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26364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i="1">
                <a:solidFill>
                  <a:srgbClr val="828CAA"/>
                </a:solidFill>
                <a:latin typeface="Calibri"/>
              </a:defRPr>
            </a:pPr>
            <a:r>
              <a:t>Live URL: procurement-system-peach.vercel.app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pt_bg_data_177695242519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5120640" cy="6858000"/>
          </a:xfrm>
          <a:prstGeom prst="rect">
            <a:avLst/>
          </a:prstGeom>
          <a:solidFill>
            <a:srgbClr val="0A0E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320040"/>
            <a:ext cx="457200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FFFFF"/>
                </a:solidFill>
                <a:latin typeface="Calibri"/>
              </a:defRPr>
            </a:pPr>
            <a:r>
              <a:t>The Procurement</a:t>
            </a:r>
            <a:br/>
            <a:r>
              <a:t>State Machine</a:t>
            </a:r>
          </a:p>
          <a:p>
            <a:pPr>
              <a:defRPr sz="1400">
                <a:solidFill>
                  <a:srgbClr val="A761FF"/>
                </a:solidFill>
                <a:latin typeface="Calibri"/>
              </a:defRPr>
            </a:pPr>
            <a:r>
              <a:t>5 phases · 16 tables · 6 roles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645920"/>
            <a:ext cx="1188720" cy="54864"/>
          </a:xfrm>
          <a:prstGeom prst="rect">
            <a:avLst/>
          </a:prstGeom>
          <a:solidFill>
            <a:srgbClr val="A7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2103120"/>
            <a:ext cx="4572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FFFFFF"/>
                </a:solidFill>
                <a:latin typeface="Calibri"/>
              </a:defRPr>
            </a:pPr>
            <a:r>
              <a:t>Phase 1 — Employee:</a:t>
            </a:r>
          </a:p>
          <a:p>
            <a:pPr>
              <a:spcAft>
                <a:spcPts val="700"/>
              </a:spcAft>
              <a:defRPr sz="1500">
                <a:solidFill>
                  <a:srgbClr val="D2D7E6"/>
                </a:solidFill>
                <a:latin typeface="Calibri"/>
              </a:defRPr>
            </a:pPr>
            <a:r>
              <a:t>• Submits item request  →  Status: PENDING</a:t>
            </a:r>
          </a:p>
          <a:p>
            <a:pPr>
              <a:spcAft>
                <a:spcPts val="700"/>
              </a:spcAft>
              <a:defRPr sz="500">
                <a:latin typeface="Calibri"/>
              </a:defRPr>
            </a:pPr>
          </a:p>
          <a:p>
            <a:pPr>
              <a:spcAft>
                <a:spcPts val="700"/>
              </a:spcAft>
              <a:defRPr sz="1700" b="1">
                <a:solidFill>
                  <a:srgbClr val="FFFFFF"/>
                </a:solidFill>
                <a:latin typeface="Calibri"/>
              </a:defRPr>
            </a:pPr>
            <a:r>
              <a:t>Phase 2 — Manager:</a:t>
            </a:r>
          </a:p>
          <a:p>
            <a:pPr>
              <a:spcAft>
                <a:spcPts val="700"/>
              </a:spcAft>
              <a:defRPr sz="1500">
                <a:solidFill>
                  <a:srgbClr val="D2D7E6"/>
                </a:solidFill>
                <a:latin typeface="Calibri"/>
              </a:defRPr>
            </a:pPr>
            <a:r>
              <a:t>• Approves or rejects  →  Status: APPROVED / REJECTED</a:t>
            </a:r>
          </a:p>
          <a:p>
            <a:pPr>
              <a:spcAft>
                <a:spcPts val="700"/>
              </a:spcAft>
              <a:defRPr sz="500">
                <a:latin typeface="Calibri"/>
              </a:defRPr>
            </a:pPr>
          </a:p>
          <a:p>
            <a:pPr>
              <a:spcAft>
                <a:spcPts val="700"/>
              </a:spcAft>
              <a:defRPr sz="1700" b="1">
                <a:solidFill>
                  <a:srgbClr val="FFFFFF"/>
                </a:solidFill>
                <a:latin typeface="Calibri"/>
              </a:defRPr>
            </a:pPr>
            <a:r>
              <a:t>Phase 3 — Procurement:</a:t>
            </a:r>
          </a:p>
          <a:p>
            <a:pPr>
              <a:spcAft>
                <a:spcPts val="700"/>
              </a:spcAft>
              <a:defRPr sz="1500">
                <a:solidFill>
                  <a:srgbClr val="D2D7E6"/>
                </a:solidFill>
                <a:latin typeface="Calibri"/>
              </a:defRPr>
            </a:pPr>
            <a:r>
              <a:t>• Assigns vendor, issues PO  →  Status: PO_ISSUED</a:t>
            </a:r>
          </a:p>
          <a:p>
            <a:pPr>
              <a:spcAft>
                <a:spcPts val="700"/>
              </a:spcAft>
              <a:defRPr sz="500">
                <a:latin typeface="Calibri"/>
              </a:defRPr>
            </a:pPr>
          </a:p>
          <a:p>
            <a:pPr>
              <a:spcAft>
                <a:spcPts val="700"/>
              </a:spcAft>
              <a:defRPr sz="1700" b="1">
                <a:solidFill>
                  <a:srgbClr val="FFFFFF"/>
                </a:solidFill>
                <a:latin typeface="Calibri"/>
              </a:defRPr>
            </a:pPr>
            <a:r>
              <a:t>Phase 4 — Vendor:</a:t>
            </a:r>
          </a:p>
          <a:p>
            <a:pPr>
              <a:spcAft>
                <a:spcPts val="700"/>
              </a:spcAft>
              <a:defRPr sz="1500">
                <a:solidFill>
                  <a:srgbClr val="D2D7E6"/>
                </a:solidFill>
                <a:latin typeface="Calibri"/>
              </a:defRPr>
            </a:pPr>
            <a:r>
              <a:t>• Ships goods, creates receipt  →  Status: SHIPPED</a:t>
            </a:r>
          </a:p>
          <a:p>
            <a:pPr>
              <a:spcAft>
                <a:spcPts val="700"/>
              </a:spcAft>
              <a:defRPr sz="500">
                <a:latin typeface="Calibri"/>
              </a:defRPr>
            </a:pPr>
          </a:p>
          <a:p>
            <a:pPr>
              <a:spcAft>
                <a:spcPts val="700"/>
              </a:spcAft>
              <a:defRPr sz="1700" b="1">
                <a:solidFill>
                  <a:srgbClr val="FFFFFF"/>
                </a:solidFill>
                <a:latin typeface="Calibri"/>
              </a:defRPr>
            </a:pPr>
            <a:r>
              <a:t>Phase 5 — Finance:</a:t>
            </a:r>
          </a:p>
          <a:p>
            <a:pPr>
              <a:spcAft>
                <a:spcPts val="700"/>
              </a:spcAft>
              <a:defRPr sz="1500">
                <a:solidFill>
                  <a:srgbClr val="D2D7E6"/>
                </a:solidFill>
                <a:latin typeface="Calibri"/>
              </a:defRPr>
            </a:pPr>
            <a:r>
              <a:t>• Processes invoice &amp; payment  →  Status: INVOICED → PAID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pt_bg_title_17769524104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5120640" cy="6858000"/>
          </a:xfrm>
          <a:prstGeom prst="rect">
            <a:avLst/>
          </a:prstGeom>
          <a:solidFill>
            <a:srgbClr val="0A0E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320040"/>
            <a:ext cx="457200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FFFFF"/>
                </a:solidFill>
                <a:latin typeface="Calibri"/>
              </a:defRPr>
            </a:pPr>
            <a:r>
              <a:t>System Entry:</a:t>
            </a:r>
            <a:br/>
            <a:r>
              <a:t>Authentication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508760"/>
            <a:ext cx="1188720" cy="54864"/>
          </a:xfrm>
          <a:prstGeom prst="rect">
            <a:avLst/>
          </a:prstGeom>
          <a:solidFill>
            <a:srgbClr val="A7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664208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A761FF"/>
                </a:solidFill>
                <a:latin typeface="Calibri"/>
              </a:defRPr>
            </a:pPr>
            <a:r>
              <a:t>FIREBASE AUTH + SQLITE ROLE LOOKUP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011680"/>
            <a:ext cx="4572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FFFFFF"/>
                </a:solidFill>
                <a:latin typeface="Calibri"/>
              </a:defRPr>
            </a:pPr>
            <a:r>
              <a:t>How the Login Works:</a:t>
            </a:r>
          </a:p>
          <a:p>
            <a:pPr>
              <a:spcAft>
                <a:spcPts val="700"/>
              </a:spcAft>
              <a:defRPr sz="1500">
                <a:solidFill>
                  <a:srgbClr val="D2D7E6"/>
                </a:solidFill>
                <a:latin typeface="Calibri"/>
              </a:defRPr>
            </a:pPr>
            <a:r>
              <a:t>• Firebase Auth SDK verifies email/password client-side.</a:t>
            </a:r>
          </a:p>
          <a:p>
            <a:pPr>
              <a:spcAft>
                <a:spcPts val="700"/>
              </a:spcAft>
              <a:defRPr sz="1500">
                <a:solidFill>
                  <a:srgbClr val="D2D7E6"/>
                </a:solidFill>
                <a:latin typeface="Calibri"/>
              </a:defRPr>
            </a:pPr>
            <a:r>
              <a:t>• Flask backend queries: SELECT * FROM Users JOIN Roles WHERE email=?</a:t>
            </a:r>
          </a:p>
          <a:p>
            <a:pPr>
              <a:spcAft>
                <a:spcPts val="700"/>
              </a:spcAft>
              <a:defRPr sz="1500">
                <a:solidFill>
                  <a:srgbClr val="D2D7E6"/>
                </a:solidFill>
                <a:latin typeface="Calibri"/>
              </a:defRPr>
            </a:pPr>
            <a:r>
              <a:t>• On match → Flask-Login creates a secure session cookie.</a:t>
            </a:r>
          </a:p>
          <a:p>
            <a:pPr>
              <a:spcAft>
                <a:spcPts val="700"/>
              </a:spcAft>
              <a:defRPr sz="1500">
                <a:solidFill>
                  <a:srgbClr val="D2D7E6"/>
                </a:solidFill>
                <a:latin typeface="Calibri"/>
              </a:defRPr>
            </a:pPr>
            <a:r>
              <a:t>  → Audit_Log: INSERT (user_id, action='LOGIN', ip, timestamp)</a:t>
            </a:r>
          </a:p>
          <a:p>
            <a:pPr>
              <a:spcAft>
                <a:spcPts val="700"/>
              </a:spcAft>
              <a:defRPr sz="500">
                <a:latin typeface="Calibri"/>
              </a:defRPr>
            </a:pPr>
          </a:p>
          <a:p>
            <a:pPr>
              <a:spcAft>
                <a:spcPts val="700"/>
              </a:spcAft>
              <a:defRPr sz="1700" b="1">
                <a:solidFill>
                  <a:srgbClr val="FFFFFF"/>
                </a:solidFill>
                <a:latin typeface="Calibri"/>
              </a:defRPr>
            </a:pPr>
            <a:r>
              <a:t>Test Credentials (password: 123456):</a:t>
            </a:r>
          </a:p>
          <a:p>
            <a:pPr>
              <a:spcAft>
                <a:spcPts val="700"/>
              </a:spcAft>
              <a:defRPr sz="1500">
                <a:solidFill>
                  <a:srgbClr val="D2D7E6"/>
                </a:solidFill>
                <a:latin typeface="Calibri"/>
              </a:defRPr>
            </a:pPr>
            <a:r>
              <a:t>• employee@test.com</a:t>
            </a:r>
          </a:p>
          <a:p>
            <a:pPr>
              <a:spcAft>
                <a:spcPts val="700"/>
              </a:spcAft>
              <a:defRPr sz="1500">
                <a:solidFill>
                  <a:srgbClr val="D2D7E6"/>
                </a:solidFill>
                <a:latin typeface="Calibri"/>
              </a:defRPr>
            </a:pPr>
            <a:r>
              <a:t>• manager@test.com  |  procurement@test.com</a:t>
            </a:r>
          </a:p>
          <a:p>
            <a:pPr>
              <a:spcAft>
                <a:spcPts val="700"/>
              </a:spcAft>
              <a:defRPr sz="1500">
                <a:solidFill>
                  <a:srgbClr val="D2D7E6"/>
                </a:solidFill>
                <a:latin typeface="Calibri"/>
              </a:defRPr>
            </a:pPr>
            <a:r>
              <a:t>• vendor@test.com  |  finance@test.com  |  admin@test.com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26364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i="1">
                <a:solidFill>
                  <a:srgbClr val="828CAA"/>
                </a:solidFill>
                <a:latin typeface="Calibri"/>
              </a:defRPr>
            </a:pPr>
            <a:r>
              <a:t>DB Tables: Users · Roles · Audit_Log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employee_dashboard_final_177695394777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080760"/>
            <a:ext cx="9144000" cy="777240"/>
          </a:xfrm>
          <a:prstGeom prst="rect">
            <a:avLst/>
          </a:prstGeom>
          <a:solidFill>
            <a:srgbClr val="0A0E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080760"/>
            <a:ext cx="9144000" cy="45720"/>
          </a:xfrm>
          <a:prstGeom prst="rect">
            <a:avLst/>
          </a:prstGeom>
          <a:solidFill>
            <a:srgbClr val="A7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1722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  <a:latin typeface="Calibri"/>
              </a:defRPr>
            </a:pPr>
            <a:r>
              <a:t>PHASE 1 — Employee Dashboard  |  employee@test.com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6501384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A761FF"/>
                </a:solidFill>
                <a:latin typeface="Calibri"/>
              </a:defRPr>
            </a:pPr>
            <a:r>
              <a:t>Shows: New Request form · Request History (Dell XPS 15 — $10,000 — PO_ISSUED) · Analytics doughnut chart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pt_bg_data_177695242519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5120640" cy="6858000"/>
          </a:xfrm>
          <a:prstGeom prst="rect">
            <a:avLst/>
          </a:prstGeom>
          <a:solidFill>
            <a:srgbClr val="0A0E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320040"/>
            <a:ext cx="457200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FFFFF"/>
                </a:solidFill>
                <a:latin typeface="Calibri"/>
              </a:defRPr>
            </a:pPr>
            <a:r>
              <a:t>Phase 1: Employee</a:t>
            </a:r>
            <a:br/>
            <a:r>
              <a:t>Submits a Request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508760"/>
            <a:ext cx="1188720" cy="54864"/>
          </a:xfrm>
          <a:prstGeom prst="rect">
            <a:avLst/>
          </a:prstGeom>
          <a:solidFill>
            <a:srgbClr val="A7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664208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64C8FF"/>
                </a:solidFill>
                <a:latin typeface="Calibri"/>
              </a:defRPr>
            </a:pPr>
            <a:r>
              <a:t>LOGGED IN AS: EMPLOYEE@TEST.COM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011680"/>
            <a:ext cx="4572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FFFFFF"/>
                </a:solidFill>
                <a:latin typeface="Calibri"/>
              </a:defRPr>
            </a:pPr>
            <a:r>
              <a:t>Data Entered (Live Demo):</a:t>
            </a:r>
          </a:p>
          <a:p>
            <a:pPr>
              <a:spcAft>
                <a:spcPts val="700"/>
              </a:spcAft>
              <a:defRPr sz="1500">
                <a:solidFill>
                  <a:srgbClr val="D2D7E6"/>
                </a:solidFill>
                <a:latin typeface="Calibri"/>
              </a:defRPr>
            </a:pPr>
            <a:r>
              <a:t>• Item Name: Dell XPS 15 Laptop</a:t>
            </a:r>
          </a:p>
          <a:p>
            <a:pPr>
              <a:spcAft>
                <a:spcPts val="700"/>
              </a:spcAft>
              <a:defRPr sz="1500">
                <a:solidFill>
                  <a:srgbClr val="D2D7E6"/>
                </a:solidFill>
                <a:latin typeface="Calibri"/>
              </a:defRPr>
            </a:pPr>
            <a:r>
              <a:t>• Quantity: 5 units</a:t>
            </a:r>
          </a:p>
          <a:p>
            <a:pPr>
              <a:spcAft>
                <a:spcPts val="700"/>
              </a:spcAft>
              <a:defRPr sz="1500">
                <a:solidFill>
                  <a:srgbClr val="D2D7E6"/>
                </a:solidFill>
                <a:latin typeface="Calibri"/>
              </a:defRPr>
            </a:pPr>
            <a:r>
              <a:t>• Est. Cost per unit: $2,000.00</a:t>
            </a:r>
          </a:p>
          <a:p>
            <a:pPr>
              <a:spcAft>
                <a:spcPts val="700"/>
              </a:spcAft>
              <a:defRPr sz="1500">
                <a:solidFill>
                  <a:srgbClr val="D2D7E6"/>
                </a:solidFill>
                <a:latin typeface="Calibri"/>
              </a:defRPr>
            </a:pPr>
            <a:r>
              <a:t>• Total Estimated Value: $10,000</a:t>
            </a:r>
          </a:p>
          <a:p>
            <a:pPr>
              <a:spcAft>
                <a:spcPts val="700"/>
              </a:spcAft>
              <a:defRPr sz="1500">
                <a:solidFill>
                  <a:srgbClr val="D2D7E6"/>
                </a:solidFill>
                <a:latin typeface="Calibri"/>
              </a:defRPr>
            </a:pPr>
            <a:r>
              <a:t>• Justification: Required for new IT hires in Q3 expansion</a:t>
            </a:r>
          </a:p>
          <a:p>
            <a:pPr>
              <a:spcAft>
                <a:spcPts val="700"/>
              </a:spcAft>
              <a:defRPr sz="500">
                <a:latin typeface="Calibri"/>
              </a:defRPr>
            </a:pPr>
          </a:p>
          <a:p>
            <a:pPr>
              <a:spcAft>
                <a:spcPts val="700"/>
              </a:spcAft>
              <a:defRPr sz="1700" b="1">
                <a:solidFill>
                  <a:srgbClr val="FFFFFF"/>
                </a:solidFill>
                <a:latin typeface="Calibri"/>
              </a:defRPr>
            </a:pPr>
            <a:r>
              <a:t>What Happened in the Database:</a:t>
            </a:r>
          </a:p>
          <a:p>
            <a:pPr>
              <a:spcAft>
                <a:spcPts val="700"/>
              </a:spcAft>
              <a:defRPr sz="1500">
                <a:solidFill>
                  <a:srgbClr val="D2D7E6"/>
                </a:solidFill>
                <a:latin typeface="Calibri"/>
              </a:defRPr>
            </a:pPr>
            <a:r>
              <a:t>• INSERT into Purchase_Requests (employee_id, dept_id, item_name, qty, cost)</a:t>
            </a:r>
          </a:p>
          <a:p>
            <a:pPr>
              <a:spcAft>
                <a:spcPts val="700"/>
              </a:spcAft>
              <a:defRPr sz="1500">
                <a:solidFill>
                  <a:srgbClr val="D2D7E6"/>
                </a:solidFill>
                <a:latin typeface="Calibri"/>
              </a:defRPr>
            </a:pPr>
            <a:r>
              <a:t>• status defaulted to 'PENDING'</a:t>
            </a:r>
          </a:p>
          <a:p>
            <a:pPr>
              <a:spcAft>
                <a:spcPts val="700"/>
              </a:spcAft>
              <a:defRPr sz="1500">
                <a:solidFill>
                  <a:srgbClr val="D2D7E6"/>
                </a:solidFill>
                <a:latin typeface="Calibri"/>
              </a:defRPr>
            </a:pPr>
            <a:r>
              <a:t>• INSERT into PR_Status_History: NONE → PENDING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26364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i="1">
                <a:solidFill>
                  <a:srgbClr val="828CAA"/>
                </a:solidFill>
                <a:latin typeface="Calibri"/>
              </a:defRPr>
            </a:pPr>
            <a:r>
              <a:t>DB Tables: Purchase_Requests · PR_Status_History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anager_dashboard_final_17769540340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080760"/>
            <a:ext cx="9144000" cy="777240"/>
          </a:xfrm>
          <a:prstGeom prst="rect">
            <a:avLst/>
          </a:prstGeom>
          <a:solidFill>
            <a:srgbClr val="0A0E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080760"/>
            <a:ext cx="9144000" cy="45720"/>
          </a:xfrm>
          <a:prstGeom prst="rect">
            <a:avLst/>
          </a:prstGeom>
          <a:solidFill>
            <a:srgbClr val="A7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1722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  <a:latin typeface="Calibri"/>
              </a:defRPr>
            </a:pPr>
            <a:r>
              <a:t>PHASE 2 — Manager Dashboard  |  manager@test.com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6501384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A761FF"/>
                </a:solidFill>
                <a:latin typeface="Calibri"/>
              </a:defRPr>
            </a:pPr>
            <a:r>
              <a:t>Shows: Pending Approvals=0 · Total Budget=$100,000 · Budget Used=$0 · Remaining=$100,000.00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pt_bg_title_17769524104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5120640" cy="6858000"/>
          </a:xfrm>
          <a:prstGeom prst="rect">
            <a:avLst/>
          </a:prstGeom>
          <a:solidFill>
            <a:srgbClr val="0A0E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320040"/>
            <a:ext cx="457200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FFFFF"/>
                </a:solidFill>
                <a:latin typeface="Calibri"/>
              </a:defRPr>
            </a:pPr>
            <a:r>
              <a:t>Phase 2: Manager</a:t>
            </a:r>
            <a:br/>
            <a:r>
              <a:t>Reviews &amp; Approves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508760"/>
            <a:ext cx="1188720" cy="54864"/>
          </a:xfrm>
          <a:prstGeom prst="rect">
            <a:avLst/>
          </a:prstGeom>
          <a:solidFill>
            <a:srgbClr val="A7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664208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64C8FF"/>
                </a:solidFill>
                <a:latin typeface="Calibri"/>
              </a:defRPr>
            </a:pPr>
            <a:r>
              <a:t>LOGGED IN AS: MANAGER@TEST.COM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011680"/>
            <a:ext cx="4572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FFFFFF"/>
                </a:solidFill>
                <a:latin typeface="Calibri"/>
              </a:defRPr>
            </a:pPr>
            <a:r>
              <a:t>Manager Sees on Dashboard:</a:t>
            </a:r>
          </a:p>
          <a:p>
            <a:pPr>
              <a:spcAft>
                <a:spcPts val="700"/>
              </a:spcAft>
              <a:defRPr sz="1500">
                <a:solidFill>
                  <a:srgbClr val="D2D7E6"/>
                </a:solidFill>
                <a:latin typeface="Calibri"/>
              </a:defRPr>
            </a:pPr>
            <a:r>
              <a:t>• KPI: Total Budget = $100,000  (green)</a:t>
            </a:r>
          </a:p>
          <a:p>
            <a:pPr>
              <a:spcAft>
                <a:spcPts val="700"/>
              </a:spcAft>
              <a:defRPr sz="1500">
                <a:solidFill>
                  <a:srgbClr val="D2D7E6"/>
                </a:solidFill>
                <a:latin typeface="Calibri"/>
              </a:defRPr>
            </a:pPr>
            <a:r>
              <a:t>• KPI: Budget Used = $0  (safe — room to approve!)</a:t>
            </a:r>
          </a:p>
          <a:p>
            <a:pPr>
              <a:spcAft>
                <a:spcPts val="700"/>
              </a:spcAft>
              <a:defRPr sz="1500">
                <a:solidFill>
                  <a:srgbClr val="D2D7E6"/>
                </a:solidFill>
                <a:latin typeface="Calibri"/>
              </a:defRPr>
            </a:pPr>
            <a:r>
              <a:t>• Pending Team Approvals table listing employee requests</a:t>
            </a:r>
          </a:p>
          <a:p>
            <a:pPr>
              <a:spcAft>
                <a:spcPts val="700"/>
              </a:spcAft>
              <a:defRPr sz="500">
                <a:latin typeface="Calibri"/>
              </a:defRPr>
            </a:pPr>
          </a:p>
          <a:p>
            <a:pPr>
              <a:spcAft>
                <a:spcPts val="700"/>
              </a:spcAft>
              <a:defRPr sz="1700" b="1">
                <a:solidFill>
                  <a:srgbClr val="FFFFFF"/>
                </a:solidFill>
                <a:latin typeface="Calibri"/>
              </a:defRPr>
            </a:pPr>
            <a:r>
              <a:t>Action Taken:</a:t>
            </a:r>
          </a:p>
          <a:p>
            <a:pPr>
              <a:spcAft>
                <a:spcPts val="700"/>
              </a:spcAft>
              <a:defRPr sz="1500">
                <a:solidFill>
                  <a:srgbClr val="D2D7E6"/>
                </a:solidFill>
                <a:latin typeface="Calibri"/>
              </a:defRPr>
            </a:pPr>
            <a:r>
              <a:t>• Identifies the Dell XPS 15 Laptop — $10,000 request</a:t>
            </a:r>
          </a:p>
          <a:p>
            <a:pPr>
              <a:spcAft>
                <a:spcPts val="700"/>
              </a:spcAft>
              <a:defRPr sz="1500">
                <a:solidFill>
                  <a:srgbClr val="D2D7E6"/>
                </a:solidFill>
                <a:latin typeface="Calibri"/>
              </a:defRPr>
            </a:pPr>
            <a:r>
              <a:t>• Adds comment: 'Approved for Q3 expansion — budget confirmed'</a:t>
            </a:r>
          </a:p>
          <a:p>
            <a:pPr>
              <a:spcAft>
                <a:spcPts val="700"/>
              </a:spcAft>
              <a:defRPr sz="1500">
                <a:solidFill>
                  <a:srgbClr val="D2D7E6"/>
                </a:solidFill>
                <a:latin typeface="Calibri"/>
              </a:defRPr>
            </a:pPr>
            <a:r>
              <a:t>• Clicks APPROVE</a:t>
            </a:r>
          </a:p>
          <a:p>
            <a:pPr>
              <a:spcAft>
                <a:spcPts val="700"/>
              </a:spcAft>
              <a:defRPr sz="500">
                <a:latin typeface="Calibri"/>
              </a:defRPr>
            </a:pPr>
          </a:p>
          <a:p>
            <a:pPr>
              <a:spcAft>
                <a:spcPts val="700"/>
              </a:spcAft>
              <a:defRPr sz="1700" b="1">
                <a:solidFill>
                  <a:srgbClr val="FFFFFF"/>
                </a:solidFill>
                <a:latin typeface="Calibri"/>
              </a:defRPr>
            </a:pPr>
            <a:r>
              <a:t>Triggered SQL:</a:t>
            </a:r>
          </a:p>
          <a:p>
            <a:pPr>
              <a:spcAft>
                <a:spcPts val="700"/>
              </a:spcAft>
              <a:defRPr sz="1500">
                <a:solidFill>
                  <a:srgbClr val="D2D7E6"/>
                </a:solidFill>
                <a:latin typeface="Calibri"/>
              </a:defRPr>
            </a:pPr>
            <a:r>
              <a:t>• UPDATE Purchase_Requests SET status='APPROVED' WHERE pr_id=?</a:t>
            </a:r>
          </a:p>
          <a:p>
            <a:pPr>
              <a:spcAft>
                <a:spcPts val="700"/>
              </a:spcAft>
              <a:defRPr sz="1500">
                <a:solidFill>
                  <a:srgbClr val="D2D7E6"/>
                </a:solidFill>
                <a:latin typeface="Calibri"/>
              </a:defRPr>
            </a:pPr>
            <a:r>
              <a:t>• INSERT into PR_Approvals (pr_id, manager_id, decision, comments)</a:t>
            </a:r>
          </a:p>
          <a:p>
            <a:pPr>
              <a:spcAft>
                <a:spcPts val="700"/>
              </a:spcAft>
              <a:defRPr sz="1500">
                <a:solidFill>
                  <a:srgbClr val="D2D7E6"/>
                </a:solidFill>
                <a:latin typeface="Calibri"/>
              </a:defRPr>
            </a:pPr>
            <a:r>
              <a:t>• INSERT into PR_Status_History: PENDING → APPROVED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26364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i="1">
                <a:solidFill>
                  <a:srgbClr val="828CAA"/>
                </a:solidFill>
                <a:latin typeface="Calibri"/>
              </a:defRPr>
            </a:pPr>
            <a:r>
              <a:t>DB Tables: Purchase_Requests · PR_Approvals · PR_Status_History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pt_bg_dashboard_177695244314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5120640" cy="6858000"/>
          </a:xfrm>
          <a:prstGeom prst="rect">
            <a:avLst/>
          </a:prstGeom>
          <a:solidFill>
            <a:srgbClr val="0A0E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320040"/>
            <a:ext cx="457200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FFFFF"/>
                </a:solidFill>
                <a:latin typeface="Calibri"/>
              </a:defRPr>
            </a:pPr>
            <a:r>
              <a:t>Phase 3: Procurement</a:t>
            </a:r>
            <a:br/>
            <a:r>
              <a:t>Generates a PO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508760"/>
            <a:ext cx="1188720" cy="54864"/>
          </a:xfrm>
          <a:prstGeom prst="rect">
            <a:avLst/>
          </a:prstGeom>
          <a:solidFill>
            <a:srgbClr val="A7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664208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64C8FF"/>
                </a:solidFill>
                <a:latin typeface="Calibri"/>
              </a:defRPr>
            </a:pPr>
            <a:r>
              <a:t>LOGGED IN AS: PROCUREMENT@TEST.COM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011680"/>
            <a:ext cx="4572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FFFFFF"/>
                </a:solidFill>
                <a:latin typeface="Calibri"/>
              </a:defRPr>
            </a:pPr>
            <a:r>
              <a:t>Dashboard Shows:</a:t>
            </a:r>
          </a:p>
          <a:p>
            <a:pPr>
              <a:spcAft>
                <a:spcPts val="700"/>
              </a:spcAft>
              <a:defRPr sz="1500">
                <a:solidFill>
                  <a:srgbClr val="D2D7E6"/>
                </a:solidFill>
                <a:latin typeface="Calibri"/>
              </a:defRPr>
            </a:pPr>
            <a:r>
              <a:t>• Approved Requests waiting for a Purchase Order</a:t>
            </a:r>
          </a:p>
          <a:p>
            <a:pPr>
              <a:spcAft>
                <a:spcPts val="700"/>
              </a:spcAft>
              <a:defRPr sz="1500">
                <a:solidFill>
                  <a:srgbClr val="D2D7E6"/>
                </a:solidFill>
                <a:latin typeface="Calibri"/>
              </a:defRPr>
            </a:pPr>
            <a:r>
              <a:t>• Active POs list with vendor names and total amounts</a:t>
            </a:r>
          </a:p>
          <a:p>
            <a:pPr>
              <a:spcAft>
                <a:spcPts val="700"/>
              </a:spcAft>
              <a:defRPr sz="1500">
                <a:solidFill>
                  <a:srgbClr val="D2D7E6"/>
                </a:solidFill>
                <a:latin typeface="Calibri"/>
              </a:defRPr>
            </a:pPr>
            <a:r>
              <a:t>• KPI: Total PO Value in the pipeline</a:t>
            </a:r>
          </a:p>
          <a:p>
            <a:pPr>
              <a:spcAft>
                <a:spcPts val="700"/>
              </a:spcAft>
              <a:defRPr sz="500">
                <a:latin typeface="Calibri"/>
              </a:defRPr>
            </a:pPr>
          </a:p>
          <a:p>
            <a:pPr>
              <a:spcAft>
                <a:spcPts val="700"/>
              </a:spcAft>
              <a:defRPr sz="1700" b="1">
                <a:solidFill>
                  <a:srgbClr val="FFFFFF"/>
                </a:solidFill>
                <a:latin typeface="Calibri"/>
              </a:defRPr>
            </a:pPr>
            <a:r>
              <a:t>Action Taken:</a:t>
            </a:r>
          </a:p>
          <a:p>
            <a:pPr>
              <a:spcAft>
                <a:spcPts val="700"/>
              </a:spcAft>
              <a:defRPr sz="1500">
                <a:solidFill>
                  <a:srgbClr val="D2D7E6"/>
                </a:solidFill>
                <a:latin typeface="Calibri"/>
              </a:defRPr>
            </a:pPr>
            <a:r>
              <a:t>• Finds the approved Dell XPS 15 ($10,000)</a:t>
            </a:r>
          </a:p>
          <a:p>
            <a:pPr>
              <a:spcAft>
                <a:spcPts val="700"/>
              </a:spcAft>
              <a:defRPr sz="1500">
                <a:solidFill>
                  <a:srgbClr val="D2D7E6"/>
                </a:solidFill>
                <a:latin typeface="Calibri"/>
              </a:defRPr>
            </a:pPr>
            <a:r>
              <a:t>• Selects Vendor: Tech Supplies Inc</a:t>
            </a:r>
          </a:p>
          <a:p>
            <a:pPr>
              <a:spcAft>
                <a:spcPts val="700"/>
              </a:spcAft>
              <a:defRPr sz="1500">
                <a:solidFill>
                  <a:srgbClr val="D2D7E6"/>
                </a:solidFill>
                <a:latin typeface="Calibri"/>
              </a:defRPr>
            </a:pPr>
            <a:r>
              <a:t>• Sets Delivery Date and clicks Generate PO</a:t>
            </a:r>
          </a:p>
          <a:p>
            <a:pPr>
              <a:spcAft>
                <a:spcPts val="700"/>
              </a:spcAft>
              <a:defRPr sz="500">
                <a:latin typeface="Calibri"/>
              </a:defRPr>
            </a:pPr>
          </a:p>
          <a:p>
            <a:pPr>
              <a:spcAft>
                <a:spcPts val="700"/>
              </a:spcAft>
              <a:defRPr sz="1700" b="1">
                <a:solidFill>
                  <a:srgbClr val="FFFFFF"/>
                </a:solidFill>
                <a:latin typeface="Calibri"/>
              </a:defRPr>
            </a:pPr>
            <a:r>
              <a:t>Triggered SQL:</a:t>
            </a:r>
          </a:p>
          <a:p>
            <a:pPr>
              <a:spcAft>
                <a:spcPts val="700"/>
              </a:spcAft>
              <a:defRPr sz="1500">
                <a:solidFill>
                  <a:srgbClr val="D2D7E6"/>
                </a:solidFill>
                <a:latin typeface="Calibri"/>
              </a:defRPr>
            </a:pPr>
            <a:r>
              <a:t>• INSERT into Purchase_Orders (pr_id, vendor_id, officer_id, delivery_date, total_amount)</a:t>
            </a:r>
          </a:p>
          <a:p>
            <a:pPr>
              <a:spcAft>
                <a:spcPts val="700"/>
              </a:spcAft>
              <a:defRPr sz="1500">
                <a:solidFill>
                  <a:srgbClr val="D2D7E6"/>
                </a:solidFill>
                <a:latin typeface="Calibri"/>
              </a:defRPr>
            </a:pPr>
            <a:r>
              <a:t>• UPDATE Purchase_Requests SET status='PO_ISSUED'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26364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i="1">
                <a:solidFill>
                  <a:srgbClr val="828CAA"/>
                </a:solidFill>
                <a:latin typeface="Calibri"/>
              </a:defRPr>
            </a:pPr>
            <a:r>
              <a:t>DB Tables: Purchase_Orders · Purchase_Requests · Vendors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pt_bg_data_177695242519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5120640" cy="6858000"/>
          </a:xfrm>
          <a:prstGeom prst="rect">
            <a:avLst/>
          </a:prstGeom>
          <a:solidFill>
            <a:srgbClr val="0A0E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320040"/>
            <a:ext cx="457200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FFFFF"/>
                </a:solidFill>
                <a:latin typeface="Calibri"/>
              </a:defRPr>
            </a:pPr>
            <a:r>
              <a:t>Phase 4: Vendor</a:t>
            </a:r>
            <a:br/>
            <a:r>
              <a:t>Ships the Goods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508760"/>
            <a:ext cx="1188720" cy="54864"/>
          </a:xfrm>
          <a:prstGeom prst="rect">
            <a:avLst/>
          </a:prstGeom>
          <a:solidFill>
            <a:srgbClr val="A7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664208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64C8FF"/>
                </a:solidFill>
                <a:latin typeface="Calibri"/>
              </a:defRPr>
            </a:pPr>
            <a:r>
              <a:t>LOGGED IN AS: VENDOR@TEST.COM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011680"/>
            <a:ext cx="4572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FFFFFF"/>
                </a:solidFill>
                <a:latin typeface="Calibri"/>
              </a:defRPr>
            </a:pPr>
            <a:r>
              <a:t>Critical Role Restriction:</a:t>
            </a:r>
          </a:p>
          <a:p>
            <a:pPr>
              <a:spcAft>
                <a:spcPts val="700"/>
              </a:spcAft>
              <a:defRPr sz="1500">
                <a:solidFill>
                  <a:srgbClr val="D2D7E6"/>
                </a:solidFill>
                <a:latin typeface="Calibri"/>
              </a:defRPr>
            </a:pPr>
            <a:r>
              <a:t>• Vendor's dashboard query filters by their own vendor_id.</a:t>
            </a:r>
          </a:p>
          <a:p>
            <a:pPr>
              <a:spcAft>
                <a:spcPts val="700"/>
              </a:spcAft>
              <a:defRPr sz="1500">
                <a:solidFill>
                  <a:srgbClr val="D2D7E6"/>
                </a:solidFill>
                <a:latin typeface="Calibri"/>
              </a:defRPr>
            </a:pPr>
            <a:r>
              <a:t>• They CANNOT see other vendors' orders.</a:t>
            </a:r>
          </a:p>
          <a:p>
            <a:pPr>
              <a:spcAft>
                <a:spcPts val="700"/>
              </a:spcAft>
              <a:defRPr sz="500">
                <a:latin typeface="Calibri"/>
              </a:defRPr>
            </a:pPr>
          </a:p>
          <a:p>
            <a:pPr>
              <a:spcAft>
                <a:spcPts val="700"/>
              </a:spcAft>
              <a:defRPr sz="1700" b="1">
                <a:solidFill>
                  <a:srgbClr val="FFFFFF"/>
                </a:solidFill>
                <a:latin typeface="Calibri"/>
              </a:defRPr>
            </a:pPr>
            <a:r>
              <a:t>Dashboard Shows:</a:t>
            </a:r>
          </a:p>
          <a:p>
            <a:pPr>
              <a:spcAft>
                <a:spcPts val="700"/>
              </a:spcAft>
              <a:defRPr sz="1500">
                <a:solidFill>
                  <a:srgbClr val="D2D7E6"/>
                </a:solidFill>
                <a:latin typeface="Calibri"/>
              </a:defRPr>
            </a:pPr>
            <a:r>
              <a:t>• KPI: Open Orders  |  Orders to Ship  |  Total Order Value</a:t>
            </a:r>
          </a:p>
          <a:p>
            <a:pPr>
              <a:spcAft>
                <a:spcPts val="700"/>
              </a:spcAft>
              <a:defRPr sz="1500">
                <a:solidFill>
                  <a:srgbClr val="D2D7E6"/>
                </a:solidFill>
                <a:latin typeface="Calibri"/>
              </a:defRPr>
            </a:pPr>
            <a:r>
              <a:t>• The Dell XPS 15 PO for $10,000 is listed as ISSUED</a:t>
            </a:r>
          </a:p>
          <a:p>
            <a:pPr>
              <a:spcAft>
                <a:spcPts val="700"/>
              </a:spcAft>
              <a:defRPr sz="500">
                <a:latin typeface="Calibri"/>
              </a:defRPr>
            </a:pPr>
          </a:p>
          <a:p>
            <a:pPr>
              <a:spcAft>
                <a:spcPts val="700"/>
              </a:spcAft>
              <a:defRPr sz="1700" b="1">
                <a:solidFill>
                  <a:srgbClr val="FFFFFF"/>
                </a:solidFill>
                <a:latin typeface="Calibri"/>
              </a:defRPr>
            </a:pPr>
            <a:r>
              <a:t>Action Taken:</a:t>
            </a:r>
          </a:p>
          <a:p>
            <a:pPr>
              <a:spcAft>
                <a:spcPts val="700"/>
              </a:spcAft>
              <a:defRPr sz="1500">
                <a:solidFill>
                  <a:srgbClr val="D2D7E6"/>
                </a:solidFill>
                <a:latin typeface="Calibri"/>
              </a:defRPr>
            </a:pPr>
            <a:r>
              <a:t>• Vendor clicks 'Mark as Shipped'</a:t>
            </a:r>
          </a:p>
          <a:p>
            <a:pPr>
              <a:spcAft>
                <a:spcPts val="700"/>
              </a:spcAft>
              <a:defRPr sz="500">
                <a:latin typeface="Calibri"/>
              </a:defRPr>
            </a:pPr>
          </a:p>
          <a:p>
            <a:pPr>
              <a:spcAft>
                <a:spcPts val="700"/>
              </a:spcAft>
              <a:defRPr sz="1700" b="1">
                <a:solidFill>
                  <a:srgbClr val="FFFFFF"/>
                </a:solidFill>
                <a:latin typeface="Calibri"/>
              </a:defRPr>
            </a:pPr>
            <a:r>
              <a:t>Triggered SQL:</a:t>
            </a:r>
          </a:p>
          <a:p>
            <a:pPr>
              <a:spcAft>
                <a:spcPts val="700"/>
              </a:spcAft>
              <a:defRPr sz="1500">
                <a:solidFill>
                  <a:srgbClr val="D2D7E6"/>
                </a:solidFill>
                <a:latin typeface="Calibri"/>
              </a:defRPr>
            </a:pPr>
            <a:r>
              <a:t>• UPDATE Purchase_Orders SET status='SHIPPED'</a:t>
            </a:r>
          </a:p>
          <a:p>
            <a:pPr>
              <a:spcAft>
                <a:spcPts val="700"/>
              </a:spcAft>
              <a:defRPr sz="1500">
                <a:solidFill>
                  <a:srgbClr val="D2D7E6"/>
                </a:solidFill>
                <a:latin typeface="Calibri"/>
              </a:defRPr>
            </a:pPr>
            <a:r>
              <a:t>• INSERT into Goods_Receipt (po_id, received_by, notes='Shipped by Vendor')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26364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i="1">
                <a:solidFill>
                  <a:srgbClr val="828CAA"/>
                </a:solidFill>
                <a:latin typeface="Calibri"/>
              </a:defRPr>
            </a:pPr>
            <a:r>
              <a:t>DB Tables: Purchase_Orders · Goods_Receipt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pt_bg_title_17769524104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5120640" cy="6858000"/>
          </a:xfrm>
          <a:prstGeom prst="rect">
            <a:avLst/>
          </a:prstGeom>
          <a:solidFill>
            <a:srgbClr val="0A0E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320040"/>
            <a:ext cx="457200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FFFFF"/>
                </a:solidFill>
                <a:latin typeface="Calibri"/>
              </a:defRPr>
            </a:pPr>
            <a:r>
              <a:t>Phase 5: Finance</a:t>
            </a:r>
            <a:br/>
            <a:r>
              <a:t>Processes Invoice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508760"/>
            <a:ext cx="1188720" cy="54864"/>
          </a:xfrm>
          <a:prstGeom prst="rect">
            <a:avLst/>
          </a:prstGeom>
          <a:solidFill>
            <a:srgbClr val="A7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664208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64C8FF"/>
                </a:solidFill>
                <a:latin typeface="Calibri"/>
              </a:defRPr>
            </a:pPr>
            <a:r>
              <a:t>LOGGED IN AS: FINANCE@TEST.COM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011680"/>
            <a:ext cx="4572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FFFFFF"/>
                </a:solidFill>
                <a:latin typeface="Calibri"/>
              </a:defRPr>
            </a:pPr>
            <a:r>
              <a:t>Dashboard Shows:</a:t>
            </a:r>
          </a:p>
          <a:p>
            <a:pPr>
              <a:spcAft>
                <a:spcPts val="700"/>
              </a:spcAft>
              <a:defRPr sz="1500">
                <a:solidFill>
                  <a:srgbClr val="D2D7E6"/>
                </a:solidFill>
                <a:latin typeface="Calibri"/>
              </a:defRPr>
            </a:pPr>
            <a:r>
              <a:t>• Shipped Goods Receipts ready for invoicing</a:t>
            </a:r>
          </a:p>
          <a:p>
            <a:pPr>
              <a:spcAft>
                <a:spcPts val="700"/>
              </a:spcAft>
              <a:defRPr sz="1500">
                <a:solidFill>
                  <a:srgbClr val="D2D7E6"/>
                </a:solidFill>
                <a:latin typeface="Calibri"/>
              </a:defRPr>
            </a:pPr>
            <a:r>
              <a:t>• All Invoices with PENDING / PAID status</a:t>
            </a:r>
          </a:p>
          <a:p>
            <a:pPr>
              <a:spcAft>
                <a:spcPts val="700"/>
              </a:spcAft>
              <a:defRPr sz="1500">
                <a:solidFill>
                  <a:srgbClr val="D2D7E6"/>
                </a:solidFill>
                <a:latin typeface="Calibri"/>
              </a:defRPr>
            </a:pPr>
            <a:r>
              <a:t>• KPI: Total Accounts Payable</a:t>
            </a:r>
          </a:p>
          <a:p>
            <a:pPr>
              <a:spcAft>
                <a:spcPts val="700"/>
              </a:spcAft>
              <a:defRPr sz="500">
                <a:latin typeface="Calibri"/>
              </a:defRPr>
            </a:pPr>
          </a:p>
          <a:p>
            <a:pPr>
              <a:spcAft>
                <a:spcPts val="700"/>
              </a:spcAft>
              <a:defRPr sz="1700" b="1">
                <a:solidFill>
                  <a:srgbClr val="FFFFFF"/>
                </a:solidFill>
                <a:latin typeface="Calibri"/>
              </a:defRPr>
            </a:pPr>
            <a:r>
              <a:t>Action Taken:</a:t>
            </a:r>
          </a:p>
          <a:p>
            <a:pPr>
              <a:spcAft>
                <a:spcPts val="700"/>
              </a:spcAft>
              <a:defRPr sz="1500">
                <a:solidFill>
                  <a:srgbClr val="D2D7E6"/>
                </a:solidFill>
                <a:latin typeface="Calibri"/>
              </a:defRPr>
            </a:pPr>
            <a:r>
              <a:t>• Finance sees the Dell XPS 15 goods receipt</a:t>
            </a:r>
          </a:p>
          <a:p>
            <a:pPr>
              <a:spcAft>
                <a:spcPts val="700"/>
              </a:spcAft>
              <a:defRPr sz="1500">
                <a:solidFill>
                  <a:srgbClr val="D2D7E6"/>
                </a:solidFill>
                <a:latin typeface="Calibri"/>
              </a:defRPr>
            </a:pPr>
            <a:r>
              <a:t>• Clicks 'Process Invoice'</a:t>
            </a:r>
          </a:p>
          <a:p>
            <a:pPr>
              <a:spcAft>
                <a:spcPts val="700"/>
              </a:spcAft>
              <a:defRPr sz="500">
                <a:latin typeface="Calibri"/>
              </a:defRPr>
            </a:pPr>
          </a:p>
          <a:p>
            <a:pPr>
              <a:spcAft>
                <a:spcPts val="700"/>
              </a:spcAft>
              <a:defRPr sz="1700" b="1">
                <a:solidFill>
                  <a:srgbClr val="FFFFFF"/>
                </a:solidFill>
                <a:latin typeface="Calibri"/>
              </a:defRPr>
            </a:pPr>
            <a:r>
              <a:t>Triggered SQL:</a:t>
            </a:r>
          </a:p>
          <a:p>
            <a:pPr>
              <a:spcAft>
                <a:spcPts val="700"/>
              </a:spcAft>
              <a:defRPr sz="1500">
                <a:solidFill>
                  <a:srgbClr val="D2D7E6"/>
                </a:solidFill>
                <a:latin typeface="Calibri"/>
              </a:defRPr>
            </a:pPr>
            <a:r>
              <a:t>• INSERT into Invoices (po_id, vendor_id, amount=$10,000, status='PENDING')</a:t>
            </a:r>
          </a:p>
          <a:p>
            <a:pPr>
              <a:spcAft>
                <a:spcPts val="700"/>
              </a:spcAft>
              <a:defRPr sz="1500">
                <a:solidFill>
                  <a:srgbClr val="D2D7E6"/>
                </a:solidFill>
                <a:latin typeface="Calibri"/>
              </a:defRPr>
            </a:pPr>
            <a:r>
              <a:t>• UPDATE Purchase_Orders SET status='INVOICED'</a:t>
            </a:r>
          </a:p>
          <a:p>
            <a:pPr>
              <a:spcAft>
                <a:spcPts val="700"/>
              </a:spcAft>
              <a:defRPr sz="1500">
                <a:solidFill>
                  <a:srgbClr val="D2D7E6"/>
                </a:solidFill>
                <a:latin typeface="Calibri"/>
              </a:defRPr>
            </a:pPr>
            <a:r>
              <a:t>• department.budget_used += $10,000</a:t>
            </a:r>
          </a:p>
          <a:p>
            <a:pPr>
              <a:spcAft>
                <a:spcPts val="700"/>
              </a:spcAft>
              <a:defRPr sz="1500">
                <a:solidFill>
                  <a:srgbClr val="D2D7E6"/>
                </a:solidFill>
                <a:latin typeface="Calibri"/>
              </a:defRPr>
            </a:pPr>
            <a:r>
              <a:t>• Audit_Log: CREATE_INVOICE logged with IP + timestamp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26364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i="1">
                <a:solidFill>
                  <a:srgbClr val="828CAA"/>
                </a:solidFill>
                <a:latin typeface="Calibri"/>
              </a:defRPr>
            </a:pPr>
            <a:r>
              <a:t>DB Tables: Invoices · Payments · Budget_Transactions · Audit_Log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dmin_dashboard_final_177695418286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080760"/>
            <a:ext cx="9144000" cy="777240"/>
          </a:xfrm>
          <a:prstGeom prst="rect">
            <a:avLst/>
          </a:prstGeom>
          <a:solidFill>
            <a:srgbClr val="0A0E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080760"/>
            <a:ext cx="9144000" cy="45720"/>
          </a:xfrm>
          <a:prstGeom prst="rect">
            <a:avLst/>
          </a:prstGeom>
          <a:solidFill>
            <a:srgbClr val="A7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1722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  <a:latin typeface="Calibri"/>
              </a:defRPr>
            </a:pPr>
            <a:r>
              <a:t>SUPER ADMIN Dashboard  |  admin@test.com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6501384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A761FF"/>
                </a:solidFill>
                <a:latin typeface="Calibri"/>
              </a:defRPr>
            </a:pPr>
            <a:r>
              <a:t>Shows: 1 Department · 4 Total POs · 27 Audit Events · Live System Audit Log · Budget Donut Chart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pt_bg_dashboard_177695244314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5120640" cy="6858000"/>
          </a:xfrm>
          <a:prstGeom prst="rect">
            <a:avLst/>
          </a:prstGeom>
          <a:solidFill>
            <a:srgbClr val="0A0E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320040"/>
            <a:ext cx="457200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FFFFF"/>
                </a:solidFill>
                <a:latin typeface="Calibri"/>
              </a:defRPr>
            </a:pPr>
            <a:r>
              <a:t>Super Admin:</a:t>
            </a:r>
            <a:br/>
            <a:r>
              <a:t>Global Oversight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508760"/>
            <a:ext cx="1188720" cy="54864"/>
          </a:xfrm>
          <a:prstGeom prst="rect">
            <a:avLst/>
          </a:prstGeom>
          <a:solidFill>
            <a:srgbClr val="A7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664208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64C8FF"/>
                </a:solidFill>
                <a:latin typeface="Calibri"/>
              </a:defRPr>
            </a:pPr>
            <a:r>
              <a:t>LOGGED IN AS: ADMIN@TEST.COM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011680"/>
            <a:ext cx="4572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FFFFFF"/>
                </a:solidFill>
                <a:latin typeface="Calibri"/>
              </a:defRPr>
            </a:pPr>
            <a:r>
              <a:t>Live KPIs Shown (Real Data):</a:t>
            </a:r>
          </a:p>
          <a:p>
            <a:pPr>
              <a:spcAft>
                <a:spcPts val="700"/>
              </a:spcAft>
              <a:defRPr sz="1500">
                <a:solidFill>
                  <a:srgbClr val="D2D7E6"/>
                </a:solidFill>
                <a:latin typeface="Calibri"/>
              </a:defRPr>
            </a:pPr>
            <a:r>
              <a:t>• Operating Departments: 1</a:t>
            </a:r>
          </a:p>
          <a:p>
            <a:pPr>
              <a:spcAft>
                <a:spcPts val="700"/>
              </a:spcAft>
              <a:defRPr sz="1500">
                <a:solidFill>
                  <a:srgbClr val="D2D7E6"/>
                </a:solidFill>
                <a:latin typeface="Calibri"/>
              </a:defRPr>
            </a:pPr>
            <a:r>
              <a:t>• Total Issued POs: 4</a:t>
            </a:r>
          </a:p>
          <a:p>
            <a:pPr>
              <a:spcAft>
                <a:spcPts val="700"/>
              </a:spcAft>
              <a:defRPr sz="1500">
                <a:solidFill>
                  <a:srgbClr val="D2D7E6"/>
                </a:solidFill>
                <a:latin typeface="Calibri"/>
              </a:defRPr>
            </a:pPr>
            <a:r>
              <a:t>• Recorded Audit Events: 27</a:t>
            </a:r>
          </a:p>
          <a:p>
            <a:pPr>
              <a:spcAft>
                <a:spcPts val="700"/>
              </a:spcAft>
              <a:defRPr sz="500">
                <a:latin typeface="Calibri"/>
              </a:defRPr>
            </a:pPr>
          </a:p>
          <a:p>
            <a:pPr>
              <a:spcAft>
                <a:spcPts val="700"/>
              </a:spcAft>
              <a:defRPr sz="1700" b="1">
                <a:solidFill>
                  <a:srgbClr val="FFFFFF"/>
                </a:solidFill>
                <a:latin typeface="Calibri"/>
              </a:defRPr>
            </a:pPr>
            <a:r>
              <a:t>System Audit Log (real entries):</a:t>
            </a:r>
          </a:p>
          <a:p>
            <a:pPr>
              <a:spcAft>
                <a:spcPts val="700"/>
              </a:spcAft>
              <a:defRPr sz="1500">
                <a:solidFill>
                  <a:srgbClr val="D2D7E6"/>
                </a:solidFill>
                <a:latin typeface="Calibri"/>
              </a:defRPr>
            </a:pPr>
            <a:r>
              <a:t>• admin@test.com: LOGIN at 09:22:47</a:t>
            </a:r>
          </a:p>
          <a:p>
            <a:pPr>
              <a:spcAft>
                <a:spcPts val="700"/>
              </a:spcAft>
              <a:defRPr sz="1500">
                <a:solidFill>
                  <a:srgbClr val="D2D7E6"/>
                </a:solidFill>
                <a:latin typeface="Calibri"/>
              </a:defRPr>
            </a:pPr>
            <a:r>
              <a:t>• manager@test.com: LOGOUT at 09:20:45</a:t>
            </a:r>
          </a:p>
          <a:p>
            <a:pPr>
              <a:spcAft>
                <a:spcPts val="700"/>
              </a:spcAft>
              <a:defRPr sz="1500">
                <a:solidFill>
                  <a:srgbClr val="D2D7E6"/>
                </a:solidFill>
                <a:latin typeface="Calibri"/>
              </a:defRPr>
            </a:pPr>
            <a:r>
              <a:t>• employee@test.com: LOGIN at 09:18:59</a:t>
            </a:r>
          </a:p>
          <a:p>
            <a:pPr>
              <a:spcAft>
                <a:spcPts val="700"/>
              </a:spcAft>
              <a:defRPr sz="1500">
                <a:solidFill>
                  <a:srgbClr val="D2D7E6"/>
                </a:solidFill>
                <a:latin typeface="Calibri"/>
              </a:defRPr>
            </a:pPr>
            <a:r>
              <a:t>• finance@test.com: LOGOUT at 09:18:17</a:t>
            </a:r>
          </a:p>
          <a:p>
            <a:pPr>
              <a:spcAft>
                <a:spcPts val="700"/>
              </a:spcAft>
              <a:defRPr sz="500">
                <a:latin typeface="Calibri"/>
              </a:defRPr>
            </a:pPr>
          </a:p>
          <a:p>
            <a:pPr>
              <a:spcAft>
                <a:spcPts val="700"/>
              </a:spcAft>
              <a:defRPr sz="1700" b="1">
                <a:solidFill>
                  <a:srgbClr val="FFFFFF"/>
                </a:solidFill>
                <a:latin typeface="Calibri"/>
              </a:defRPr>
            </a:pPr>
            <a:r>
              <a:t>Admin Powers:</a:t>
            </a:r>
          </a:p>
          <a:p>
            <a:pPr>
              <a:spcAft>
                <a:spcPts val="700"/>
              </a:spcAft>
              <a:defRPr sz="1500">
                <a:solidFill>
                  <a:srgbClr val="D2D7E6"/>
                </a:solidFill>
                <a:latin typeface="Calibri"/>
              </a:defRPr>
            </a:pPr>
            <a:r>
              <a:t>• Delete individual log entries</a:t>
            </a:r>
          </a:p>
          <a:p>
            <a:pPr>
              <a:spcAft>
                <a:spcPts val="700"/>
              </a:spcAft>
              <a:defRPr sz="1500">
                <a:solidFill>
                  <a:srgbClr val="D2D7E6"/>
                </a:solidFill>
                <a:latin typeface="Calibri"/>
              </a:defRPr>
            </a:pPr>
            <a:r>
              <a:t>• 'Clear All' wipes entire Audit_Log table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26364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i="1">
                <a:solidFill>
                  <a:srgbClr val="828CAA"/>
                </a:solidFill>
                <a:latin typeface="Calibri"/>
              </a:defRPr>
            </a:pPr>
            <a:r>
              <a:t>DB Tables: Audit_Log · Departments · Purchase_Orders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pt_bg_data_177695242519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5120640" cy="6858000"/>
          </a:xfrm>
          <a:prstGeom prst="rect">
            <a:avLst/>
          </a:prstGeom>
          <a:solidFill>
            <a:srgbClr val="0A0E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320040"/>
            <a:ext cx="457200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FFFFF"/>
                </a:solidFill>
                <a:latin typeface="Calibri"/>
              </a:defRPr>
            </a:pPr>
            <a:r>
              <a:t>Database</a:t>
            </a:r>
            <a:br/>
            <a:r>
              <a:t>Architecture</a:t>
            </a:r>
          </a:p>
          <a:p>
            <a:pPr>
              <a:defRPr sz="1400">
                <a:solidFill>
                  <a:srgbClr val="A761FF"/>
                </a:solidFill>
                <a:latin typeface="Calibri"/>
              </a:defRPr>
            </a:pPr>
            <a:r>
              <a:t>16 Tables · 3NF · Full FK Integrity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737360"/>
            <a:ext cx="1188720" cy="54864"/>
          </a:xfrm>
          <a:prstGeom prst="rect">
            <a:avLst/>
          </a:prstGeom>
          <a:solidFill>
            <a:srgbClr val="A7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2011680"/>
            <a:ext cx="4572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FFFFFF"/>
                </a:solidFill>
                <a:latin typeface="Calibri"/>
              </a:defRPr>
            </a:pPr>
            <a:r>
              <a:t>Identity Module:</a:t>
            </a:r>
          </a:p>
          <a:p>
            <a:pPr>
              <a:spcAft>
                <a:spcPts val="700"/>
              </a:spcAft>
              <a:defRPr sz="1500">
                <a:solidFill>
                  <a:srgbClr val="D2D7E6"/>
                </a:solidFill>
                <a:latin typeface="Calibri"/>
              </a:defRPr>
            </a:pPr>
            <a:r>
              <a:t>• Roles, Users, Departments</a:t>
            </a:r>
          </a:p>
          <a:p>
            <a:pPr>
              <a:spcAft>
                <a:spcPts val="700"/>
              </a:spcAft>
              <a:defRPr sz="500">
                <a:latin typeface="Calibri"/>
              </a:defRPr>
            </a:pPr>
          </a:p>
          <a:p>
            <a:pPr>
              <a:spcAft>
                <a:spcPts val="700"/>
              </a:spcAft>
              <a:defRPr sz="1700" b="1">
                <a:solidFill>
                  <a:srgbClr val="FFFFFF"/>
                </a:solidFill>
                <a:latin typeface="Calibri"/>
              </a:defRPr>
            </a:pPr>
            <a:r>
              <a:t>Procurement Workflow:</a:t>
            </a:r>
          </a:p>
          <a:p>
            <a:pPr>
              <a:spcAft>
                <a:spcPts val="700"/>
              </a:spcAft>
              <a:defRPr sz="1500">
                <a:solidFill>
                  <a:srgbClr val="D2D7E6"/>
                </a:solidFill>
                <a:latin typeface="Calibri"/>
              </a:defRPr>
            </a:pPr>
            <a:r>
              <a:t>• Purchase_Requests, PR_Approvals, PR_Status_History</a:t>
            </a:r>
          </a:p>
          <a:p>
            <a:pPr>
              <a:spcAft>
                <a:spcPts val="700"/>
              </a:spcAft>
              <a:defRPr sz="500">
                <a:latin typeface="Calibri"/>
              </a:defRPr>
            </a:pPr>
          </a:p>
          <a:p>
            <a:pPr>
              <a:spcAft>
                <a:spcPts val="700"/>
              </a:spcAft>
              <a:defRPr sz="1700" b="1">
                <a:solidFill>
                  <a:srgbClr val="FFFFFF"/>
                </a:solidFill>
                <a:latin typeface="Calibri"/>
              </a:defRPr>
            </a:pPr>
            <a:r>
              <a:t>Vendor Management:</a:t>
            </a:r>
          </a:p>
          <a:p>
            <a:pPr>
              <a:spcAft>
                <a:spcPts val="700"/>
              </a:spcAft>
              <a:defRPr sz="1500">
                <a:solidFill>
                  <a:srgbClr val="D2D7E6"/>
                </a:solidFill>
                <a:latin typeface="Calibri"/>
              </a:defRPr>
            </a:pPr>
            <a:r>
              <a:t>• Vendors, Vendor_Categories, Contracts</a:t>
            </a:r>
          </a:p>
          <a:p>
            <a:pPr>
              <a:spcAft>
                <a:spcPts val="700"/>
              </a:spcAft>
              <a:defRPr sz="500">
                <a:latin typeface="Calibri"/>
              </a:defRPr>
            </a:pPr>
          </a:p>
          <a:p>
            <a:pPr>
              <a:spcAft>
                <a:spcPts val="700"/>
              </a:spcAft>
              <a:defRPr sz="1700" b="1">
                <a:solidFill>
                  <a:srgbClr val="FFFFFF"/>
                </a:solidFill>
                <a:latin typeface="Calibri"/>
              </a:defRPr>
            </a:pPr>
            <a:r>
              <a:t>Order Fulfillment:</a:t>
            </a:r>
          </a:p>
          <a:p>
            <a:pPr>
              <a:spcAft>
                <a:spcPts val="700"/>
              </a:spcAft>
              <a:defRPr sz="1500">
                <a:solidFill>
                  <a:srgbClr val="D2D7E6"/>
                </a:solidFill>
                <a:latin typeface="Calibri"/>
              </a:defRPr>
            </a:pPr>
            <a:r>
              <a:t>• Purchase_Orders, PO_Line_Items, Goods_Receipt</a:t>
            </a:r>
          </a:p>
          <a:p>
            <a:pPr>
              <a:spcAft>
                <a:spcPts val="700"/>
              </a:spcAft>
              <a:defRPr sz="500">
                <a:latin typeface="Calibri"/>
              </a:defRPr>
            </a:pPr>
          </a:p>
          <a:p>
            <a:pPr>
              <a:spcAft>
                <a:spcPts val="700"/>
              </a:spcAft>
              <a:defRPr sz="1700" b="1">
                <a:solidFill>
                  <a:srgbClr val="FFFFFF"/>
                </a:solidFill>
                <a:latin typeface="Calibri"/>
              </a:defRPr>
            </a:pPr>
            <a:r>
              <a:t>Finance &amp; Compliance:</a:t>
            </a:r>
          </a:p>
          <a:p>
            <a:pPr>
              <a:spcAft>
                <a:spcPts val="700"/>
              </a:spcAft>
              <a:defRPr sz="1500">
                <a:solidFill>
                  <a:srgbClr val="D2D7E6"/>
                </a:solidFill>
                <a:latin typeface="Calibri"/>
              </a:defRPr>
            </a:pPr>
            <a:r>
              <a:t>• Invoices, Payments, Budget_Transactions, Audit_Log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26364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i="1">
                <a:solidFill>
                  <a:srgbClr val="828CAA"/>
                </a:solidFill>
                <a:latin typeface="Calibri"/>
              </a:defRPr>
            </a:pPr>
            <a:r>
              <a:t>Paste ERD diagram screenshot on a dedicated slide after this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pt_bg_title_17769524104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5120640" cy="6858000"/>
          </a:xfrm>
          <a:prstGeom prst="rect">
            <a:avLst/>
          </a:prstGeom>
          <a:solidFill>
            <a:srgbClr val="0A0E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320040"/>
            <a:ext cx="457200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FFFFF"/>
                </a:solidFill>
                <a:latin typeface="Calibri"/>
              </a:defRPr>
            </a:pPr>
            <a:r>
              <a:t>SQL Implementation</a:t>
            </a:r>
            <a:br/>
            <a:r>
              <a:t>Highlights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508760"/>
            <a:ext cx="1188720" cy="54864"/>
          </a:xfrm>
          <a:prstGeom prst="rect">
            <a:avLst/>
          </a:prstGeom>
          <a:solidFill>
            <a:srgbClr val="A7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664208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A761FF"/>
                </a:solidFill>
                <a:latin typeface="Calibri"/>
              </a:defRPr>
            </a:pPr>
            <a:r>
              <a:t>DDL · DML · ADVANCED JOIN QUERIES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011680"/>
            <a:ext cx="4572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FFFFFF"/>
                </a:solidFill>
                <a:latin typeface="Calibri"/>
              </a:defRPr>
            </a:pPr>
            <a:r>
              <a:t>Table Creation (setup_db.py):</a:t>
            </a:r>
          </a:p>
          <a:p>
            <a:pPr>
              <a:spcAft>
                <a:spcPts val="700"/>
              </a:spcAft>
              <a:defRPr sz="1500">
                <a:solidFill>
                  <a:srgbClr val="D2D7E6"/>
                </a:solidFill>
                <a:latin typeface="Calibri"/>
              </a:defRPr>
            </a:pPr>
            <a:r>
              <a:t>• 16 tables with NOT NULL, UNIQUE, FK constraints</a:t>
            </a:r>
          </a:p>
          <a:p>
            <a:pPr>
              <a:spcAft>
                <a:spcPts val="700"/>
              </a:spcAft>
              <a:defRPr sz="1500">
                <a:solidFill>
                  <a:srgbClr val="D2D7E6"/>
                </a:solidFill>
                <a:latin typeface="Calibri"/>
              </a:defRPr>
            </a:pPr>
            <a:r>
              <a:t>• Auto-translates SQLite → PostgreSQL for Vercel</a:t>
            </a:r>
          </a:p>
          <a:p>
            <a:pPr>
              <a:spcAft>
                <a:spcPts val="700"/>
              </a:spcAft>
              <a:defRPr sz="500">
                <a:latin typeface="Calibri"/>
              </a:defRPr>
            </a:pPr>
          </a:p>
          <a:p>
            <a:pPr>
              <a:spcAft>
                <a:spcPts val="700"/>
              </a:spcAft>
              <a:defRPr sz="1700" b="1">
                <a:solidFill>
                  <a:srgbClr val="FFFFFF"/>
                </a:solidFill>
                <a:latin typeface="Calibri"/>
              </a:defRPr>
            </a:pPr>
            <a:r>
              <a:t>Data Population (populate_db.py):</a:t>
            </a:r>
          </a:p>
          <a:p>
            <a:pPr>
              <a:spcAft>
                <a:spcPts val="700"/>
              </a:spcAft>
              <a:defRPr sz="1500">
                <a:solidFill>
                  <a:srgbClr val="D2D7E6"/>
                </a:solidFill>
                <a:latin typeface="Calibri"/>
              </a:defRPr>
            </a:pPr>
            <a:r>
              <a:t>• DML INSERTs simulating 30 days of prior history</a:t>
            </a:r>
          </a:p>
          <a:p>
            <a:pPr>
              <a:spcAft>
                <a:spcPts val="700"/>
              </a:spcAft>
              <a:defRPr sz="1500">
                <a:solidFill>
                  <a:srgbClr val="D2D7E6"/>
                </a:solidFill>
                <a:latin typeface="Calibri"/>
              </a:defRPr>
            </a:pPr>
            <a:r>
              <a:t>• Covers all statuses from PENDING through PAID</a:t>
            </a:r>
          </a:p>
          <a:p>
            <a:pPr>
              <a:spcAft>
                <a:spcPts val="700"/>
              </a:spcAft>
              <a:defRPr sz="500">
                <a:latin typeface="Calibri"/>
              </a:defRPr>
            </a:pPr>
          </a:p>
          <a:p>
            <a:pPr>
              <a:spcAft>
                <a:spcPts val="700"/>
              </a:spcAft>
              <a:defRPr sz="1700" b="1">
                <a:solidFill>
                  <a:srgbClr val="FFFFFF"/>
                </a:solidFill>
                <a:latin typeface="Calibri"/>
              </a:defRPr>
            </a:pPr>
            <a:r>
              <a:t>Example Advanced Query:</a:t>
            </a:r>
          </a:p>
          <a:p>
            <a:pPr>
              <a:spcAft>
                <a:spcPts val="700"/>
              </a:spcAft>
              <a:defRPr sz="1500">
                <a:solidFill>
                  <a:srgbClr val="D2D7E6"/>
                </a:solidFill>
                <a:latin typeface="Calibri"/>
              </a:defRPr>
            </a:pPr>
            <a:r>
              <a:t>• 4-table JOIN: Users → Purchase_Requests → Purchase_Orders → Invoices</a:t>
            </a:r>
          </a:p>
          <a:p>
            <a:pPr>
              <a:spcAft>
                <a:spcPts val="700"/>
              </a:spcAft>
              <a:defRPr sz="1500">
                <a:solidFill>
                  <a:srgbClr val="D2D7E6"/>
                </a:solidFill>
                <a:latin typeface="Calibri"/>
              </a:defRPr>
            </a:pPr>
            <a:r>
              <a:t>• Returns: name, item, amount, invoice status</a:t>
            </a:r>
          </a:p>
          <a:p>
            <a:pPr>
              <a:spcAft>
                <a:spcPts val="700"/>
              </a:spcAft>
              <a:defRPr sz="1500">
                <a:solidFill>
                  <a:srgbClr val="D2D7E6"/>
                </a:solidFill>
                <a:latin typeface="Calibri"/>
              </a:defRPr>
            </a:pPr>
            <a:r>
              <a:t>• Proves end-to-end traceability through SQL alone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26364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i="1">
                <a:solidFill>
                  <a:srgbClr val="828CAA"/>
                </a:solidFill>
                <a:latin typeface="Calibri"/>
              </a:defRPr>
            </a:pPr>
            <a:r>
              <a:t>Paste your SQL JOIN query screenshot after this slide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pt_bg_dashboard_177695244314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5120640" cy="6858000"/>
          </a:xfrm>
          <a:prstGeom prst="rect">
            <a:avLst/>
          </a:prstGeom>
          <a:solidFill>
            <a:srgbClr val="0A0E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320040"/>
            <a:ext cx="457200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FFFFF"/>
                </a:solidFill>
                <a:latin typeface="Calibri"/>
              </a:defRPr>
            </a:pPr>
            <a:r>
              <a:t>Challenges &amp;</a:t>
            </a:r>
            <a:br/>
            <a:r>
              <a:t>Solutions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508760"/>
            <a:ext cx="1188720" cy="54864"/>
          </a:xfrm>
          <a:prstGeom prst="rect">
            <a:avLst/>
          </a:prstGeom>
          <a:solidFill>
            <a:srgbClr val="A7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2011680"/>
            <a:ext cx="4572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FFFFFF"/>
                </a:solidFill>
                <a:latin typeface="Calibri"/>
              </a:defRPr>
            </a:pPr>
            <a:r>
              <a:t>Challenge 1 — Vercel Read-Only Filesystem:</a:t>
            </a:r>
          </a:p>
          <a:p>
            <a:pPr>
              <a:spcAft>
                <a:spcPts val="700"/>
              </a:spcAft>
              <a:defRPr sz="1500">
                <a:solidFill>
                  <a:srgbClr val="D2D7E6"/>
                </a:solidFill>
                <a:latin typeface="Calibri"/>
              </a:defRPr>
            </a:pPr>
            <a:r>
              <a:t>• SQLite cannot write to disk on serverless Vercel.</a:t>
            </a:r>
          </a:p>
          <a:p>
            <a:pPr>
              <a:spcAft>
                <a:spcPts val="700"/>
              </a:spcAft>
              <a:defRPr sz="1500">
                <a:solidFill>
                  <a:srgbClr val="D2D7E6"/>
                </a:solidFill>
                <a:latin typeface="Calibri"/>
              </a:defRPr>
            </a:pPr>
            <a:r>
              <a:t>• Fix: Custom DBWrapper routes all writes to /tmp/.</a:t>
            </a:r>
          </a:p>
          <a:p>
            <a:pPr>
              <a:spcAft>
                <a:spcPts val="700"/>
              </a:spcAft>
              <a:defRPr sz="1700" b="1">
                <a:solidFill>
                  <a:srgbClr val="FFFFFF"/>
                </a:solidFill>
                <a:latin typeface="Calibri"/>
              </a:defRPr>
            </a:pPr>
            <a:r>
              <a:t>  On DATABASE_URL env → auto-translates to PostgreSQL syntax.</a:t>
            </a:r>
          </a:p>
          <a:p>
            <a:pPr>
              <a:spcAft>
                <a:spcPts val="700"/>
              </a:spcAft>
              <a:defRPr sz="500">
                <a:latin typeface="Calibri"/>
              </a:defRPr>
            </a:pPr>
          </a:p>
          <a:p>
            <a:pPr>
              <a:spcAft>
                <a:spcPts val="700"/>
              </a:spcAft>
              <a:defRPr sz="1700" b="1">
                <a:solidFill>
                  <a:srgbClr val="FFFFFF"/>
                </a:solidFill>
                <a:latin typeface="Calibri"/>
              </a:defRPr>
            </a:pPr>
            <a:r>
              <a:t>Challenge 2 — Enforcing the State Machine:</a:t>
            </a:r>
          </a:p>
          <a:p>
            <a:pPr>
              <a:spcAft>
                <a:spcPts val="700"/>
              </a:spcAft>
              <a:defRPr sz="1500">
                <a:solidFill>
                  <a:srgbClr val="D2D7E6"/>
                </a:solidFill>
                <a:latin typeface="Calibri"/>
              </a:defRPr>
            </a:pPr>
            <a:r>
              <a:t>• An invoice should never exist before an approval.</a:t>
            </a:r>
          </a:p>
          <a:p>
            <a:pPr>
              <a:spcAft>
                <a:spcPts val="700"/>
              </a:spcAft>
              <a:defRPr sz="1500">
                <a:solidFill>
                  <a:srgbClr val="D2D7E6"/>
                </a:solidFill>
                <a:latin typeface="Calibri"/>
              </a:defRPr>
            </a:pPr>
            <a:r>
              <a:t>• Fix: Role-based route guards — Finance only sees SHIPPED receipts.</a:t>
            </a:r>
          </a:p>
          <a:p>
            <a:pPr>
              <a:spcAft>
                <a:spcPts val="700"/>
              </a:spcAft>
              <a:defRPr sz="500">
                <a:latin typeface="Calibri"/>
              </a:defRPr>
            </a:pPr>
          </a:p>
          <a:p>
            <a:pPr>
              <a:spcAft>
                <a:spcPts val="700"/>
              </a:spcAft>
              <a:defRPr sz="1700" b="1">
                <a:solidFill>
                  <a:srgbClr val="FFFFFF"/>
                </a:solidFill>
                <a:latin typeface="Calibri"/>
              </a:defRPr>
            </a:pPr>
            <a:r>
              <a:t>Challenge 3 — Audit Log Timestamps:</a:t>
            </a:r>
          </a:p>
          <a:p>
            <a:pPr>
              <a:spcAft>
                <a:spcPts val="700"/>
              </a:spcAft>
              <a:defRPr sz="1500">
                <a:solidFill>
                  <a:srgbClr val="D2D7E6"/>
                </a:solidFill>
                <a:latin typeface="Calibri"/>
              </a:defRPr>
            </a:pPr>
            <a:r>
              <a:t>• Default SQLite used UTC; business needed US/Central.</a:t>
            </a:r>
          </a:p>
          <a:p>
            <a:pPr>
              <a:spcAft>
                <a:spcPts val="700"/>
              </a:spcAft>
              <a:defRPr sz="1500">
                <a:solidFill>
                  <a:srgbClr val="D2D7E6"/>
                </a:solidFill>
                <a:latin typeface="Calibri"/>
              </a:defRPr>
            </a:pPr>
            <a:r>
              <a:t>• Fix: pytz forces all Audit_Log INSERTs to US/Central timezone.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pt_bg_title_17769524104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80C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200" b="1">
                <a:solidFill>
                  <a:srgbClr val="FFFFFF"/>
                </a:solidFill>
                <a:latin typeface="Calibri"/>
              </a:defRPr>
            </a:pPr>
            <a:r>
              <a:t>Conclusion &amp; Future Scope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2194560"/>
            <a:ext cx="1828800" cy="54864"/>
          </a:xfrm>
          <a:prstGeom prst="rect">
            <a:avLst/>
          </a:prstGeom>
          <a:solidFill>
            <a:srgbClr val="A7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377440"/>
            <a:ext cx="7315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A761FF"/>
                </a:solidFill>
                <a:latin typeface="Calibri"/>
              </a:defRPr>
            </a:pPr>
            <a:r>
              <a:t>What We Built:</a:t>
            </a:r>
          </a:p>
          <a:p>
            <a:pPr>
              <a:defRPr sz="1400" b="0">
                <a:solidFill>
                  <a:srgbClr val="D2D7E6"/>
                </a:solidFill>
                <a:latin typeface="Calibri"/>
              </a:defRPr>
            </a:pPr>
            <a:r>
              <a:t>A production-deployed, 6-role enterprise procurement system backed by a 16-table 3NF-normalized relational database — proving real-world business logic can be modeled precisely in SQL.</a:t>
            </a:r>
          </a:p>
          <a:p>
            <a:pPr>
              <a:defRPr sz="600" b="0">
                <a:latin typeface="Calibri"/>
              </a:defRPr>
            </a:pPr>
          </a:p>
          <a:p>
            <a:pPr>
              <a:defRPr sz="1700" b="1">
                <a:solidFill>
                  <a:srgbClr val="A761FF"/>
                </a:solidFill>
                <a:latin typeface="Calibri"/>
              </a:defRPr>
            </a:pPr>
            <a:r>
              <a:t>Key Learnings:</a:t>
            </a:r>
          </a:p>
          <a:p>
            <a:pPr>
              <a:defRPr sz="1400" b="0">
                <a:solidFill>
                  <a:srgbClr val="D2D7E6"/>
                </a:solidFill>
                <a:latin typeface="Calibri"/>
              </a:defRPr>
            </a:pPr>
            <a:r>
              <a:t>Translating complex state-machine rules into FK constraints. Bridging SQLite and PostgreSQL with a single abstraction layer. Deploying full-stack to production serverless infrastructure.</a:t>
            </a:r>
          </a:p>
          <a:p>
            <a:pPr>
              <a:defRPr sz="600" b="0">
                <a:latin typeface="Calibri"/>
              </a:defRPr>
            </a:pPr>
          </a:p>
          <a:p>
            <a:pPr>
              <a:defRPr sz="1700" b="1">
                <a:solidFill>
                  <a:srgbClr val="A761FF"/>
                </a:solidFill>
                <a:latin typeface="Calibri"/>
              </a:defRPr>
            </a:pPr>
            <a:r>
              <a:t>Future Improvements:</a:t>
            </a:r>
          </a:p>
          <a:p>
            <a:pPr>
              <a:defRPr sz="1400" b="0">
                <a:solidFill>
                  <a:srgbClr val="D2D7E6"/>
                </a:solidFill>
                <a:latin typeface="Calibri"/>
              </a:defRPr>
            </a:pPr>
            <a:r>
              <a:t>Full PostgreSQL migration. ML-based vendor rating. Auto-generate PDF invoices. Email notifications per role.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